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12848"/>
            <a:ext cx="12191695"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024128"/>
            <a:ext cx="10515600" cy="1097280"/>
          </a:xfrm>
          <a:prstGeom prst="rect">
            <a:avLst/>
          </a:prstGeom>
          <a:noFill/>
        </p:spPr>
        <p:txBody>
          <a:bodyPr wrap="square" anchor="t" lIns="0" rIns="0" tIns="0" bIns="0">
            <a:spAutoFit/>
          </a:bodyPr>
          <a:lstStyle/>
          <a:p>
            <a:pPr algn="l">
              <a:spcAft>
                <a:spcPts val="400"/>
              </a:spcAft>
            </a:pPr>
            <a:r>
              <a:rPr sz="1500" b="0">
                <a:solidFill>
                  <a:srgbClr val="4F9BF5"/>
                </a:solidFill>
                <a:latin typeface="Calibri"/>
              </a:rPr>
              <a:t>NoSQL Database — BCSE406L  ·  Review 2</a:t>
            </a:r>
          </a:p>
          <a:p>
            <a:pPr algn="l">
              <a:spcAft>
                <a:spcPts val="200"/>
              </a:spcAft>
            </a:pPr>
            <a:r>
              <a:rPr sz="4200" b="1">
                <a:solidFill>
                  <a:srgbClr val="ECF1F8"/>
                </a:solidFill>
                <a:latin typeface="Calibri"/>
              </a:rPr>
              <a:t>Real-Time Collaborative Whiteboard</a:t>
            </a:r>
          </a:p>
        </p:txBody>
      </p:sp>
      <p:sp>
        <p:nvSpPr>
          <p:cNvPr id="5" name="TextBox 4"/>
          <p:cNvSpPr txBox="1"/>
          <p:nvPr/>
        </p:nvSpPr>
        <p:spPr>
          <a:xfrm>
            <a:off x="822960" y="2487168"/>
            <a:ext cx="10515600" cy="914400"/>
          </a:xfrm>
          <a:prstGeom prst="rect">
            <a:avLst/>
          </a:prstGeom>
          <a:noFill/>
        </p:spPr>
        <p:txBody>
          <a:bodyPr wrap="square" anchor="t" lIns="0" rIns="0" tIns="0" bIns="0">
            <a:spAutoFit/>
          </a:bodyPr>
          <a:lstStyle/>
          <a:p>
            <a:pPr algn="l">
              <a:lnSpc>
                <a:spcPct val="115000"/>
              </a:lnSpc>
              <a:spcAft>
                <a:spcPts val="400"/>
              </a:spcAft>
            </a:pPr>
            <a:r>
              <a:rPr sz="1700" b="0">
                <a:solidFill>
                  <a:srgbClr val="93A4BD"/>
                </a:solidFill>
                <a:latin typeface="Calibri"/>
              </a:rPr>
              <a:t>An append-only document model in MongoDB, with Redis for ordering, presence and cross-instance event fanout</a:t>
            </a:r>
          </a:p>
        </p:txBody>
      </p:sp>
      <p:sp>
        <p:nvSpPr>
          <p:cNvPr id="6" name="Rounded Rectangle 5"/>
          <p:cNvSpPr/>
          <p:nvPr/>
        </p:nvSpPr>
        <p:spPr>
          <a:xfrm>
            <a:off x="822960" y="3657600"/>
            <a:ext cx="2468880" cy="1188720"/>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785615"/>
            <a:ext cx="2103120" cy="502920"/>
          </a:xfrm>
          <a:prstGeom prst="rect">
            <a:avLst/>
          </a:prstGeom>
          <a:noFill/>
        </p:spPr>
        <p:txBody>
          <a:bodyPr wrap="square" anchor="t" lIns="0" rIns="0" tIns="0" bIns="0">
            <a:spAutoFit/>
          </a:bodyPr>
          <a:lstStyle/>
          <a:p>
            <a:pPr algn="l">
              <a:spcAft>
                <a:spcPts val="400"/>
              </a:spcAft>
            </a:pPr>
            <a:r>
              <a:rPr sz="2700" b="1">
                <a:solidFill>
                  <a:srgbClr val="3DD598"/>
                </a:solidFill>
                <a:latin typeface="Calibri"/>
              </a:rPr>
              <a:t>80,019</a:t>
            </a:r>
          </a:p>
        </p:txBody>
      </p:sp>
      <p:sp>
        <p:nvSpPr>
          <p:cNvPr id="8" name="TextBox 7"/>
          <p:cNvSpPr txBox="1"/>
          <p:nvPr/>
        </p:nvSpPr>
        <p:spPr>
          <a:xfrm>
            <a:off x="1005840" y="4279392"/>
            <a:ext cx="2103120" cy="475488"/>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stroke documents in the
seeded database</a:t>
            </a:r>
          </a:p>
        </p:txBody>
      </p:sp>
      <p:sp>
        <p:nvSpPr>
          <p:cNvPr id="9" name="Rounded Rectangle 8"/>
          <p:cNvSpPr/>
          <p:nvPr/>
        </p:nvSpPr>
        <p:spPr>
          <a:xfrm>
            <a:off x="3520440" y="3657600"/>
            <a:ext cx="2468880" cy="1188720"/>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03320" y="3785615"/>
            <a:ext cx="2103120" cy="502920"/>
          </a:xfrm>
          <a:prstGeom prst="rect">
            <a:avLst/>
          </a:prstGeom>
          <a:noFill/>
        </p:spPr>
        <p:txBody>
          <a:bodyPr wrap="square" anchor="t" lIns="0" rIns="0" tIns="0" bIns="0">
            <a:spAutoFit/>
          </a:bodyPr>
          <a:lstStyle/>
          <a:p>
            <a:pPr algn="l">
              <a:spcAft>
                <a:spcPts val="400"/>
              </a:spcAft>
            </a:pPr>
            <a:r>
              <a:rPr sz="2700" b="1">
                <a:solidFill>
                  <a:srgbClr val="4F9BF5"/>
                </a:solidFill>
                <a:latin typeface="Calibri"/>
              </a:rPr>
              <a:t>7</a:t>
            </a:r>
          </a:p>
        </p:txBody>
      </p:sp>
      <p:sp>
        <p:nvSpPr>
          <p:cNvPr id="11" name="TextBox 10"/>
          <p:cNvSpPr txBox="1"/>
          <p:nvPr/>
        </p:nvSpPr>
        <p:spPr>
          <a:xfrm>
            <a:off x="3703320" y="4279392"/>
            <a:ext cx="2103120" cy="475488"/>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purpose-built indexes,
every plan measured</a:t>
            </a:r>
          </a:p>
        </p:txBody>
      </p:sp>
      <p:sp>
        <p:nvSpPr>
          <p:cNvPr id="12" name="Rounded Rectangle 11"/>
          <p:cNvSpPr/>
          <p:nvPr/>
        </p:nvSpPr>
        <p:spPr>
          <a:xfrm>
            <a:off x="6217920" y="3657600"/>
            <a:ext cx="2468880" cy="1188720"/>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785615"/>
            <a:ext cx="2103120" cy="502920"/>
          </a:xfrm>
          <a:prstGeom prst="rect">
            <a:avLst/>
          </a:prstGeom>
          <a:noFill/>
        </p:spPr>
        <p:txBody>
          <a:bodyPr wrap="square" anchor="t" lIns="0" rIns="0" tIns="0" bIns="0">
            <a:spAutoFit/>
          </a:bodyPr>
          <a:lstStyle/>
          <a:p>
            <a:pPr algn="l">
              <a:spcAft>
                <a:spcPts val="400"/>
              </a:spcAft>
            </a:pPr>
            <a:r>
              <a:rPr sz="2700" b="1">
                <a:solidFill>
                  <a:srgbClr val="4F9BF5"/>
                </a:solidFill>
                <a:latin typeface="Calibri"/>
              </a:rPr>
              <a:t>9</a:t>
            </a:r>
          </a:p>
        </p:txBody>
      </p:sp>
      <p:sp>
        <p:nvSpPr>
          <p:cNvPr id="14" name="TextBox 13"/>
          <p:cNvSpPr txBox="1"/>
          <p:nvPr/>
        </p:nvSpPr>
        <p:spPr>
          <a:xfrm>
            <a:off x="6400800" y="4279392"/>
            <a:ext cx="2103120" cy="475488"/>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aggregation pipelines,
live in the application</a:t>
            </a:r>
          </a:p>
        </p:txBody>
      </p:sp>
      <p:sp>
        <p:nvSpPr>
          <p:cNvPr id="15" name="Rounded Rectangle 14"/>
          <p:cNvSpPr/>
          <p:nvPr/>
        </p:nvSpPr>
        <p:spPr>
          <a:xfrm>
            <a:off x="8915400" y="3657600"/>
            <a:ext cx="2468880" cy="1188720"/>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98280" y="3785615"/>
            <a:ext cx="2103120" cy="502920"/>
          </a:xfrm>
          <a:prstGeom prst="rect">
            <a:avLst/>
          </a:prstGeom>
          <a:noFill/>
        </p:spPr>
        <p:txBody>
          <a:bodyPr wrap="square" anchor="t" lIns="0" rIns="0" tIns="0" bIns="0">
            <a:spAutoFit/>
          </a:bodyPr>
          <a:lstStyle/>
          <a:p>
            <a:pPr algn="l">
              <a:spcAft>
                <a:spcPts val="400"/>
              </a:spcAft>
            </a:pPr>
            <a:r>
              <a:rPr sz="2700" b="1">
                <a:solidFill>
                  <a:srgbClr val="4F9BF5"/>
                </a:solidFill>
                <a:latin typeface="Calibri"/>
              </a:rPr>
              <a:t>3</a:t>
            </a:r>
          </a:p>
        </p:txBody>
      </p:sp>
      <p:sp>
        <p:nvSpPr>
          <p:cNvPr id="17" name="TextBox 16"/>
          <p:cNvSpPr txBox="1"/>
          <p:nvPr/>
        </p:nvSpPr>
        <p:spPr>
          <a:xfrm>
            <a:off x="9098280" y="4279392"/>
            <a:ext cx="2103120" cy="475488"/>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collections: rooms,
strokes, snapshots</a:t>
            </a:r>
          </a:p>
        </p:txBody>
      </p:sp>
      <p:sp>
        <p:nvSpPr>
          <p:cNvPr id="18" name="TextBox 17"/>
          <p:cNvSpPr txBox="1"/>
          <p:nvPr/>
        </p:nvSpPr>
        <p:spPr>
          <a:xfrm>
            <a:off x="822960" y="5230368"/>
            <a:ext cx="10515600" cy="731520"/>
          </a:xfrm>
          <a:prstGeom prst="rect">
            <a:avLst/>
          </a:prstGeom>
          <a:noFill/>
        </p:spPr>
        <p:txBody>
          <a:bodyPr wrap="square" anchor="t" lIns="0" rIns="0" tIns="0" bIns="0">
            <a:spAutoFit/>
          </a:bodyPr>
          <a:lstStyle/>
          <a:p>
            <a:pPr algn="l">
              <a:spcAft>
                <a:spcPts val="400"/>
              </a:spcAft>
            </a:pPr>
            <a:r>
              <a:rPr sz="1300" b="0">
                <a:solidFill>
                  <a:srgbClr val="ECF1F8"/>
                </a:solidFill>
                <a:latin typeface="Calibri"/>
              </a:rPr>
              <a:t>Devesh Atul Mahajan (23BCE0801)  ·  Prakrit Bahl (23BCE0826)  ·  Lakshya Diwani (23BCE0811)</a:t>
            </a:r>
          </a:p>
          <a:p>
            <a:pPr algn="l">
              <a:spcAft>
                <a:spcPts val="400"/>
              </a:spcAft>
            </a:pPr>
            <a:r>
              <a:rPr sz="1200" b="0">
                <a:solidFill>
                  <a:srgbClr val="93A4BD"/>
                </a:solidFill>
                <a:latin typeface="Calibri"/>
              </a:rPr>
              <a:t>Batch NS02  ·  B.Tech CSE  ·  Guide: Dr. D. Vivek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AGENDA</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What this deck argues, and where</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600200"/>
          <a:ext cx="11064240" cy="2523744"/>
        </p:xfrm>
        <a:graphic>
          <a:graphicData uri="http://schemas.openxmlformats.org/drawingml/2006/table">
            <a:tbl>
              <a:tblPr firstRow="1" bandRow="1">
                <a:tableStyleId>{5C22544A-7EE6-4342-B048-85BDC9FD1C3A}</a:tableStyleId>
              </a:tblPr>
              <a:tblGrid>
                <a:gridCol w="2743200"/>
                <a:gridCol w="914400"/>
                <a:gridCol w="5760720"/>
                <a:gridCol w="1645920"/>
              </a:tblGrid>
              <a:tr h="420624">
                <a:tc>
                  <a:txBody>
                    <a:bodyPr/>
                    <a:lstStyle/>
                    <a:p>
                      <a:pPr algn="l">
                        <a:spcAft>
                          <a:spcPts val="400"/>
                        </a:spcAft>
                      </a:pPr>
                      <a:r>
                        <a:rPr sz="1350" b="1">
                          <a:solidFill>
                            <a:srgbClr val="4F9BF5"/>
                          </a:solidFill>
                          <a:latin typeface="Calibri"/>
                        </a:rPr>
                        <a:t>Rubric criterion</a:t>
                      </a:r>
                    </a:p>
                  </a:txBody>
                  <a:tcPr anchor="ctr" marL="64008" marR="64008">
                    <a:solidFill>
                      <a:srgbClr val="22314A"/>
                    </a:solidFill>
                  </a:tcPr>
                </a:tc>
                <a:tc>
                  <a:txBody>
                    <a:bodyPr/>
                    <a:lstStyle/>
                    <a:p>
                      <a:pPr algn="l">
                        <a:spcAft>
                          <a:spcPts val="400"/>
                        </a:spcAft>
                      </a:pPr>
                      <a:r>
                        <a:rPr sz="1350" b="1">
                          <a:solidFill>
                            <a:srgbClr val="4F9BF5"/>
                          </a:solidFill>
                          <a:latin typeface="Calibri"/>
                        </a:rPr>
                        <a:t>Marks</a:t>
                      </a:r>
                    </a:p>
                  </a:txBody>
                  <a:tcPr anchor="ctr" marL="64008" marR="64008">
                    <a:solidFill>
                      <a:srgbClr val="22314A"/>
                    </a:solidFill>
                  </a:tcPr>
                </a:tc>
                <a:tc>
                  <a:txBody>
                    <a:bodyPr/>
                    <a:lstStyle/>
                    <a:p>
                      <a:pPr algn="l">
                        <a:spcAft>
                          <a:spcPts val="400"/>
                        </a:spcAft>
                      </a:pPr>
                      <a:r>
                        <a:rPr sz="1350" b="1">
                          <a:solidFill>
                            <a:srgbClr val="4F9BF5"/>
                          </a:solidFill>
                          <a:latin typeface="Calibri"/>
                        </a:rPr>
                        <a:t>Argued by</a:t>
                      </a:r>
                    </a:p>
                  </a:txBody>
                  <a:tcPr anchor="ctr" marL="64008" marR="64008">
                    <a:solidFill>
                      <a:srgbClr val="22314A"/>
                    </a:solidFill>
                  </a:tcPr>
                </a:tc>
                <a:tc>
                  <a:txBody>
                    <a:bodyPr/>
                    <a:lstStyle/>
                    <a:p>
                      <a:pPr algn="l">
                        <a:spcAft>
                          <a:spcPts val="400"/>
                        </a:spcAft>
                      </a:pPr>
                      <a:r>
                        <a:rPr sz="1350" b="1">
                          <a:solidFill>
                            <a:srgbClr val="4F9BF5"/>
                          </a:solidFill>
                          <a:latin typeface="Calibri"/>
                        </a:rPr>
                        <a:t>Slides</a:t>
                      </a:r>
                    </a:p>
                  </a:txBody>
                  <a:tcPr anchor="ctr" marL="64008" marR="64008">
                    <a:solidFill>
                      <a:srgbClr val="22314A"/>
                    </a:solidFill>
                  </a:tcPr>
                </a:tc>
              </a:tr>
              <a:tr h="420624">
                <a:tc>
                  <a:txBody>
                    <a:bodyPr/>
                    <a:lstStyle/>
                    <a:p>
                      <a:pPr algn="l">
                        <a:spcAft>
                          <a:spcPts val="400"/>
                        </a:spcAft>
                      </a:pPr>
                      <a:r>
                        <a:rPr sz="1350" b="0">
                          <a:solidFill>
                            <a:srgbClr val="ECF1F8"/>
                          </a:solidFill>
                          <a:latin typeface="Calibri"/>
                        </a:rPr>
                        <a:t>System design</a:t>
                      </a:r>
                    </a:p>
                  </a:txBody>
                  <a:tcPr anchor="ctr" marL="64008" marR="64008">
                    <a:solidFill>
                      <a:srgbClr val="182236"/>
                    </a:solidFill>
                  </a:tcPr>
                </a:tc>
                <a:tc>
                  <a:txBody>
                    <a:bodyPr/>
                    <a:lstStyle/>
                    <a:p>
                      <a:pPr algn="l">
                        <a:spcAft>
                          <a:spcPts val="400"/>
                        </a:spcAft>
                      </a:pPr>
                      <a:r>
                        <a:rPr sz="1350" b="0">
                          <a:solidFill>
                            <a:srgbClr val="ECF1F8"/>
                          </a:solidFill>
                          <a:latin typeface="Calibri"/>
                        </a:rPr>
                        <a:t>6</a:t>
                      </a:r>
                    </a:p>
                  </a:txBody>
                  <a:tcPr anchor="ctr" marL="64008" marR="64008">
                    <a:solidFill>
                      <a:srgbClr val="182236"/>
                    </a:solidFill>
                  </a:tcPr>
                </a:tc>
                <a:tc>
                  <a:txBody>
                    <a:bodyPr/>
                    <a:lstStyle/>
                    <a:p>
                      <a:pPr algn="l">
                        <a:spcAft>
                          <a:spcPts val="400"/>
                        </a:spcAft>
                      </a:pPr>
                      <a:r>
                        <a:rPr sz="1350" b="0">
                          <a:solidFill>
                            <a:srgbClr val="ECF1F8"/>
                          </a:solidFill>
                          <a:latin typeface="Calibri"/>
                        </a:rPr>
                        <a:t>Append-only model, two-store split, ordering, fanout</a:t>
                      </a:r>
                    </a:p>
                  </a:txBody>
                  <a:tcPr anchor="ctr" marL="64008" marR="64008">
                    <a:solidFill>
                      <a:srgbClr val="182236"/>
                    </a:solidFill>
                  </a:tcPr>
                </a:tc>
                <a:tc>
                  <a:txBody>
                    <a:bodyPr/>
                    <a:lstStyle/>
                    <a:p>
                      <a:pPr algn="l">
                        <a:spcAft>
                          <a:spcPts val="400"/>
                        </a:spcAft>
                      </a:pPr>
                      <a:r>
                        <a:rPr sz="1350" b="0">
                          <a:solidFill>
                            <a:srgbClr val="ECF1F8"/>
                          </a:solidFill>
                          <a:latin typeface="Calibri"/>
                        </a:rPr>
                        <a:t>3 – 6</a:t>
                      </a:r>
                    </a:p>
                  </a:txBody>
                  <a:tcPr anchor="ctr" marL="64008" marR="64008">
                    <a:solidFill>
                      <a:srgbClr val="182236"/>
                    </a:solidFill>
                  </a:tcPr>
                </a:tc>
              </a:tr>
              <a:tr h="420624">
                <a:tc>
                  <a:txBody>
                    <a:bodyPr/>
                    <a:lstStyle/>
                    <a:p>
                      <a:pPr algn="l">
                        <a:spcAft>
                          <a:spcPts val="400"/>
                        </a:spcAft>
                      </a:pPr>
                      <a:r>
                        <a:rPr sz="1350" b="0">
                          <a:solidFill>
                            <a:srgbClr val="ECF1F8"/>
                          </a:solidFill>
                          <a:latin typeface="Calibri"/>
                        </a:rPr>
                        <a:t>Database implementation</a:t>
                      </a:r>
                    </a:p>
                  </a:txBody>
                  <a:tcPr anchor="ctr" marL="64008" marR="64008">
                    <a:solidFill>
                      <a:srgbClr val="141E30"/>
                    </a:solidFill>
                  </a:tcPr>
                </a:tc>
                <a:tc>
                  <a:txBody>
                    <a:bodyPr/>
                    <a:lstStyle/>
                    <a:p>
                      <a:pPr algn="l">
                        <a:spcAft>
                          <a:spcPts val="400"/>
                        </a:spcAft>
                      </a:pPr>
                      <a:r>
                        <a:rPr sz="1350" b="0">
                          <a:solidFill>
                            <a:srgbClr val="ECF1F8"/>
                          </a:solidFill>
                          <a:latin typeface="Calibri"/>
                        </a:rPr>
                        <a:t>8</a:t>
                      </a:r>
                    </a:p>
                  </a:txBody>
                  <a:tcPr anchor="ctr" marL="64008" marR="64008">
                    <a:solidFill>
                      <a:srgbClr val="141E30"/>
                    </a:solidFill>
                  </a:tcPr>
                </a:tc>
                <a:tc>
                  <a:txBody>
                    <a:bodyPr/>
                    <a:lstStyle/>
                    <a:p>
                      <a:pPr algn="l">
                        <a:spcAft>
                          <a:spcPts val="400"/>
                        </a:spcAft>
                      </a:pPr>
                      <a:r>
                        <a:rPr sz="1350" b="0">
                          <a:solidFill>
                            <a:srgbClr val="ECF1F8"/>
                          </a:solidFill>
                          <a:latin typeface="Calibri"/>
                        </a:rPr>
                        <a:t>Collections, flexible schema, CRUD, deletion, indexes</a:t>
                      </a:r>
                    </a:p>
                  </a:txBody>
                  <a:tcPr anchor="ctr" marL="64008" marR="64008">
                    <a:solidFill>
                      <a:srgbClr val="141E30"/>
                    </a:solidFill>
                  </a:tcPr>
                </a:tc>
                <a:tc>
                  <a:txBody>
                    <a:bodyPr/>
                    <a:lstStyle/>
                    <a:p>
                      <a:pPr algn="l">
                        <a:spcAft>
                          <a:spcPts val="400"/>
                        </a:spcAft>
                      </a:pPr>
                      <a:r>
                        <a:rPr sz="1350" b="0">
                          <a:solidFill>
                            <a:srgbClr val="ECF1F8"/>
                          </a:solidFill>
                          <a:latin typeface="Calibri"/>
                        </a:rPr>
                        <a:t>7 – 12</a:t>
                      </a:r>
                    </a:p>
                  </a:txBody>
                  <a:tcPr anchor="ctr" marL="64008" marR="64008">
                    <a:solidFill>
                      <a:srgbClr val="141E30"/>
                    </a:solidFill>
                  </a:tcPr>
                </a:tc>
              </a:tr>
              <a:tr h="420624">
                <a:tc>
                  <a:txBody>
                    <a:bodyPr/>
                    <a:lstStyle/>
                    <a:p>
                      <a:pPr algn="l">
                        <a:spcAft>
                          <a:spcPts val="400"/>
                        </a:spcAft>
                      </a:pPr>
                      <a:r>
                        <a:rPr sz="1350" b="0">
                          <a:solidFill>
                            <a:srgbClr val="ECF1F8"/>
                          </a:solidFill>
                          <a:latin typeface="Calibri"/>
                        </a:rPr>
                        <a:t>Query quality</a:t>
                      </a:r>
                    </a:p>
                  </a:txBody>
                  <a:tcPr anchor="ctr" marL="64008" marR="64008">
                    <a:solidFill>
                      <a:srgbClr val="182236"/>
                    </a:solidFill>
                  </a:tcPr>
                </a:tc>
                <a:tc>
                  <a:txBody>
                    <a:bodyPr/>
                    <a:lstStyle/>
                    <a:p>
                      <a:pPr algn="l">
                        <a:spcAft>
                          <a:spcPts val="400"/>
                        </a:spcAft>
                      </a:pPr>
                      <a:r>
                        <a:rPr sz="1350" b="0">
                          <a:solidFill>
                            <a:srgbClr val="ECF1F8"/>
                          </a:solidFill>
                          <a:latin typeface="Calibri"/>
                        </a:rPr>
                        <a:t>6</a:t>
                      </a:r>
                    </a:p>
                  </a:txBody>
                  <a:tcPr anchor="ctr" marL="64008" marR="64008">
                    <a:solidFill>
                      <a:srgbClr val="182236"/>
                    </a:solidFill>
                  </a:tcPr>
                </a:tc>
                <a:tc>
                  <a:txBody>
                    <a:bodyPr/>
                    <a:lstStyle/>
                    <a:p>
                      <a:pPr algn="l">
                        <a:spcAft>
                          <a:spcPts val="400"/>
                        </a:spcAft>
                      </a:pPr>
                      <a:r>
                        <a:rPr sz="1350" b="0">
                          <a:solidFill>
                            <a:srgbClr val="ECF1F8"/>
                          </a:solidFill>
                          <a:latin typeface="Calibri"/>
                        </a:rPr>
                        <a:t>Measured index plans, nine pipelines, join cost</a:t>
                      </a:r>
                    </a:p>
                  </a:txBody>
                  <a:tcPr anchor="ctr" marL="64008" marR="64008">
                    <a:solidFill>
                      <a:srgbClr val="182236"/>
                    </a:solidFill>
                  </a:tcPr>
                </a:tc>
                <a:tc>
                  <a:txBody>
                    <a:bodyPr/>
                    <a:lstStyle/>
                    <a:p>
                      <a:pPr algn="l">
                        <a:spcAft>
                          <a:spcPts val="400"/>
                        </a:spcAft>
                      </a:pPr>
                      <a:r>
                        <a:rPr sz="1350" b="0">
                          <a:solidFill>
                            <a:srgbClr val="ECF1F8"/>
                          </a:solidFill>
                          <a:latin typeface="Calibri"/>
                        </a:rPr>
                        <a:t>13 – 17</a:t>
                      </a:r>
                    </a:p>
                  </a:txBody>
                  <a:tcPr anchor="ctr" marL="64008" marR="64008">
                    <a:solidFill>
                      <a:srgbClr val="182236"/>
                    </a:solidFill>
                  </a:tcPr>
                </a:tc>
              </a:tr>
              <a:tr h="420624">
                <a:tc>
                  <a:txBody>
                    <a:bodyPr/>
                    <a:lstStyle/>
                    <a:p>
                      <a:pPr algn="l">
                        <a:spcAft>
                          <a:spcPts val="400"/>
                        </a:spcAft>
                      </a:pPr>
                      <a:r>
                        <a:rPr sz="1350" b="0">
                          <a:solidFill>
                            <a:srgbClr val="ECF1F8"/>
                          </a:solidFill>
                          <a:latin typeface="Calibri"/>
                        </a:rPr>
                        <a:t>Prototype / demo</a:t>
                      </a:r>
                    </a:p>
                  </a:txBody>
                  <a:tcPr anchor="ctr" marL="64008" marR="64008">
                    <a:solidFill>
                      <a:srgbClr val="141E30"/>
                    </a:solidFill>
                  </a:tcPr>
                </a:tc>
                <a:tc>
                  <a:txBody>
                    <a:bodyPr/>
                    <a:lstStyle/>
                    <a:p>
                      <a:pPr algn="l">
                        <a:spcAft>
                          <a:spcPts val="400"/>
                        </a:spcAft>
                      </a:pPr>
                      <a:r>
                        <a:rPr sz="1350" b="0">
                          <a:solidFill>
                            <a:srgbClr val="ECF1F8"/>
                          </a:solidFill>
                          <a:latin typeface="Calibri"/>
                        </a:rPr>
                        <a:t>5</a:t>
                      </a:r>
                    </a:p>
                  </a:txBody>
                  <a:tcPr anchor="ctr" marL="64008" marR="64008">
                    <a:solidFill>
                      <a:srgbClr val="141E30"/>
                    </a:solidFill>
                  </a:tcPr>
                </a:tc>
                <a:tc>
                  <a:txBody>
                    <a:bodyPr/>
                    <a:lstStyle/>
                    <a:p>
                      <a:pPr algn="l">
                        <a:spcAft>
                          <a:spcPts val="400"/>
                        </a:spcAft>
                      </a:pPr>
                      <a:r>
                        <a:rPr sz="1350" b="0">
                          <a:solidFill>
                            <a:srgbClr val="ECF1F8"/>
                          </a:solidFill>
                          <a:latin typeface="Calibri"/>
                        </a:rPr>
                        <a:t>Running system, cross-instance sync, live analytics</a:t>
                      </a:r>
                    </a:p>
                  </a:txBody>
                  <a:tcPr anchor="ctr" marL="64008" marR="64008">
                    <a:solidFill>
                      <a:srgbClr val="141E30"/>
                    </a:solidFill>
                  </a:tcPr>
                </a:tc>
                <a:tc>
                  <a:txBody>
                    <a:bodyPr/>
                    <a:lstStyle/>
                    <a:p>
                      <a:pPr algn="l">
                        <a:spcAft>
                          <a:spcPts val="400"/>
                        </a:spcAft>
                      </a:pPr>
                      <a:r>
                        <a:rPr sz="1350" b="0">
                          <a:solidFill>
                            <a:srgbClr val="ECF1F8"/>
                          </a:solidFill>
                          <a:latin typeface="Calibri"/>
                        </a:rPr>
                        <a:t>18 – 20</a:t>
                      </a:r>
                    </a:p>
                  </a:txBody>
                  <a:tcPr anchor="ctr" marL="64008" marR="64008">
                    <a:solidFill>
                      <a:srgbClr val="141E30"/>
                    </a:solidFill>
                  </a:tcPr>
                </a:tc>
              </a:tr>
              <a:tr h="420624">
                <a:tc>
                  <a:txBody>
                    <a:bodyPr/>
                    <a:lstStyle/>
                    <a:p>
                      <a:pPr algn="l">
                        <a:spcAft>
                          <a:spcPts val="400"/>
                        </a:spcAft>
                      </a:pPr>
                      <a:r>
                        <a:rPr sz="1350" b="0">
                          <a:solidFill>
                            <a:srgbClr val="ECF1F8"/>
                          </a:solidFill>
                          <a:latin typeface="Calibri"/>
                        </a:rPr>
                        <a:t>Documentation &amp; progress</a:t>
                      </a:r>
                    </a:p>
                  </a:txBody>
                  <a:tcPr anchor="ctr" marL="64008" marR="64008">
                    <a:solidFill>
                      <a:srgbClr val="182236"/>
                    </a:solidFill>
                  </a:tcPr>
                </a:tc>
                <a:tc>
                  <a:txBody>
                    <a:bodyPr/>
                    <a:lstStyle/>
                    <a:p>
                      <a:pPr algn="l">
                        <a:spcAft>
                          <a:spcPts val="400"/>
                        </a:spcAft>
                      </a:pPr>
                      <a:r>
                        <a:rPr sz="1350" b="0">
                          <a:solidFill>
                            <a:srgbClr val="ECF1F8"/>
                          </a:solidFill>
                          <a:latin typeface="Calibri"/>
                        </a:rPr>
                        <a:t>5</a:t>
                      </a:r>
                    </a:p>
                  </a:txBody>
                  <a:tcPr anchor="ctr" marL="64008" marR="64008">
                    <a:solidFill>
                      <a:srgbClr val="182236"/>
                    </a:solidFill>
                  </a:tcPr>
                </a:tc>
                <a:tc>
                  <a:txBody>
                    <a:bodyPr/>
                    <a:lstStyle/>
                    <a:p>
                      <a:pPr algn="l">
                        <a:spcAft>
                          <a:spcPts val="400"/>
                        </a:spcAft>
                      </a:pPr>
                      <a:r>
                        <a:rPr sz="1350" b="0">
                          <a:solidFill>
                            <a:srgbClr val="ECF1F8"/>
                          </a:solidFill>
                          <a:latin typeface="Calibri"/>
                        </a:rPr>
                        <a:t>Deviations, limitations, plan for Review 3</a:t>
                      </a:r>
                    </a:p>
                  </a:txBody>
                  <a:tcPr anchor="ctr" marL="64008" marR="64008">
                    <a:solidFill>
                      <a:srgbClr val="182236"/>
                    </a:solidFill>
                  </a:tcPr>
                </a:tc>
                <a:tc>
                  <a:txBody>
                    <a:bodyPr/>
                    <a:lstStyle/>
                    <a:p>
                      <a:pPr algn="l">
                        <a:spcAft>
                          <a:spcPts val="400"/>
                        </a:spcAft>
                      </a:pPr>
                      <a:r>
                        <a:rPr sz="1350" b="0">
                          <a:solidFill>
                            <a:srgbClr val="ECF1F8"/>
                          </a:solidFill>
                          <a:latin typeface="Calibri"/>
                        </a:rPr>
                        <a:t>21 – 22</a:t>
                      </a:r>
                    </a:p>
                  </a:txBody>
                  <a:tcPr anchor="ctr" marL="64008" marR="64008">
                    <a:solidFill>
                      <a:srgbClr val="182236"/>
                    </a:solidFill>
                  </a:tcPr>
                </a:tc>
              </a:tr>
            </a:tbl>
          </a:graphicData>
        </a:graphic>
      </p:graphicFrame>
      <p:sp>
        <p:nvSpPr>
          <p:cNvPr id="7" name="TextBox 6"/>
          <p:cNvSpPr txBox="1"/>
          <p:nvPr/>
        </p:nvSpPr>
        <p:spPr>
          <a:xfrm>
            <a:off x="566928" y="5029200"/>
            <a:ext cx="11064240" cy="914400"/>
          </a:xfrm>
          <a:prstGeom prst="rect">
            <a:avLst/>
          </a:prstGeom>
          <a:noFill/>
        </p:spPr>
        <p:txBody>
          <a:bodyPr wrap="square" anchor="t" lIns="0" rIns="0" tIns="0" bIns="0">
            <a:spAutoFit/>
          </a:bodyPr>
          <a:lstStyle/>
          <a:p>
            <a:pPr algn="l">
              <a:spcAft>
                <a:spcPts val="400"/>
              </a:spcAft>
            </a:pPr>
            <a:r>
              <a:rPr sz="1500" b="1">
                <a:solidFill>
                  <a:srgbClr val="ECF1F8"/>
                </a:solidFill>
                <a:latin typeface="Calibri"/>
              </a:rPr>
              <a:t>Everything shown is measured against a running system.</a:t>
            </a:r>
          </a:p>
          <a:p>
            <a:pPr algn="l">
              <a:lnSpc>
                <a:spcPct val="110000"/>
              </a:lnSpc>
              <a:spcAft>
                <a:spcPts val="400"/>
              </a:spcAft>
            </a:pPr>
            <a:r>
              <a:rPr sz="1350" b="0">
                <a:solidFill>
                  <a:srgbClr val="93A4BD"/>
                </a:solidFill>
                <a:latin typeface="Calibri"/>
              </a:rPr>
              <a:t>The numbers in this deck come from docs/measurements.json, produced by a script that queries the live application. No figure here was typed by hand.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SYSTEM DESIGN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One decision shapes everything else</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27632"/>
            <a:ext cx="5349240" cy="1920240"/>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10512"/>
            <a:ext cx="4937760" cy="1645920"/>
          </a:xfrm>
          <a:prstGeom prst="rect">
            <a:avLst/>
          </a:prstGeom>
          <a:noFill/>
        </p:spPr>
        <p:txBody>
          <a:bodyPr wrap="square" anchor="t" lIns="0" rIns="0" tIns="0" bIns="0">
            <a:spAutoFit/>
          </a:bodyPr>
          <a:lstStyle/>
          <a:p>
            <a:pPr algn="l">
              <a:spcAft>
                <a:spcPts val="400"/>
              </a:spcAft>
            </a:pPr>
            <a:r>
              <a:rPr sz="1700" b="1">
                <a:solidFill>
                  <a:srgbClr val="3DD598"/>
                </a:solidFill>
                <a:latin typeface="Calibri"/>
              </a:rPr>
              <a:t>The canvas is never stored as a picture</a:t>
            </a:r>
          </a:p>
          <a:p>
            <a:pPr algn="l">
              <a:lnSpc>
                <a:spcPct val="112000"/>
              </a:lnSpc>
              <a:spcAft>
                <a:spcPts val="400"/>
              </a:spcAft>
            </a:pPr>
            <a:r>
              <a:rPr sz="1350" b="0">
                <a:solidFill>
                  <a:srgbClr val="93A4BD"/>
                </a:solidFill>
                <a:latin typeface="Calibri"/>
              </a:rPr>
              <a:t>It is an ordered, append-only stream of stroke documents. What a user sees is derived state, rebuilt by replaying that stream.</a:t>
            </a:r>
          </a:p>
        </p:txBody>
      </p:sp>
      <p:sp>
        <p:nvSpPr>
          <p:cNvPr id="8" name="Rounded Rectangle 7"/>
          <p:cNvSpPr/>
          <p:nvPr/>
        </p:nvSpPr>
        <p:spPr>
          <a:xfrm>
            <a:off x="6263640" y="1627632"/>
            <a:ext cx="5349240" cy="1920240"/>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810512"/>
            <a:ext cx="4937760" cy="1645920"/>
          </a:xfrm>
          <a:prstGeom prst="rect">
            <a:avLst/>
          </a:prstGeom>
          <a:noFill/>
        </p:spPr>
        <p:txBody>
          <a:bodyPr wrap="square" anchor="t" lIns="0" rIns="0" tIns="0" bIns="0">
            <a:spAutoFit/>
          </a:bodyPr>
          <a:lstStyle/>
          <a:p>
            <a:pPr algn="l">
              <a:spcAft>
                <a:spcPts val="400"/>
              </a:spcAft>
            </a:pPr>
            <a:r>
              <a:rPr sz="1700" b="1">
                <a:solidFill>
                  <a:srgbClr val="4F9BF5"/>
                </a:solidFill>
                <a:latin typeface="Calibri"/>
              </a:rPr>
              <a:t>Why that makes it a NoSQL project</a:t>
            </a:r>
          </a:p>
          <a:p>
            <a:pPr algn="l">
              <a:lnSpc>
                <a:spcPct val="112000"/>
              </a:lnSpc>
              <a:spcAft>
                <a:spcPts val="400"/>
              </a:spcAft>
            </a:pPr>
            <a:r>
              <a:rPr sz="1350" b="0">
                <a:solidFill>
                  <a:srgbClr val="93A4BD"/>
                </a:solidFill>
                <a:latin typeface="Calibri"/>
              </a:rPr>
              <a:t>Four tools produce genuinely different documents in one collection. Undo becomes a flag, so history survives. Ordering cannot come from a clock.</a:t>
            </a:r>
          </a:p>
        </p:txBody>
      </p:sp>
      <p:sp>
        <p:nvSpPr>
          <p:cNvPr id="10" name="TextBox 9"/>
          <p:cNvSpPr txBox="1"/>
          <p:nvPr/>
        </p:nvSpPr>
        <p:spPr>
          <a:xfrm>
            <a:off x="566928" y="3794760"/>
            <a:ext cx="11064240" cy="274320"/>
          </a:xfrm>
          <a:prstGeom prst="rect">
            <a:avLst/>
          </a:prstGeom>
          <a:noFill/>
        </p:spPr>
        <p:txBody>
          <a:bodyPr wrap="square" anchor="t" lIns="0" rIns="0" tIns="0" bIns="0">
            <a:spAutoFit/>
          </a:bodyPr>
          <a:lstStyle/>
          <a:p>
            <a:pPr>
              <a:lnSpc>
                <a:spcPct val="104000"/>
              </a:lnSpc>
            </a:pPr>
            <a:r>
              <a:rPr sz="1500" b="1">
                <a:solidFill>
                  <a:srgbClr val="ECF1F8"/>
                </a:solidFill>
                <a:latin typeface="Calibri"/>
              </a:rPr>
              <a:t>Replay, not snapshots of truth. </a:t>
            </a:r>
            <a:r>
              <a:rPr sz="1500" b="0">
                <a:solidFill>
                  <a:srgbClr val="93A4BD"/>
                </a:solidFill>
                <a:latin typeface="Calibri"/>
              </a:rPr>
              <a:t>A snapshot is only a cache; the log remains the system of record.</a:t>
            </a:r>
          </a:p>
        </p:txBody>
      </p:sp>
      <p:sp>
        <p:nvSpPr>
          <p:cNvPr id="11" name="TextBox 10"/>
          <p:cNvSpPr txBox="1"/>
          <p:nvPr/>
        </p:nvSpPr>
        <p:spPr>
          <a:xfrm>
            <a:off x="566928" y="4361688"/>
            <a:ext cx="11064240" cy="274320"/>
          </a:xfrm>
          <a:prstGeom prst="rect">
            <a:avLst/>
          </a:prstGeom>
          <a:noFill/>
        </p:spPr>
        <p:txBody>
          <a:bodyPr wrap="square" anchor="t" lIns="0" rIns="0" tIns="0" bIns="0">
            <a:spAutoFit/>
          </a:bodyPr>
          <a:lstStyle/>
          <a:p>
            <a:pPr>
              <a:lnSpc>
                <a:spcPct val="104000"/>
              </a:lnSpc>
            </a:pPr>
            <a:r>
              <a:rPr sz="1500" b="1">
                <a:solidFill>
                  <a:srgbClr val="ECF1F8"/>
                </a:solidFill>
                <a:latin typeface="Calibri"/>
              </a:rPr>
              <a:t>Undo is a soft delete. </a:t>
            </a:r>
            <a:r>
              <a:rPr sz="1500" b="0">
                <a:solidFill>
                  <a:srgbClr val="93A4BD"/>
                </a:solidFill>
                <a:latin typeface="Calibri"/>
              </a:rPr>
              <a:t>active: false retains the stroke, so redo and analytics still see it.</a:t>
            </a:r>
          </a:p>
        </p:txBody>
      </p:sp>
      <p:sp>
        <p:nvSpPr>
          <p:cNvPr id="12" name="TextBox 11"/>
          <p:cNvSpPr txBox="1"/>
          <p:nvPr/>
        </p:nvSpPr>
        <p:spPr>
          <a:xfrm>
            <a:off x="566928" y="4928616"/>
            <a:ext cx="11064240" cy="274320"/>
          </a:xfrm>
          <a:prstGeom prst="rect">
            <a:avLst/>
          </a:prstGeom>
          <a:noFill/>
        </p:spPr>
        <p:txBody>
          <a:bodyPr wrap="square" anchor="t" lIns="0" rIns="0" tIns="0" bIns="0">
            <a:spAutoFit/>
          </a:bodyPr>
          <a:lstStyle/>
          <a:p>
            <a:pPr>
              <a:lnSpc>
                <a:spcPct val="104000"/>
              </a:lnSpc>
            </a:pPr>
            <a:r>
              <a:rPr sz="1500" b="1">
                <a:solidFill>
                  <a:srgbClr val="ECF1F8"/>
                </a:solidFill>
                <a:latin typeface="Calibri"/>
              </a:rPr>
              <a:t>Order comes from Redis INCR. </a:t>
            </a:r>
            <a:r>
              <a:rPr sz="1500" b="0">
                <a:solidFill>
                  <a:srgbClr val="93A4BD"/>
                </a:solidFill>
                <a:latin typeface="Calibri"/>
              </a:rPr>
              <a:t>Atomic across every instance, so replay is total and reproducible.</a:t>
            </a:r>
          </a:p>
        </p:txBody>
      </p:sp>
      <p:sp>
        <p:nvSpPr>
          <p:cNvPr id="13" name="TextBox 12"/>
          <p:cNvSpPr txBox="1"/>
          <p:nvPr/>
        </p:nvSpPr>
        <p:spPr>
          <a:xfrm>
            <a:off x="566928" y="5495544"/>
            <a:ext cx="11064240" cy="274320"/>
          </a:xfrm>
          <a:prstGeom prst="rect">
            <a:avLst/>
          </a:prstGeom>
          <a:noFill/>
        </p:spPr>
        <p:txBody>
          <a:bodyPr wrap="square" anchor="t" lIns="0" rIns="0" tIns="0" bIns="0">
            <a:spAutoFit/>
          </a:bodyPr>
          <a:lstStyle/>
          <a:p>
            <a:pPr>
              <a:lnSpc>
                <a:spcPct val="104000"/>
              </a:lnSpc>
            </a:pPr>
            <a:r>
              <a:rPr sz="1500" b="1">
                <a:solidFill>
                  <a:srgbClr val="ECF1F8"/>
                </a:solidFill>
                <a:latin typeface="Calibri"/>
              </a:rPr>
              <a:t>Previews are never persisted. </a:t>
            </a:r>
            <a:r>
              <a:rPr sz="1500" b="0">
                <a:solidFill>
                  <a:srgbClr val="93A4BD"/>
                </a:solidFill>
                <a:latin typeface="Calibri"/>
              </a:rPr>
              <a:t>One stroke writes exactly one document, however many frames it took to draw.</a:t>
            </a:r>
          </a:p>
        </p:txBody>
      </p:sp>
      <p:sp>
        <p:nvSpPr>
          <p:cNvPr id="14" name="TextBox 13"/>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Sections 1 and 2 of the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SYSTEM DESIGN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Runtime architecture</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itecture.png"/>
          <p:cNvPicPr>
            <a:picLocks noChangeAspect="1"/>
          </p:cNvPicPr>
          <p:nvPr/>
        </p:nvPicPr>
        <p:blipFill>
          <a:blip r:embed="rId2"/>
          <a:stretch>
            <a:fillRect/>
          </a:stretch>
        </p:blipFill>
        <p:spPr>
          <a:xfrm>
            <a:off x="566928" y="1572768"/>
            <a:ext cx="6858000" cy="4557614"/>
          </a:xfrm>
          <a:prstGeom prst="rect">
            <a:avLst/>
          </a:prstGeom>
          <a:ln w="12700">
            <a:solidFill>
              <a:srgbClr val="2A3A55"/>
            </a:solidFill>
          </a:ln>
        </p:spPr>
      </p:pic>
      <p:sp>
        <p:nvSpPr>
          <p:cNvPr id="7" name="TextBox 6"/>
          <p:cNvSpPr txBox="1"/>
          <p:nvPr/>
        </p:nvSpPr>
        <p:spPr>
          <a:xfrm>
            <a:off x="7726679" y="1691640"/>
            <a:ext cx="3931920" cy="274320"/>
          </a:xfrm>
          <a:prstGeom prst="rect">
            <a:avLst/>
          </a:prstGeom>
          <a:noFill/>
        </p:spPr>
        <p:txBody>
          <a:bodyPr wrap="square" anchor="t" lIns="0" rIns="0" tIns="0" bIns="0">
            <a:spAutoFit/>
          </a:bodyPr>
          <a:lstStyle/>
          <a:p>
            <a:pPr>
              <a:lnSpc>
                <a:spcPct val="104000"/>
              </a:lnSpc>
            </a:pPr>
            <a:r>
              <a:rPr sz="1350" b="1">
                <a:solidFill>
                  <a:srgbClr val="ECF1F8"/>
                </a:solidFill>
                <a:latin typeface="Calibri"/>
              </a:rPr>
              <a:t>Two FastAPI processes, </a:t>
            </a:r>
            <a:r>
              <a:rPr sz="1350" b="0">
                <a:solidFill>
                  <a:srgbClr val="93A4BD"/>
                </a:solidFill>
                <a:latin typeface="Calibri"/>
              </a:rPr>
              <a:t>sharing no memory. This is deliberate.</a:t>
            </a:r>
          </a:p>
        </p:txBody>
      </p:sp>
      <p:sp>
        <p:nvSpPr>
          <p:cNvPr id="8" name="TextBox 7"/>
          <p:cNvSpPr txBox="1"/>
          <p:nvPr/>
        </p:nvSpPr>
        <p:spPr>
          <a:xfrm>
            <a:off x="7726679" y="2258568"/>
            <a:ext cx="3931920" cy="274320"/>
          </a:xfrm>
          <a:prstGeom prst="rect">
            <a:avLst/>
          </a:prstGeom>
          <a:noFill/>
        </p:spPr>
        <p:txBody>
          <a:bodyPr wrap="square" anchor="t" lIns="0" rIns="0" tIns="0" bIns="0">
            <a:spAutoFit/>
          </a:bodyPr>
          <a:lstStyle/>
          <a:p>
            <a:pPr>
              <a:lnSpc>
                <a:spcPct val="104000"/>
              </a:lnSpc>
            </a:pPr>
            <a:r>
              <a:rPr sz="1350" b="1">
                <a:solidFill>
                  <a:srgbClr val="ECF1F8"/>
                </a:solidFill>
                <a:latin typeface="Calibri"/>
              </a:rPr>
              <a:t>A single process </a:t>
            </a:r>
            <a:r>
              <a:rPr sz="1350" b="0">
                <a:solidFill>
                  <a:srgbClr val="93A4BD"/>
                </a:solidFill>
                <a:latin typeface="Calibri"/>
              </a:rPr>
              <a:t>could broadcast from a dictionary and would never exercise the fanout layer at all.</a:t>
            </a:r>
          </a:p>
        </p:txBody>
      </p:sp>
      <p:sp>
        <p:nvSpPr>
          <p:cNvPr id="9" name="TextBox 8"/>
          <p:cNvSpPr txBox="1"/>
          <p:nvPr/>
        </p:nvSpPr>
        <p:spPr>
          <a:xfrm>
            <a:off x="7726679" y="3300984"/>
            <a:ext cx="3931920" cy="274320"/>
          </a:xfrm>
          <a:prstGeom prst="rect">
            <a:avLst/>
          </a:prstGeom>
          <a:noFill/>
        </p:spPr>
        <p:txBody>
          <a:bodyPr wrap="square" anchor="t" lIns="0" rIns="0" tIns="0" bIns="0">
            <a:spAutoFit/>
          </a:bodyPr>
          <a:lstStyle/>
          <a:p>
            <a:pPr>
              <a:lnSpc>
                <a:spcPct val="104000"/>
              </a:lnSpc>
            </a:pPr>
            <a:r>
              <a:rPr sz="1350" b="1">
                <a:solidFill>
                  <a:srgbClr val="ECF1F8"/>
                </a:solidFill>
                <a:latin typeface="Calibri"/>
              </a:rPr>
              <a:t>MongoDB is the only </a:t>
            </a:r>
            <a:r>
              <a:rPr sz="1350" b="0">
                <a:solidFill>
                  <a:srgbClr val="93A4BD"/>
                </a:solidFill>
                <a:latin typeface="Calibri"/>
              </a:rPr>
              <a:t>durable state: rooms, the stroke log, snapshots.</a:t>
            </a:r>
          </a:p>
        </p:txBody>
      </p:sp>
      <p:sp>
        <p:nvSpPr>
          <p:cNvPr id="10" name="TextBox 9"/>
          <p:cNvSpPr txBox="1"/>
          <p:nvPr/>
        </p:nvSpPr>
        <p:spPr>
          <a:xfrm>
            <a:off x="7726679" y="4105656"/>
            <a:ext cx="3931920" cy="274320"/>
          </a:xfrm>
          <a:prstGeom prst="rect">
            <a:avLst/>
          </a:prstGeom>
          <a:noFill/>
        </p:spPr>
        <p:txBody>
          <a:bodyPr wrap="square" anchor="t" lIns="0" rIns="0" tIns="0" bIns="0">
            <a:spAutoFit/>
          </a:bodyPr>
          <a:lstStyle/>
          <a:p>
            <a:pPr>
              <a:lnSpc>
                <a:spcPct val="104000"/>
              </a:lnSpc>
            </a:pPr>
            <a:r>
              <a:rPr sz="1350" b="1">
                <a:solidFill>
                  <a:srgbClr val="ECF1F8"/>
                </a:solidFill>
                <a:latin typeface="Calibri"/>
              </a:rPr>
              <a:t>Redis is the bus </a:t>
            </a:r>
            <a:r>
              <a:rPr sz="1350" b="0">
                <a:solidFill>
                  <a:srgbClr val="93A4BD"/>
                </a:solidFill>
                <a:latin typeface="Calibri"/>
              </a:rPr>
              <a:t>and the counter — drawn between the instances because that is its role.</a:t>
            </a:r>
          </a:p>
        </p:txBody>
      </p:sp>
      <p:sp>
        <p:nvSpPr>
          <p:cNvPr id="11" name="TextBox 10"/>
          <p:cNvSpPr txBox="1"/>
          <p:nvPr/>
        </p:nvSpPr>
        <p:spPr>
          <a:xfrm>
            <a:off x="7726679" y="4910328"/>
            <a:ext cx="3931920" cy="274320"/>
          </a:xfrm>
          <a:prstGeom prst="rect">
            <a:avLst/>
          </a:prstGeom>
          <a:noFill/>
        </p:spPr>
        <p:txBody>
          <a:bodyPr wrap="square" anchor="t" lIns="0" rIns="0" tIns="0" bIns="0">
            <a:spAutoFit/>
          </a:bodyPr>
          <a:lstStyle/>
          <a:p>
            <a:pPr>
              <a:lnSpc>
                <a:spcPct val="104000"/>
              </a:lnSpc>
            </a:pPr>
            <a:r>
              <a:rPr sz="1350" b="1">
                <a:solidFill>
                  <a:srgbClr val="ECF1F8"/>
                </a:solidFill>
                <a:latin typeface="Calibri"/>
              </a:rPr>
              <a:t>Both drivers are async. </a:t>
            </a:r>
            <a:r>
              <a:rPr sz="1350" b="0">
                <a:solidFill>
                  <a:srgbClr val="93A4BD"/>
                </a:solidFill>
                <a:latin typeface="Calibri"/>
              </a:rPr>
              <a:t>A blocking call in a WebSocket handler would stall every other user on that process.</a:t>
            </a:r>
          </a:p>
        </p:txBody>
      </p:sp>
      <p:sp>
        <p:nvSpPr>
          <p:cNvPr id="12" name="TextBox 11"/>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Demonstrated live: two browsers, two processes, one board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SYSTEM DESIGN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Why two data stores, and what breaks</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627632"/>
          <a:ext cx="11064240" cy="2834640"/>
        </p:xfrm>
        <a:graphic>
          <a:graphicData uri="http://schemas.openxmlformats.org/drawingml/2006/table">
            <a:tbl>
              <a:tblPr firstRow="1" bandRow="1">
                <a:tableStyleId>{5C22544A-7EE6-4342-B048-85BDC9FD1C3A}</a:tableStyleId>
              </a:tblPr>
              <a:tblGrid>
                <a:gridCol w="1737360"/>
                <a:gridCol w="4206240"/>
                <a:gridCol w="5120640"/>
              </a:tblGrid>
              <a:tr h="566928">
                <a:tc>
                  <a:txBody>
                    <a:bodyPr/>
                    <a:lstStyle/>
                    <a:p>
                      <a:pPr algn="l">
                        <a:spcAft>
                          <a:spcPts val="400"/>
                        </a:spcAft>
                      </a:pPr>
                      <a:r>
                        <a:rPr sz="1300" b="1">
                          <a:solidFill>
                            <a:srgbClr val="4F9BF5"/>
                          </a:solidFill>
                          <a:latin typeface="Calibri"/>
                        </a:rPr>
                        <a:t/>
                      </a:r>
                    </a:p>
                  </a:txBody>
                  <a:tcPr anchor="ctr" marL="64008" marR="64008">
                    <a:solidFill>
                      <a:srgbClr val="22314A"/>
                    </a:solidFill>
                  </a:tcPr>
                </a:tc>
                <a:tc>
                  <a:txBody>
                    <a:bodyPr/>
                    <a:lstStyle/>
                    <a:p>
                      <a:pPr algn="l">
                        <a:spcAft>
                          <a:spcPts val="400"/>
                        </a:spcAft>
                      </a:pPr>
                      <a:r>
                        <a:rPr sz="1300" b="1">
                          <a:solidFill>
                            <a:srgbClr val="4F9BF5"/>
                          </a:solidFill>
                          <a:latin typeface="Calibri"/>
                        </a:rPr>
                        <a:t>MongoDB</a:t>
                      </a:r>
                    </a:p>
                  </a:txBody>
                  <a:tcPr anchor="ctr" marL="64008" marR="64008">
                    <a:solidFill>
                      <a:srgbClr val="22314A"/>
                    </a:solidFill>
                  </a:tcPr>
                </a:tc>
                <a:tc>
                  <a:txBody>
                    <a:bodyPr/>
                    <a:lstStyle/>
                    <a:p>
                      <a:pPr algn="l">
                        <a:spcAft>
                          <a:spcPts val="400"/>
                        </a:spcAft>
                      </a:pPr>
                      <a:r>
                        <a:rPr sz="1300" b="1">
                          <a:solidFill>
                            <a:srgbClr val="4F9BF5"/>
                          </a:solidFill>
                          <a:latin typeface="Calibri"/>
                        </a:rPr>
                        <a:t>Redis</a:t>
                      </a:r>
                    </a:p>
                  </a:txBody>
                  <a:tcPr anchor="ctr" marL="64008" marR="64008">
                    <a:solidFill>
                      <a:srgbClr val="22314A"/>
                    </a:solidFill>
                  </a:tcPr>
                </a:tc>
              </a:tr>
              <a:tr h="566928">
                <a:tc>
                  <a:txBody>
                    <a:bodyPr/>
                    <a:lstStyle/>
                    <a:p>
                      <a:pPr algn="l">
                        <a:spcAft>
                          <a:spcPts val="400"/>
                        </a:spcAft>
                      </a:pPr>
                      <a:r>
                        <a:rPr sz="1300" b="0">
                          <a:solidFill>
                            <a:srgbClr val="ECF1F8"/>
                          </a:solidFill>
                          <a:latin typeface="Calibri"/>
                        </a:rPr>
                        <a:t>Holds</a:t>
                      </a:r>
                    </a:p>
                  </a:txBody>
                  <a:tcPr anchor="ctr" marL="64008" marR="64008">
                    <a:solidFill>
                      <a:srgbClr val="182236"/>
                    </a:solidFill>
                  </a:tcPr>
                </a:tc>
                <a:tc>
                  <a:txBody>
                    <a:bodyPr/>
                    <a:lstStyle/>
                    <a:p>
                      <a:pPr algn="l">
                        <a:spcAft>
                          <a:spcPts val="400"/>
                        </a:spcAft>
                      </a:pPr>
                      <a:r>
                        <a:rPr sz="1300" b="0">
                          <a:solidFill>
                            <a:srgbClr val="ECF1F8"/>
                          </a:solidFill>
                          <a:latin typeface="Calibri"/>
                        </a:rPr>
                        <a:t>Rooms, stroke log, snapshots</a:t>
                      </a:r>
                    </a:p>
                  </a:txBody>
                  <a:tcPr anchor="ctr" marL="64008" marR="64008">
                    <a:solidFill>
                      <a:srgbClr val="182236"/>
                    </a:solidFill>
                  </a:tcPr>
                </a:tc>
                <a:tc>
                  <a:txBody>
                    <a:bodyPr/>
                    <a:lstStyle/>
                    <a:p>
                      <a:pPr algn="l">
                        <a:spcAft>
                          <a:spcPts val="400"/>
                        </a:spcAft>
                      </a:pPr>
                      <a:r>
                        <a:rPr sz="1300" b="0">
                          <a:solidFill>
                            <a:srgbClr val="ECF1F8"/>
                          </a:solidFill>
                          <a:latin typeface="Calibri"/>
                        </a:rPr>
                        <a:t>Counters, Pub/Sub, presence</a:t>
                      </a:r>
                    </a:p>
                  </a:txBody>
                  <a:tcPr anchor="ctr" marL="64008" marR="64008">
                    <a:solidFill>
                      <a:srgbClr val="182236"/>
                    </a:solidFill>
                  </a:tcPr>
                </a:tc>
              </a:tr>
              <a:tr h="566928">
                <a:tc>
                  <a:txBody>
                    <a:bodyPr/>
                    <a:lstStyle/>
                    <a:p>
                      <a:pPr algn="l">
                        <a:spcAft>
                          <a:spcPts val="400"/>
                        </a:spcAft>
                      </a:pPr>
                      <a:r>
                        <a:rPr sz="1300" b="0">
                          <a:solidFill>
                            <a:srgbClr val="ECF1F8"/>
                          </a:solidFill>
                          <a:latin typeface="Calibri"/>
                        </a:rPr>
                        <a:t>Durability</a:t>
                      </a:r>
                    </a:p>
                  </a:txBody>
                  <a:tcPr anchor="ctr" marL="64008" marR="64008">
                    <a:solidFill>
                      <a:srgbClr val="141E30"/>
                    </a:solidFill>
                  </a:tcPr>
                </a:tc>
                <a:tc>
                  <a:txBody>
                    <a:bodyPr/>
                    <a:lstStyle/>
                    <a:p>
                      <a:pPr algn="l">
                        <a:spcAft>
                          <a:spcPts val="400"/>
                        </a:spcAft>
                      </a:pPr>
                      <a:r>
                        <a:rPr sz="1300" b="0">
                          <a:solidFill>
                            <a:srgbClr val="ECF1F8"/>
                          </a:solidFill>
                          <a:latin typeface="Calibri"/>
                        </a:rPr>
                        <a:t>System of record</a:t>
                      </a:r>
                    </a:p>
                  </a:txBody>
                  <a:tcPr anchor="ctr" marL="64008" marR="64008">
                    <a:solidFill>
                      <a:srgbClr val="141E30"/>
                    </a:solidFill>
                  </a:tcPr>
                </a:tc>
                <a:tc>
                  <a:txBody>
                    <a:bodyPr/>
                    <a:lstStyle/>
                    <a:p>
                      <a:pPr algn="l">
                        <a:spcAft>
                          <a:spcPts val="400"/>
                        </a:spcAft>
                      </a:pPr>
                      <a:r>
                        <a:rPr sz="1300" b="0">
                          <a:solidFill>
                            <a:srgbClr val="ECF1F8"/>
                          </a:solidFill>
                          <a:latin typeface="Calibri"/>
                        </a:rPr>
                        <a:t>Disposable cache</a:t>
                      </a:r>
                    </a:p>
                  </a:txBody>
                  <a:tcPr anchor="ctr" marL="64008" marR="64008">
                    <a:solidFill>
                      <a:srgbClr val="141E30"/>
                    </a:solidFill>
                  </a:tcPr>
                </a:tc>
              </a:tr>
              <a:tr h="566928">
                <a:tc>
                  <a:txBody>
                    <a:bodyPr/>
                    <a:lstStyle/>
                    <a:p>
                      <a:pPr algn="l">
                        <a:spcAft>
                          <a:spcPts val="400"/>
                        </a:spcAft>
                      </a:pPr>
                      <a:r>
                        <a:rPr sz="1300" b="0">
                          <a:solidFill>
                            <a:srgbClr val="ECF1F8"/>
                          </a:solidFill>
                          <a:latin typeface="Calibri"/>
                        </a:rPr>
                        <a:t>If it restarts</a:t>
                      </a:r>
                    </a:p>
                  </a:txBody>
                  <a:tcPr anchor="ctr" marL="64008" marR="64008">
                    <a:solidFill>
                      <a:srgbClr val="182236"/>
                    </a:solidFill>
                  </a:tcPr>
                </a:tc>
                <a:tc>
                  <a:txBody>
                    <a:bodyPr/>
                    <a:lstStyle/>
                    <a:p>
                      <a:pPr algn="l">
                        <a:spcAft>
                          <a:spcPts val="400"/>
                        </a:spcAft>
                      </a:pPr>
                      <a:r>
                        <a:rPr sz="1300" b="0">
                          <a:solidFill>
                            <a:srgbClr val="ECF1F8"/>
                          </a:solidFill>
                          <a:latin typeface="Calibri"/>
                        </a:rPr>
                        <a:t>Boards are gone — this is the data that matters</a:t>
                      </a:r>
                    </a:p>
                  </a:txBody>
                  <a:tcPr anchor="ctr" marL="64008" marR="64008">
                    <a:solidFill>
                      <a:srgbClr val="182236"/>
                    </a:solidFill>
                  </a:tcPr>
                </a:tc>
                <a:tc>
                  <a:txBody>
                    <a:bodyPr/>
                    <a:lstStyle/>
                    <a:p>
                      <a:pPr algn="l">
                        <a:spcAft>
                          <a:spcPts val="400"/>
                        </a:spcAft>
                      </a:pPr>
                      <a:r>
                        <a:rPr sz="1300" b="0">
                          <a:solidFill>
                            <a:srgbClr val="ECF1F8"/>
                          </a:solidFill>
                          <a:latin typeface="Calibri"/>
                        </a:rPr>
                        <a:t>Cursors vanish, presence rebuilds, counter realigns from Mongo. No drawing lost.</a:t>
                      </a:r>
                    </a:p>
                  </a:txBody>
                  <a:tcPr anchor="ctr" marL="64008" marR="64008">
                    <a:solidFill>
                      <a:srgbClr val="182236"/>
                    </a:solidFill>
                  </a:tcPr>
                </a:tc>
              </a:tr>
              <a:tr h="566928">
                <a:tc>
                  <a:txBody>
                    <a:bodyPr/>
                    <a:lstStyle/>
                    <a:p>
                      <a:pPr algn="l">
                        <a:spcAft>
                          <a:spcPts val="400"/>
                        </a:spcAft>
                      </a:pPr>
                      <a:r>
                        <a:rPr sz="1300" b="0">
                          <a:solidFill>
                            <a:srgbClr val="ECF1F8"/>
                          </a:solidFill>
                          <a:latin typeface="Calibri"/>
                        </a:rPr>
                        <a:t>Why not the other one</a:t>
                      </a:r>
                    </a:p>
                  </a:txBody>
                  <a:tcPr anchor="ctr" marL="64008" marR="64008">
                    <a:solidFill>
                      <a:srgbClr val="141E30"/>
                    </a:solidFill>
                  </a:tcPr>
                </a:tc>
                <a:tc>
                  <a:txBody>
                    <a:bodyPr/>
                    <a:lstStyle/>
                    <a:p>
                      <a:pPr algn="l">
                        <a:spcAft>
                          <a:spcPts val="400"/>
                        </a:spcAft>
                      </a:pPr>
                      <a:r>
                        <a:rPr sz="1300" b="0">
                          <a:solidFill>
                            <a:srgbClr val="ECF1F8"/>
                          </a:solidFill>
                          <a:latin typeface="Calibri"/>
                        </a:rPr>
                        <a:t>Cannot give an atomic cross-process counter cheaply</a:t>
                      </a:r>
                    </a:p>
                  </a:txBody>
                  <a:tcPr anchor="ctr" marL="64008" marR="64008">
                    <a:solidFill>
                      <a:srgbClr val="141E30"/>
                    </a:solidFill>
                  </a:tcPr>
                </a:tc>
                <a:tc>
                  <a:txBody>
                    <a:bodyPr/>
                    <a:lstStyle/>
                    <a:p>
                      <a:pPr algn="l">
                        <a:spcAft>
                          <a:spcPts val="400"/>
                        </a:spcAft>
                      </a:pPr>
                      <a:r>
                        <a:rPr sz="1300" b="0">
                          <a:solidFill>
                            <a:srgbClr val="ECF1F8"/>
                          </a:solidFill>
                          <a:latin typeface="Calibri"/>
                        </a:rPr>
                        <a:t>Cannot be trusted with the only copy of a board</a:t>
                      </a:r>
                    </a:p>
                  </a:txBody>
                  <a:tcPr anchor="ctr" marL="64008" marR="64008">
                    <a:solidFill>
                      <a:srgbClr val="141E30"/>
                    </a:solidFill>
                  </a:tcPr>
                </a:tc>
              </a:tr>
            </a:tbl>
          </a:graphicData>
        </a:graphic>
      </p:graphicFrame>
      <p:sp>
        <p:nvSpPr>
          <p:cNvPr id="7" name="TextBox 6"/>
          <p:cNvSpPr txBox="1"/>
          <p:nvPr/>
        </p:nvSpPr>
        <p:spPr>
          <a:xfrm>
            <a:off x="566928" y="4956048"/>
            <a:ext cx="11064240" cy="1005840"/>
          </a:xfrm>
          <a:prstGeom prst="rect">
            <a:avLst/>
          </a:prstGeom>
          <a:noFill/>
        </p:spPr>
        <p:txBody>
          <a:bodyPr wrap="square" anchor="t" lIns="0" rIns="0" tIns="0" bIns="0">
            <a:spAutoFit/>
          </a:bodyPr>
          <a:lstStyle/>
          <a:p>
            <a:pPr algn="l">
              <a:spcAft>
                <a:spcPts val="400"/>
              </a:spcAft>
            </a:pPr>
            <a:r>
              <a:rPr sz="1500" b="1">
                <a:solidFill>
                  <a:srgbClr val="ECF1F8"/>
                </a:solidFill>
                <a:latin typeface="Calibri"/>
              </a:rPr>
              <a:t>The division is by durability requirement, not convenience.</a:t>
            </a:r>
          </a:p>
          <a:p>
            <a:pPr algn="l">
              <a:lnSpc>
                <a:spcPct val="110000"/>
              </a:lnSpc>
              <a:spcAft>
                <a:spcPts val="400"/>
              </a:spcAft>
            </a:pPr>
            <a:r>
              <a:rPr sz="1350" b="0">
                <a:solidFill>
                  <a:srgbClr val="93A4BD"/>
                </a:solidFill>
                <a:latin typeface="Calibri"/>
              </a:rPr>
              <a:t>A cursor position that is stale within 16 ms is write amplification for no benefit, so it expires by TTL in Redis and is never written to disk.</a:t>
            </a:r>
          </a:p>
        </p:txBody>
      </p:sp>
      <p:sp>
        <p:nvSpPr>
          <p:cNvPr id="8" name="TextBox 7"/>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2.3 of the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SYSTEM DESIGN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Ordering: the subtlest part of the design</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627632"/>
          <a:ext cx="11064240" cy="1828800"/>
        </p:xfrm>
        <a:graphic>
          <a:graphicData uri="http://schemas.openxmlformats.org/drawingml/2006/table">
            <a:tbl>
              <a:tblPr firstRow="1" bandRow="1">
                <a:tableStyleId>{5C22544A-7EE6-4342-B048-85BDC9FD1C3A}</a:tableStyleId>
              </a:tblPr>
              <a:tblGrid>
                <a:gridCol w="2651760"/>
                <a:gridCol w="1463040"/>
                <a:gridCol w="6949440"/>
              </a:tblGrid>
              <a:tr h="457200">
                <a:tc>
                  <a:txBody>
                    <a:bodyPr/>
                    <a:lstStyle/>
                    <a:p>
                      <a:pPr algn="l">
                        <a:spcAft>
                          <a:spcPts val="400"/>
                        </a:spcAft>
                      </a:pPr>
                      <a:r>
                        <a:rPr sz="1350" b="1">
                          <a:solidFill>
                            <a:srgbClr val="4F9BF5"/>
                          </a:solidFill>
                          <a:latin typeface="Calibri"/>
                        </a:rPr>
                        <a:t>Candidate</a:t>
                      </a:r>
                    </a:p>
                  </a:txBody>
                  <a:tcPr anchor="ctr" marL="64008" marR="64008">
                    <a:solidFill>
                      <a:srgbClr val="22314A"/>
                    </a:solidFill>
                  </a:tcPr>
                </a:tc>
                <a:tc>
                  <a:txBody>
                    <a:bodyPr/>
                    <a:lstStyle/>
                    <a:p>
                      <a:pPr algn="l">
                        <a:spcAft>
                          <a:spcPts val="400"/>
                        </a:spcAft>
                      </a:pPr>
                      <a:r>
                        <a:rPr sz="1350" b="1">
                          <a:solidFill>
                            <a:srgbClr val="4F9BF5"/>
                          </a:solidFill>
                          <a:latin typeface="Calibri"/>
                        </a:rPr>
                        <a:t>Verdict</a:t>
                      </a:r>
                    </a:p>
                  </a:txBody>
                  <a:tcPr anchor="ctr" marL="64008" marR="64008">
                    <a:solidFill>
                      <a:srgbClr val="22314A"/>
                    </a:solidFill>
                  </a:tcPr>
                </a:tc>
                <a:tc>
                  <a:txBody>
                    <a:bodyPr/>
                    <a:lstStyle/>
                    <a:p>
                      <a:pPr algn="l">
                        <a:spcAft>
                          <a:spcPts val="400"/>
                        </a:spcAft>
                      </a:pPr>
                      <a:r>
                        <a:rPr sz="1350" b="1">
                          <a:solidFill>
                            <a:srgbClr val="4F9BF5"/>
                          </a:solidFill>
                          <a:latin typeface="Calibri"/>
                        </a:rPr>
                        <a:t>Why</a:t>
                      </a:r>
                    </a:p>
                  </a:txBody>
                  <a:tcPr anchor="ctr" marL="64008" marR="64008">
                    <a:solidFill>
                      <a:srgbClr val="22314A"/>
                    </a:solidFill>
                  </a:tcPr>
                </a:tc>
              </a:tr>
              <a:tr h="457200">
                <a:tc>
                  <a:txBody>
                    <a:bodyPr/>
                    <a:lstStyle/>
                    <a:p>
                      <a:pPr algn="l">
                        <a:spcAft>
                          <a:spcPts val="400"/>
                        </a:spcAft>
                      </a:pPr>
                      <a:r>
                        <a:rPr sz="1350" b="0">
                          <a:solidFill>
                            <a:srgbClr val="ECF1F8"/>
                          </a:solidFill>
                          <a:latin typeface="Calibri"/>
                        </a:rPr>
                        <a:t>Client timestamp</a:t>
                      </a:r>
                    </a:p>
                  </a:txBody>
                  <a:tcPr anchor="ctr" marL="64008" marR="64008">
                    <a:solidFill>
                      <a:srgbClr val="182236"/>
                    </a:solidFill>
                  </a:tcPr>
                </a:tc>
                <a:tc>
                  <a:txBody>
                    <a:bodyPr/>
                    <a:lstStyle/>
                    <a:p>
                      <a:pPr algn="l">
                        <a:spcAft>
                          <a:spcPts val="400"/>
                        </a:spcAft>
                      </a:pPr>
                      <a:r>
                        <a:rPr sz="1350" b="0">
                          <a:solidFill>
                            <a:srgbClr val="ECF1F8"/>
                          </a:solidFill>
                          <a:latin typeface="Calibri"/>
                        </a:rPr>
                        <a:t>Rejected</a:t>
                      </a:r>
                    </a:p>
                  </a:txBody>
                  <a:tcPr anchor="ctr" marL="64008" marR="64008">
                    <a:solidFill>
                      <a:srgbClr val="182236"/>
                    </a:solidFill>
                  </a:tcPr>
                </a:tc>
                <a:tc>
                  <a:txBody>
                    <a:bodyPr/>
                    <a:lstStyle/>
                    <a:p>
                      <a:pPr algn="l">
                        <a:spcAft>
                          <a:spcPts val="400"/>
                        </a:spcAft>
                      </a:pPr>
                      <a:r>
                        <a:rPr sz="1350" b="0">
                          <a:solidFill>
                            <a:srgbClr val="ECF1F8"/>
                          </a:solidFill>
                          <a:latin typeface="Calibri"/>
                        </a:rPr>
                        <a:t>Participants' clocks disagree, sometimes by seconds</a:t>
                      </a:r>
                    </a:p>
                  </a:txBody>
                  <a:tcPr anchor="ctr" marL="64008" marR="64008">
                    <a:solidFill>
                      <a:srgbClr val="182236"/>
                    </a:solidFill>
                  </a:tcPr>
                </a:tc>
              </a:tr>
              <a:tr h="457200">
                <a:tc>
                  <a:txBody>
                    <a:bodyPr/>
                    <a:lstStyle/>
                    <a:p>
                      <a:pPr algn="l">
                        <a:spcAft>
                          <a:spcPts val="400"/>
                        </a:spcAft>
                      </a:pPr>
                      <a:r>
                        <a:rPr sz="1350" b="0">
                          <a:solidFill>
                            <a:srgbClr val="ECF1F8"/>
                          </a:solidFill>
                          <a:latin typeface="Calibri"/>
                        </a:rPr>
                        <a:t>ObjectId timestamp</a:t>
                      </a:r>
                    </a:p>
                  </a:txBody>
                  <a:tcPr anchor="ctr" marL="64008" marR="64008">
                    <a:solidFill>
                      <a:srgbClr val="141E30"/>
                    </a:solidFill>
                  </a:tcPr>
                </a:tc>
                <a:tc>
                  <a:txBody>
                    <a:bodyPr/>
                    <a:lstStyle/>
                    <a:p>
                      <a:pPr algn="l">
                        <a:spcAft>
                          <a:spcPts val="400"/>
                        </a:spcAft>
                      </a:pPr>
                      <a:r>
                        <a:rPr sz="1350" b="0">
                          <a:solidFill>
                            <a:srgbClr val="ECF1F8"/>
                          </a:solidFill>
                          <a:latin typeface="Calibri"/>
                        </a:rPr>
                        <a:t>Rejected</a:t>
                      </a:r>
                    </a:p>
                  </a:txBody>
                  <a:tcPr anchor="ctr" marL="64008" marR="64008">
                    <a:solidFill>
                      <a:srgbClr val="141E30"/>
                    </a:solidFill>
                  </a:tcPr>
                </a:tc>
                <a:tc>
                  <a:txBody>
                    <a:bodyPr/>
                    <a:lstStyle/>
                    <a:p>
                      <a:pPr algn="l">
                        <a:spcAft>
                          <a:spcPts val="400"/>
                        </a:spcAft>
                      </a:pPr>
                      <a:r>
                        <a:rPr sz="1350" b="0">
                          <a:solidFill>
                            <a:srgbClr val="ECF1F8"/>
                          </a:solidFill>
                          <a:latin typeface="Calibri"/>
                        </a:rPr>
                        <a:t>One-second granularity: two strokes 40 ms apart order arbitrarily</a:t>
                      </a:r>
                    </a:p>
                  </a:txBody>
                  <a:tcPr anchor="ctr" marL="64008" marR="64008">
                    <a:solidFill>
                      <a:srgbClr val="141E30"/>
                    </a:solidFill>
                  </a:tcPr>
                </a:tc>
              </a:tr>
              <a:tr h="457200">
                <a:tc>
                  <a:txBody>
                    <a:bodyPr/>
                    <a:lstStyle/>
                    <a:p>
                      <a:pPr algn="l">
                        <a:spcAft>
                          <a:spcPts val="400"/>
                        </a:spcAft>
                      </a:pPr>
                      <a:r>
                        <a:rPr sz="1350" b="0">
                          <a:solidFill>
                            <a:srgbClr val="ECF1F8"/>
                          </a:solidFill>
                          <a:latin typeface="Calibri"/>
                        </a:rPr>
                        <a:t>Redis INCR per room</a:t>
                      </a:r>
                    </a:p>
                  </a:txBody>
                  <a:tcPr anchor="ctr" marL="64008" marR="64008">
                    <a:solidFill>
                      <a:srgbClr val="182236"/>
                    </a:solidFill>
                  </a:tcPr>
                </a:tc>
                <a:tc>
                  <a:txBody>
                    <a:bodyPr/>
                    <a:lstStyle/>
                    <a:p>
                      <a:pPr algn="l">
                        <a:spcAft>
                          <a:spcPts val="400"/>
                        </a:spcAft>
                      </a:pPr>
                      <a:r>
                        <a:rPr sz="1350" b="0">
                          <a:solidFill>
                            <a:srgbClr val="ECF1F8"/>
                          </a:solidFill>
                          <a:latin typeface="Calibri"/>
                        </a:rPr>
                        <a:t>Chosen</a:t>
                      </a:r>
                    </a:p>
                  </a:txBody>
                  <a:tcPr anchor="ctr" marL="64008" marR="64008">
                    <a:solidFill>
                      <a:srgbClr val="182236"/>
                    </a:solidFill>
                  </a:tcPr>
                </a:tc>
                <a:tc>
                  <a:txBody>
                    <a:bodyPr/>
                    <a:lstStyle/>
                    <a:p>
                      <a:pPr algn="l">
                        <a:spcAft>
                          <a:spcPts val="400"/>
                        </a:spcAft>
                      </a:pPr>
                      <a:r>
                        <a:rPr sz="1350" b="0">
                          <a:solidFill>
                            <a:srgbClr val="ECF1F8"/>
                          </a:solidFill>
                          <a:latin typeface="Calibri"/>
                        </a:rPr>
                        <a:t>Atomic across every instance, so the order is total and reproducible</a:t>
                      </a:r>
                    </a:p>
                  </a:txBody>
                  <a:tcPr anchor="ctr" marL="64008" marR="64008">
                    <a:solidFill>
                      <a:srgbClr val="182236"/>
                    </a:solidFill>
                  </a:tcPr>
                </a:tc>
              </a:tr>
            </a:tbl>
          </a:graphicData>
        </a:graphic>
      </p:graphicFrame>
      <p:sp>
        <p:nvSpPr>
          <p:cNvPr id="7" name="Rounded Rectangle 6"/>
          <p:cNvSpPr/>
          <p:nvPr/>
        </p:nvSpPr>
        <p:spPr>
          <a:xfrm>
            <a:off x="566928" y="3246120"/>
            <a:ext cx="5577840" cy="2331720"/>
          </a:xfrm>
          <a:prstGeom prst="roundRect">
            <a:avLst>
              <a:gd name="adj" fmla="val 4000"/>
            </a:avLst>
          </a:prstGeom>
          <a:solidFill>
            <a:srgbClr val="101828"/>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364991"/>
            <a:ext cx="5212079" cy="237744"/>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app/repositories/strokes.py</a:t>
            </a:r>
          </a:p>
        </p:txBody>
      </p:sp>
      <p:sp>
        <p:nvSpPr>
          <p:cNvPr id="9" name="TextBox 8"/>
          <p:cNvSpPr txBox="1"/>
          <p:nvPr/>
        </p:nvSpPr>
        <p:spPr>
          <a:xfrm>
            <a:off x="749808" y="3657599"/>
            <a:ext cx="5212079" cy="1783080"/>
          </a:xfrm>
          <a:prstGeom prst="rect">
            <a:avLst/>
          </a:prstGeom>
          <a:noFill/>
        </p:spPr>
        <p:txBody>
          <a:bodyPr wrap="square" anchor="t" lIns="0" rIns="0" tIns="0" bIns="0">
            <a:spAutoFit/>
          </a:bodyPr>
          <a:lstStyle/>
          <a:p>
            <a:pPr algn="l">
              <a:lnSpc>
                <a:spcPct val="102000"/>
              </a:lnSpc>
              <a:spcAft>
                <a:spcPts val="0"/>
              </a:spcAft>
            </a:pPr>
            <a:r>
              <a:rPr sz="1100" b="0">
                <a:solidFill>
                  <a:srgbClr val="ECF1F8"/>
                </a:solidFill>
                <a:latin typeface="Consolas"/>
              </a:rPr>
              <a:t>seq = await r().incr(f"room:{room_id}:seq")</a:t>
            </a:r>
          </a:p>
          <a:p>
            <a:pPr algn="l">
              <a:lnSpc>
                <a:spcPct val="102000"/>
              </a:lnSpc>
              <a:spcAft>
                <a:spcPts val="0"/>
              </a:spcAft>
            </a:pPr>
            <a:r>
              <a:rPr sz="1100" b="0">
                <a:solidFill>
                  <a:srgbClr val="ECF1F8"/>
                </a:solidFill>
                <a:latin typeface="Consolas"/>
              </a:rPr>
              <a:t># Redis is a cache, not the record, so a restart must not</a:t>
            </a:r>
          </a:p>
          <a:p>
            <a:pPr algn="l">
              <a:lnSpc>
                <a:spcPct val="102000"/>
              </a:lnSpc>
              <a:spcAft>
                <a:spcPts val="0"/>
              </a:spcAft>
            </a:pPr>
            <a:r>
              <a:rPr sz="1100" b="0">
                <a:solidFill>
                  <a:srgbClr val="ECF1F8"/>
                </a:solidFill>
                <a:latin typeface="Consolas"/>
              </a:rPr>
              <a:t># collide: realign upward from the highest persisted seq.</a:t>
            </a:r>
          </a:p>
          <a:p>
            <a:pPr algn="l">
              <a:lnSpc>
                <a:spcPct val="102000"/>
              </a:lnSpc>
              <a:spcAft>
                <a:spcPts val="0"/>
              </a:spcAft>
            </a:pPr>
            <a:r>
              <a:rPr sz="1100" b="0">
                <a:solidFill>
                  <a:srgbClr val="ECF1F8"/>
                </a:solidFill>
                <a:latin typeface="Consolas"/>
              </a:rPr>
              <a:t>highest = await db()[STROKES].find_one(</a:t>
            </a:r>
          </a:p>
          <a:p>
            <a:pPr algn="l">
              <a:lnSpc>
                <a:spcPct val="102000"/>
              </a:lnSpc>
              <a:spcAft>
                <a:spcPts val="0"/>
              </a:spcAft>
            </a:pPr>
            <a:r>
              <a:rPr sz="1100" b="0">
                <a:solidFill>
                  <a:srgbClr val="ECF1F8"/>
                </a:solidFill>
                <a:latin typeface="Consolas"/>
              </a:rPr>
              <a:t>    {"roomId": room_id}, sort=[("seq", -1)], projection={"seq": 1})</a:t>
            </a:r>
          </a:p>
        </p:txBody>
      </p:sp>
      <p:sp>
        <p:nvSpPr>
          <p:cNvPr id="10" name="TextBox 9"/>
          <p:cNvSpPr txBox="1"/>
          <p:nvPr/>
        </p:nvSpPr>
        <p:spPr>
          <a:xfrm>
            <a:off x="6446520" y="3383280"/>
            <a:ext cx="5166360" cy="274320"/>
          </a:xfrm>
          <a:prstGeom prst="rect">
            <a:avLst/>
          </a:prstGeom>
          <a:noFill/>
        </p:spPr>
        <p:txBody>
          <a:bodyPr wrap="square" anchor="t" lIns="0" rIns="0" tIns="0" bIns="0">
            <a:spAutoFit/>
          </a:bodyPr>
          <a:lstStyle/>
          <a:p>
            <a:pPr>
              <a:lnSpc>
                <a:spcPct val="104000"/>
              </a:lnSpc>
            </a:pPr>
            <a:r>
              <a:rPr sz="1350" b="1">
                <a:solidFill>
                  <a:srgbClr val="ECF1F8"/>
                </a:solidFill>
                <a:latin typeface="Calibri"/>
              </a:rPr>
              <a:t>Why it matters: </a:t>
            </a:r>
            <a:r>
              <a:rPr sz="1350" b="0">
                <a:solidFill>
                  <a:srgbClr val="93A4BD"/>
                </a:solidFill>
                <a:latin typeface="Calibri"/>
              </a:rPr>
              <a:t>replay only rebuilds the right picture in the right order.</a:t>
            </a:r>
          </a:p>
        </p:txBody>
      </p:sp>
      <p:sp>
        <p:nvSpPr>
          <p:cNvPr id="11" name="TextBox 10"/>
          <p:cNvSpPr txBox="1"/>
          <p:nvPr/>
        </p:nvSpPr>
        <p:spPr>
          <a:xfrm>
            <a:off x="6446520" y="3950208"/>
            <a:ext cx="5166360" cy="274320"/>
          </a:xfrm>
          <a:prstGeom prst="rect">
            <a:avLst/>
          </a:prstGeom>
          <a:noFill/>
        </p:spPr>
        <p:txBody>
          <a:bodyPr wrap="square" anchor="t" lIns="0" rIns="0" tIns="0" bIns="0">
            <a:spAutoFit/>
          </a:bodyPr>
          <a:lstStyle/>
          <a:p>
            <a:pPr>
              <a:lnSpc>
                <a:spcPct val="104000"/>
              </a:lnSpc>
            </a:pPr>
            <a:r>
              <a:rPr sz="1350" b="1">
                <a:solidFill>
                  <a:srgbClr val="ECF1F8"/>
                </a:solidFill>
                <a:latin typeface="Calibri"/>
              </a:rPr>
              <a:t>Failure mode avoided: </a:t>
            </a:r>
            <a:r>
              <a:rPr sz="1350" b="0">
                <a:solidFill>
                  <a:srgbClr val="93A4BD"/>
                </a:solidFill>
                <a:latin typeface="Calibri"/>
              </a:rPr>
              <a:t>an intermittent mis-ordering that is very easy to miss in testing.</a:t>
            </a:r>
          </a:p>
        </p:txBody>
      </p:sp>
      <p:sp>
        <p:nvSpPr>
          <p:cNvPr id="12" name="TextBox 11"/>
          <p:cNvSpPr txBox="1"/>
          <p:nvPr/>
        </p:nvSpPr>
        <p:spPr>
          <a:xfrm>
            <a:off x="6446520" y="4754880"/>
            <a:ext cx="5166360" cy="274320"/>
          </a:xfrm>
          <a:prstGeom prst="rect">
            <a:avLst/>
          </a:prstGeom>
          <a:noFill/>
        </p:spPr>
        <p:txBody>
          <a:bodyPr wrap="square" anchor="t" lIns="0" rIns="0" tIns="0" bIns="0">
            <a:spAutoFit/>
          </a:bodyPr>
          <a:lstStyle/>
          <a:p>
            <a:pPr>
              <a:lnSpc>
                <a:spcPct val="104000"/>
              </a:lnSpc>
            </a:pPr>
            <a:r>
              <a:rPr sz="1350" b="1">
                <a:solidFill>
                  <a:srgbClr val="ECF1F8"/>
                </a:solidFill>
                <a:latin typeface="Calibri"/>
              </a:rPr>
              <a:t>Second reason for Redis. </a:t>
            </a:r>
            <a:r>
              <a:rPr sz="1350" b="0">
                <a:solidFill>
                  <a:srgbClr val="93A4BD"/>
                </a:solidFill>
                <a:latin typeface="Calibri"/>
              </a:rPr>
              <a:t>Ordering, not just fanout, is why it is in the stack.</a:t>
            </a:r>
          </a:p>
        </p:txBody>
      </p:sp>
      <p:sp>
        <p:nvSpPr>
          <p:cNvPr id="13" name="TextBox 12"/>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2.4 of the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SYSTEM DESIGN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The write path, and the duplicate-stroke trap</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rite-path.png"/>
          <p:cNvPicPr>
            <a:picLocks noChangeAspect="1"/>
          </p:cNvPicPr>
          <p:nvPr/>
        </p:nvPicPr>
        <p:blipFill>
          <a:blip r:embed="rId2"/>
          <a:stretch>
            <a:fillRect/>
          </a:stretch>
        </p:blipFill>
        <p:spPr>
          <a:xfrm>
            <a:off x="566928" y="1600200"/>
            <a:ext cx="6035040" cy="2877362"/>
          </a:xfrm>
          <a:prstGeom prst="rect">
            <a:avLst/>
          </a:prstGeom>
          <a:ln w="12700">
            <a:solidFill>
              <a:srgbClr val="2A3A55"/>
            </a:solidFill>
          </a:ln>
        </p:spPr>
      </p:pic>
      <p:sp>
        <p:nvSpPr>
          <p:cNvPr id="7" name="TextBox 6"/>
          <p:cNvSpPr txBox="1"/>
          <p:nvPr/>
        </p:nvSpPr>
        <p:spPr>
          <a:xfrm>
            <a:off x="6949440" y="1664208"/>
            <a:ext cx="4681728" cy="365760"/>
          </a:xfrm>
          <a:prstGeom prst="rect">
            <a:avLst/>
          </a:prstGeom>
          <a:noFill/>
        </p:spPr>
        <p:txBody>
          <a:bodyPr wrap="square" anchor="t" lIns="0" rIns="0" tIns="0" bIns="0">
            <a:spAutoFit/>
          </a:bodyPr>
          <a:lstStyle/>
          <a:p>
            <a:pPr algn="l">
              <a:spcAft>
                <a:spcPts val="400"/>
              </a:spcAft>
            </a:pPr>
            <a:r>
              <a:rPr sz="1700" b="1">
                <a:solidFill>
                  <a:srgbClr val="F5A524"/>
                </a:solidFill>
                <a:latin typeface="Calibri"/>
              </a:rPr>
              <a:t>Exactly one delivery path</a:t>
            </a:r>
          </a:p>
        </p:txBody>
      </p:sp>
      <p:sp>
        <p:nvSpPr>
          <p:cNvPr id="8" name="TextBox 7"/>
          <p:cNvSpPr txBox="1"/>
          <p:nvPr/>
        </p:nvSpPr>
        <p:spPr>
          <a:xfrm>
            <a:off x="6949440" y="2103120"/>
            <a:ext cx="4681728" cy="274320"/>
          </a:xfrm>
          <a:prstGeom prst="rect">
            <a:avLst/>
          </a:prstGeom>
          <a:noFill/>
        </p:spPr>
        <p:txBody>
          <a:bodyPr wrap="square" anchor="t" lIns="0" rIns="0" tIns="0" bIns="0">
            <a:spAutoFit/>
          </a:bodyPr>
          <a:lstStyle/>
          <a:p>
            <a:pPr>
              <a:lnSpc>
                <a:spcPct val="104000"/>
              </a:lnSpc>
            </a:pPr>
            <a:r>
              <a:rPr sz="1300" b="1">
                <a:solidFill>
                  <a:srgbClr val="ECF1F8"/>
                </a:solidFill>
                <a:latin typeface="Calibri"/>
              </a:rPr>
              <a:t>The obvious version is wrong. </a:t>
            </a:r>
            <a:r>
              <a:rPr sz="1300" b="0">
                <a:solidFill>
                  <a:srgbClr val="93A4BD"/>
                </a:solidFill>
                <a:latin typeface="Calibri"/>
              </a:rPr>
              <a:t>Send to local clients and also publish to Redis, and the publisher — which is subscribed — renders the stroke twice.</a:t>
            </a:r>
          </a:p>
        </p:txBody>
      </p:sp>
      <p:sp>
        <p:nvSpPr>
          <p:cNvPr id="9" name="TextBox 8"/>
          <p:cNvSpPr txBox="1"/>
          <p:nvPr/>
        </p:nvSpPr>
        <p:spPr>
          <a:xfrm>
            <a:off x="6949440" y="3145536"/>
            <a:ext cx="4681728" cy="274320"/>
          </a:xfrm>
          <a:prstGeom prst="rect">
            <a:avLst/>
          </a:prstGeom>
          <a:noFill/>
        </p:spPr>
        <p:txBody>
          <a:bodyPr wrap="square" anchor="t" lIns="0" rIns="0" tIns="0" bIns="0">
            <a:spAutoFit/>
          </a:bodyPr>
          <a:lstStyle/>
          <a:p>
            <a:pPr>
              <a:lnSpc>
                <a:spcPct val="104000"/>
              </a:lnSpc>
            </a:pPr>
            <a:r>
              <a:rPr sz="1300" b="1">
                <a:solidFill>
                  <a:srgbClr val="ECF1F8"/>
                </a:solidFill>
                <a:latin typeface="Calibri"/>
              </a:rPr>
              <a:t>Invisible on an opaque pen. </a:t>
            </a:r>
            <a:r>
              <a:rPr sz="1300" b="0">
                <a:solidFill>
                  <a:srgbClr val="93A4BD"/>
                </a:solidFill>
                <a:latin typeface="Calibri"/>
              </a:rPr>
              <a:t>Obvious with a transparent stroke or an eraser, and easily misread as a rendering bug.</a:t>
            </a:r>
          </a:p>
        </p:txBody>
      </p:sp>
      <p:sp>
        <p:nvSpPr>
          <p:cNvPr id="10" name="TextBox 9"/>
          <p:cNvSpPr txBox="1"/>
          <p:nvPr/>
        </p:nvSpPr>
        <p:spPr>
          <a:xfrm>
            <a:off x="6949440" y="4187952"/>
            <a:ext cx="4681728" cy="274320"/>
          </a:xfrm>
          <a:prstGeom prst="rect">
            <a:avLst/>
          </a:prstGeom>
          <a:noFill/>
        </p:spPr>
        <p:txBody>
          <a:bodyPr wrap="square" anchor="t" lIns="0" rIns="0" tIns="0" bIns="0">
            <a:spAutoFit/>
          </a:bodyPr>
          <a:lstStyle/>
          <a:p>
            <a:pPr>
              <a:lnSpc>
                <a:spcPct val="104000"/>
              </a:lnSpc>
            </a:pPr>
            <a:r>
              <a:rPr sz="1300" b="1">
                <a:solidFill>
                  <a:srgbClr val="ECF1F8"/>
                </a:solidFill>
                <a:latin typeface="Calibri"/>
              </a:rPr>
              <a:t>So handlers never write </a:t>
            </a:r>
            <a:r>
              <a:rPr sz="1300" b="0">
                <a:solidFill>
                  <a:srgbClr val="93A4BD"/>
                </a:solidFill>
                <a:latin typeface="Calibri"/>
              </a:rPr>
              <a:t>to their own sockets. Every instance, publisher included, delivers from its subscription.</a:t>
            </a:r>
          </a:p>
        </p:txBody>
      </p:sp>
      <p:sp>
        <p:nvSpPr>
          <p:cNvPr id="11" name="TextBox 10"/>
          <p:cNvSpPr txBox="1"/>
          <p:nvPr/>
        </p:nvSpPr>
        <p:spPr>
          <a:xfrm>
            <a:off x="6949440" y="4992624"/>
            <a:ext cx="4681728" cy="274320"/>
          </a:xfrm>
          <a:prstGeom prst="rect">
            <a:avLst/>
          </a:prstGeom>
          <a:noFill/>
        </p:spPr>
        <p:txBody>
          <a:bodyPr wrap="square" anchor="t" lIns="0" rIns="0" tIns="0" bIns="0">
            <a:spAutoFit/>
          </a:bodyPr>
          <a:lstStyle/>
          <a:p>
            <a:pPr>
              <a:lnSpc>
                <a:spcPct val="104000"/>
              </a:lnSpc>
            </a:pPr>
            <a:r>
              <a:rPr sz="1300" b="1">
                <a:solidFill>
                  <a:srgbClr val="ECF1F8"/>
                </a:solidFill>
                <a:latin typeface="Calibri"/>
              </a:rPr>
              <a:t>The author is excluded </a:t>
            </a:r>
            <a:r>
              <a:rPr sz="1300" b="0">
                <a:solidFill>
                  <a:srgbClr val="93A4BD"/>
                </a:solidFill>
                <a:latin typeface="Calibri"/>
              </a:rPr>
              <a:t>by an id carried inside the published message, so it works whichever instance holds that socket.</a:t>
            </a:r>
          </a:p>
        </p:txBody>
      </p:sp>
      <p:sp>
        <p:nvSpPr>
          <p:cNvPr id="12" name="TextBox 11"/>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2.7 of the report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DATABASE IMPLEMENTATION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Three collections, measured</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627632"/>
          <a:ext cx="11064240" cy="1901952"/>
        </p:xfrm>
        <a:graphic>
          <a:graphicData uri="http://schemas.openxmlformats.org/drawingml/2006/table">
            <a:tbl>
              <a:tblPr firstRow="1" bandRow="1">
                <a:tableStyleId>{5C22544A-7EE6-4342-B048-85BDC9FD1C3A}</a:tableStyleId>
              </a:tblPr>
              <a:tblGrid>
                <a:gridCol w="1554480"/>
                <a:gridCol w="4937760"/>
                <a:gridCol w="1554480"/>
                <a:gridCol w="1508760"/>
                <a:gridCol w="1508760"/>
              </a:tblGrid>
              <a:tr h="475488">
                <a:tc>
                  <a:txBody>
                    <a:bodyPr/>
                    <a:lstStyle/>
                    <a:p>
                      <a:pPr algn="l">
                        <a:spcAft>
                          <a:spcPts val="400"/>
                        </a:spcAft>
                      </a:pPr>
                      <a:r>
                        <a:rPr sz="1300" b="1">
                          <a:solidFill>
                            <a:srgbClr val="4F9BF5"/>
                          </a:solidFill>
                          <a:latin typeface="Calibri"/>
                        </a:rPr>
                        <a:t>Collection</a:t>
                      </a:r>
                    </a:p>
                  </a:txBody>
                  <a:tcPr anchor="ctr" marL="64008" marR="64008">
                    <a:solidFill>
                      <a:srgbClr val="22314A"/>
                    </a:solidFill>
                  </a:tcPr>
                </a:tc>
                <a:tc>
                  <a:txBody>
                    <a:bodyPr/>
                    <a:lstStyle/>
                    <a:p>
                      <a:pPr algn="l">
                        <a:spcAft>
                          <a:spcPts val="400"/>
                        </a:spcAft>
                      </a:pPr>
                      <a:r>
                        <a:rPr sz="1300" b="1">
                          <a:solidFill>
                            <a:srgbClr val="4F9BF5"/>
                          </a:solidFill>
                          <a:latin typeface="Calibri"/>
                        </a:rPr>
                        <a:t>Holds</a:t>
                      </a:r>
                    </a:p>
                  </a:txBody>
                  <a:tcPr anchor="ctr" marL="64008" marR="64008">
                    <a:solidFill>
                      <a:srgbClr val="22314A"/>
                    </a:solidFill>
                  </a:tcPr>
                </a:tc>
                <a:tc>
                  <a:txBody>
                    <a:bodyPr/>
                    <a:lstStyle/>
                    <a:p>
                      <a:pPr algn="l">
                        <a:spcAft>
                          <a:spcPts val="400"/>
                        </a:spcAft>
                      </a:pPr>
                      <a:r>
                        <a:rPr sz="1300" b="1">
                          <a:solidFill>
                            <a:srgbClr val="4F9BF5"/>
                          </a:solidFill>
                          <a:latin typeface="Calibri"/>
                        </a:rPr>
                        <a:t>Documents</a:t>
                      </a:r>
                    </a:p>
                  </a:txBody>
                  <a:tcPr anchor="ctr" marL="64008" marR="64008">
                    <a:solidFill>
                      <a:srgbClr val="22314A"/>
                    </a:solidFill>
                  </a:tcPr>
                </a:tc>
                <a:tc>
                  <a:txBody>
                    <a:bodyPr/>
                    <a:lstStyle/>
                    <a:p>
                      <a:pPr algn="l">
                        <a:spcAft>
                          <a:spcPts val="400"/>
                        </a:spcAft>
                      </a:pPr>
                      <a:r>
                        <a:rPr sz="1300" b="1">
                          <a:solidFill>
                            <a:srgbClr val="4F9BF5"/>
                          </a:solidFill>
                          <a:latin typeface="Calibri"/>
                        </a:rPr>
                        <a:t>Data</a:t>
                      </a:r>
                    </a:p>
                  </a:txBody>
                  <a:tcPr anchor="ctr" marL="64008" marR="64008">
                    <a:solidFill>
                      <a:srgbClr val="22314A"/>
                    </a:solidFill>
                  </a:tcPr>
                </a:tc>
                <a:tc>
                  <a:txBody>
                    <a:bodyPr/>
                    <a:lstStyle/>
                    <a:p>
                      <a:pPr algn="l">
                        <a:spcAft>
                          <a:spcPts val="400"/>
                        </a:spcAft>
                      </a:pPr>
                      <a:r>
                        <a:rPr sz="1300" b="1">
                          <a:solidFill>
                            <a:srgbClr val="4F9BF5"/>
                          </a:solidFill>
                          <a:latin typeface="Calibri"/>
                        </a:rPr>
                        <a:t>Indexes</a:t>
                      </a:r>
                    </a:p>
                  </a:txBody>
                  <a:tcPr anchor="ctr" marL="64008" marR="64008">
                    <a:solidFill>
                      <a:srgbClr val="22314A"/>
                    </a:solidFill>
                  </a:tcPr>
                </a:tc>
              </a:tr>
              <a:tr h="475488">
                <a:tc>
                  <a:txBody>
                    <a:bodyPr/>
                    <a:lstStyle/>
                    <a:p>
                      <a:pPr algn="l">
                        <a:spcAft>
                          <a:spcPts val="400"/>
                        </a:spcAft>
                      </a:pPr>
                      <a:r>
                        <a:rPr sz="1300" b="0">
                          <a:solidFill>
                            <a:srgbClr val="ECF1F8"/>
                          </a:solidFill>
                          <a:latin typeface="Calibri"/>
                        </a:rPr>
                        <a:t>rooms</a:t>
                      </a:r>
                    </a:p>
                  </a:txBody>
                  <a:tcPr anchor="ctr" marL="64008" marR="64008">
                    <a:solidFill>
                      <a:srgbClr val="182236"/>
                    </a:solidFill>
                  </a:tcPr>
                </a:tc>
                <a:tc>
                  <a:txBody>
                    <a:bodyPr/>
                    <a:lstStyle/>
                    <a:p>
                      <a:pPr algn="l">
                        <a:spcAft>
                          <a:spcPts val="400"/>
                        </a:spcAft>
                      </a:pPr>
                      <a:r>
                        <a:rPr sz="1300" b="0">
                          <a:solidFill>
                            <a:srgbClr val="ECF1F8"/>
                          </a:solidFill>
                          <a:latin typeface="Calibri"/>
                        </a:rPr>
                        <a:t>One document per board, participants embedded</a:t>
                      </a:r>
                    </a:p>
                  </a:txBody>
                  <a:tcPr anchor="ctr" marL="64008" marR="64008">
                    <a:solidFill>
                      <a:srgbClr val="182236"/>
                    </a:solidFill>
                  </a:tcPr>
                </a:tc>
                <a:tc>
                  <a:txBody>
                    <a:bodyPr/>
                    <a:lstStyle/>
                    <a:p>
                      <a:pPr algn="l">
                        <a:spcAft>
                          <a:spcPts val="400"/>
                        </a:spcAft>
                      </a:pPr>
                      <a:r>
                        <a:rPr sz="1300" b="0">
                          <a:solidFill>
                            <a:srgbClr val="ECF1F8"/>
                          </a:solidFill>
                          <a:latin typeface="Calibri"/>
                        </a:rPr>
                        <a:t>8</a:t>
                      </a:r>
                    </a:p>
                  </a:txBody>
                  <a:tcPr anchor="ctr" marL="64008" marR="64008">
                    <a:solidFill>
                      <a:srgbClr val="182236"/>
                    </a:solidFill>
                  </a:tcPr>
                </a:tc>
                <a:tc>
                  <a:txBody>
                    <a:bodyPr/>
                    <a:lstStyle/>
                    <a:p>
                      <a:pPr algn="l">
                        <a:spcAft>
                          <a:spcPts val="400"/>
                        </a:spcAft>
                      </a:pPr>
                      <a:r>
                        <a:rPr sz="1300" b="0">
                          <a:solidFill>
                            <a:srgbClr val="ECF1F8"/>
                          </a:solidFill>
                          <a:latin typeface="Calibri"/>
                        </a:rPr>
                        <a:t>0.00 MB</a:t>
                      </a:r>
                    </a:p>
                  </a:txBody>
                  <a:tcPr anchor="ctr" marL="64008" marR="64008">
                    <a:solidFill>
                      <a:srgbClr val="182236"/>
                    </a:solidFill>
                  </a:tcPr>
                </a:tc>
                <a:tc>
                  <a:txBody>
                    <a:bodyPr/>
                    <a:lstStyle/>
                    <a:p>
                      <a:pPr algn="l">
                        <a:spcAft>
                          <a:spcPts val="400"/>
                        </a:spcAft>
                      </a:pPr>
                      <a:r>
                        <a:rPr sz="1300" b="0">
                          <a:solidFill>
                            <a:srgbClr val="ECF1F8"/>
                          </a:solidFill>
                          <a:latin typeface="Calibri"/>
                        </a:rPr>
                        <a:t>0.11 MB</a:t>
                      </a:r>
                    </a:p>
                  </a:txBody>
                  <a:tcPr anchor="ctr" marL="64008" marR="64008">
                    <a:solidFill>
                      <a:srgbClr val="182236"/>
                    </a:solidFill>
                  </a:tcPr>
                </a:tc>
              </a:tr>
              <a:tr h="475488">
                <a:tc>
                  <a:txBody>
                    <a:bodyPr/>
                    <a:lstStyle/>
                    <a:p>
                      <a:pPr algn="l">
                        <a:spcAft>
                          <a:spcPts val="400"/>
                        </a:spcAft>
                      </a:pPr>
                      <a:r>
                        <a:rPr sz="1300" b="0">
                          <a:solidFill>
                            <a:srgbClr val="ECF1F8"/>
                          </a:solidFill>
                          <a:latin typeface="Calibri"/>
                        </a:rPr>
                        <a:t>strokes</a:t>
                      </a:r>
                    </a:p>
                  </a:txBody>
                  <a:tcPr anchor="ctr" marL="64008" marR="64008">
                    <a:solidFill>
                      <a:srgbClr val="141E30"/>
                    </a:solidFill>
                  </a:tcPr>
                </a:tc>
                <a:tc>
                  <a:txBody>
                    <a:bodyPr/>
                    <a:lstStyle/>
                    <a:p>
                      <a:pPr algn="l">
                        <a:spcAft>
                          <a:spcPts val="400"/>
                        </a:spcAft>
                      </a:pPr>
                      <a:r>
                        <a:rPr sz="1300" b="0">
                          <a:solidFill>
                            <a:srgbClr val="ECF1F8"/>
                          </a:solidFill>
                          <a:latin typeface="Calibri"/>
                        </a:rPr>
                        <a:t>The append-only log, one document per stroke</a:t>
                      </a:r>
                    </a:p>
                  </a:txBody>
                  <a:tcPr anchor="ctr" marL="64008" marR="64008">
                    <a:solidFill>
                      <a:srgbClr val="141E30"/>
                    </a:solidFill>
                  </a:tcPr>
                </a:tc>
                <a:tc>
                  <a:txBody>
                    <a:bodyPr/>
                    <a:lstStyle/>
                    <a:p>
                      <a:pPr algn="l">
                        <a:spcAft>
                          <a:spcPts val="400"/>
                        </a:spcAft>
                      </a:pPr>
                      <a:r>
                        <a:rPr sz="1300" b="0">
                          <a:solidFill>
                            <a:srgbClr val="ECF1F8"/>
                          </a:solidFill>
                          <a:latin typeface="Calibri"/>
                        </a:rPr>
                        <a:t>80,019</a:t>
                      </a:r>
                    </a:p>
                  </a:txBody>
                  <a:tcPr anchor="ctr" marL="64008" marR="64008">
                    <a:solidFill>
                      <a:srgbClr val="141E30"/>
                    </a:solidFill>
                  </a:tcPr>
                </a:tc>
                <a:tc>
                  <a:txBody>
                    <a:bodyPr/>
                    <a:lstStyle/>
                    <a:p>
                      <a:pPr algn="l">
                        <a:spcAft>
                          <a:spcPts val="400"/>
                        </a:spcAft>
                      </a:pPr>
                      <a:r>
                        <a:rPr sz="1300" b="0">
                          <a:solidFill>
                            <a:srgbClr val="ECF1F8"/>
                          </a:solidFill>
                          <a:latin typeface="Calibri"/>
                        </a:rPr>
                        <a:t>120.3 MB</a:t>
                      </a:r>
                    </a:p>
                  </a:txBody>
                  <a:tcPr anchor="ctr" marL="64008" marR="64008">
                    <a:solidFill>
                      <a:srgbClr val="141E30"/>
                    </a:solidFill>
                  </a:tcPr>
                </a:tc>
                <a:tc>
                  <a:txBody>
                    <a:bodyPr/>
                    <a:lstStyle/>
                    <a:p>
                      <a:pPr algn="l">
                        <a:spcAft>
                          <a:spcPts val="400"/>
                        </a:spcAft>
                      </a:pPr>
                      <a:r>
                        <a:rPr sz="1300" b="0">
                          <a:solidFill>
                            <a:srgbClr val="ECF1F8"/>
                          </a:solidFill>
                          <a:latin typeface="Calibri"/>
                        </a:rPr>
                        <a:t>9.8 MB</a:t>
                      </a:r>
                    </a:p>
                  </a:txBody>
                  <a:tcPr anchor="ctr" marL="64008" marR="64008">
                    <a:solidFill>
                      <a:srgbClr val="141E30"/>
                    </a:solidFill>
                  </a:tcPr>
                </a:tc>
              </a:tr>
              <a:tr h="475488">
                <a:tc>
                  <a:txBody>
                    <a:bodyPr/>
                    <a:lstStyle/>
                    <a:p>
                      <a:pPr algn="l">
                        <a:spcAft>
                          <a:spcPts val="400"/>
                        </a:spcAft>
                      </a:pPr>
                      <a:r>
                        <a:rPr sz="1300" b="0">
                          <a:solidFill>
                            <a:srgbClr val="ECF1F8"/>
                          </a:solidFill>
                          <a:latin typeface="Calibri"/>
                        </a:rPr>
                        <a:t>snapshots</a:t>
                      </a:r>
                    </a:p>
                  </a:txBody>
                  <a:tcPr anchor="ctr" marL="64008" marR="64008">
                    <a:solidFill>
                      <a:srgbClr val="182236"/>
                    </a:solidFill>
                  </a:tcPr>
                </a:tc>
                <a:tc>
                  <a:txBody>
                    <a:bodyPr/>
                    <a:lstStyle/>
                    <a:p>
                      <a:pPr algn="l">
                        <a:spcAft>
                          <a:spcPts val="400"/>
                        </a:spcAft>
                      </a:pPr>
                      <a:r>
                        <a:rPr sz="1300" b="0">
                          <a:solidFill>
                            <a:srgbClr val="ECF1F8"/>
                          </a:solidFill>
                          <a:latin typeface="Calibri"/>
                        </a:rPr>
                        <a:t>Rasterised canvas at a known sequence number</a:t>
                      </a:r>
                    </a:p>
                  </a:txBody>
                  <a:tcPr anchor="ctr" marL="64008" marR="64008">
                    <a:solidFill>
                      <a:srgbClr val="182236"/>
                    </a:solidFill>
                  </a:tcPr>
                </a:tc>
                <a:tc>
                  <a:txBody>
                    <a:bodyPr/>
                    <a:lstStyle/>
                    <a:p>
                      <a:pPr algn="l">
                        <a:spcAft>
                          <a:spcPts val="400"/>
                        </a:spcAft>
                      </a:pPr>
                      <a:r>
                        <a:rPr sz="1300" b="0">
                          <a:solidFill>
                            <a:srgbClr val="ECF1F8"/>
                          </a:solidFill>
                          <a:latin typeface="Calibri"/>
                        </a:rPr>
                        <a:t>5</a:t>
                      </a:r>
                    </a:p>
                  </a:txBody>
                  <a:tcPr anchor="ctr" marL="64008" marR="64008">
                    <a:solidFill>
                      <a:srgbClr val="182236"/>
                    </a:solidFill>
                  </a:tcPr>
                </a:tc>
                <a:tc>
                  <a:txBody>
                    <a:bodyPr/>
                    <a:lstStyle/>
                    <a:p>
                      <a:pPr algn="l">
                        <a:spcAft>
                          <a:spcPts val="400"/>
                        </a:spcAft>
                      </a:pPr>
                      <a:r>
                        <a:rPr sz="1300" b="0">
                          <a:solidFill>
                            <a:srgbClr val="ECF1F8"/>
                          </a:solidFill>
                          <a:latin typeface="Calibri"/>
                        </a:rPr>
                        <a:t>13.8 MB</a:t>
                      </a:r>
                    </a:p>
                  </a:txBody>
                  <a:tcPr anchor="ctr" marL="64008" marR="64008">
                    <a:solidFill>
                      <a:srgbClr val="182236"/>
                    </a:solidFill>
                  </a:tcPr>
                </a:tc>
                <a:tc>
                  <a:txBody>
                    <a:bodyPr/>
                    <a:lstStyle/>
                    <a:p>
                      <a:pPr algn="l">
                        <a:spcAft>
                          <a:spcPts val="400"/>
                        </a:spcAft>
                      </a:pPr>
                      <a:r>
                        <a:rPr sz="1300" b="0">
                          <a:solidFill>
                            <a:srgbClr val="ECF1F8"/>
                          </a:solidFill>
                          <a:latin typeface="Calibri"/>
                        </a:rPr>
                        <a:t>0.04 MB</a:t>
                      </a:r>
                    </a:p>
                  </a:txBody>
                  <a:tcPr anchor="ctr" marL="64008" marR="64008">
                    <a:solidFill>
                      <a:srgbClr val="182236"/>
                    </a:solidFill>
                  </a:tcPr>
                </a:tc>
              </a:tr>
            </a:tbl>
          </a:graphicData>
        </a:graphic>
      </p:graphicFrame>
      <p:sp>
        <p:nvSpPr>
          <p:cNvPr id="7" name="Rounded Rectangle 6"/>
          <p:cNvSpPr/>
          <p:nvPr/>
        </p:nvSpPr>
        <p:spPr>
          <a:xfrm>
            <a:off x="566928" y="3520440"/>
            <a:ext cx="3520440" cy="1133856"/>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3648456"/>
            <a:ext cx="3154680" cy="502920"/>
          </a:xfrm>
          <a:prstGeom prst="rect">
            <a:avLst/>
          </a:prstGeom>
          <a:noFill/>
        </p:spPr>
        <p:txBody>
          <a:bodyPr wrap="square" anchor="t" lIns="0" rIns="0" tIns="0" bIns="0">
            <a:spAutoFit/>
          </a:bodyPr>
          <a:lstStyle/>
          <a:p>
            <a:pPr algn="l">
              <a:spcAft>
                <a:spcPts val="400"/>
              </a:spcAft>
            </a:pPr>
            <a:r>
              <a:rPr sz="2700" b="1">
                <a:solidFill>
                  <a:srgbClr val="4F9BF5"/>
                </a:solidFill>
                <a:latin typeface="Calibri"/>
              </a:rPr>
              <a:t>1,576 B</a:t>
            </a:r>
          </a:p>
        </p:txBody>
      </p:sp>
      <p:sp>
        <p:nvSpPr>
          <p:cNvPr id="9" name="TextBox 8"/>
          <p:cNvSpPr txBox="1"/>
          <p:nvPr/>
        </p:nvSpPr>
        <p:spPr>
          <a:xfrm>
            <a:off x="749808" y="4142232"/>
            <a:ext cx="3154680" cy="420623"/>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average stroke document — the basis of the
capacity estimate</a:t>
            </a:r>
          </a:p>
        </p:txBody>
      </p:sp>
      <p:sp>
        <p:nvSpPr>
          <p:cNvPr id="10" name="Rounded Rectangle 9"/>
          <p:cNvSpPr/>
          <p:nvPr/>
        </p:nvSpPr>
        <p:spPr>
          <a:xfrm>
            <a:off x="4315968" y="3520440"/>
            <a:ext cx="3520440" cy="1133856"/>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3648456"/>
            <a:ext cx="3154680" cy="502920"/>
          </a:xfrm>
          <a:prstGeom prst="rect">
            <a:avLst/>
          </a:prstGeom>
          <a:noFill/>
        </p:spPr>
        <p:txBody>
          <a:bodyPr wrap="square" anchor="t" lIns="0" rIns="0" tIns="0" bIns="0">
            <a:spAutoFit/>
          </a:bodyPr>
          <a:lstStyle/>
          <a:p>
            <a:pPr algn="l">
              <a:spcAft>
                <a:spcPts val="400"/>
              </a:spcAft>
            </a:pPr>
            <a:r>
              <a:rPr sz="2700" b="1">
                <a:solidFill>
                  <a:srgbClr val="4F9BF5"/>
                </a:solidFill>
                <a:latin typeface="Calibri"/>
              </a:rPr>
              <a:t>8</a:t>
            </a:r>
          </a:p>
        </p:txBody>
      </p:sp>
      <p:sp>
        <p:nvSpPr>
          <p:cNvPr id="12" name="TextBox 11"/>
          <p:cNvSpPr txBox="1"/>
          <p:nvPr/>
        </p:nvSpPr>
        <p:spPr>
          <a:xfrm>
            <a:off x="4498848" y="4142232"/>
            <a:ext cx="3154680" cy="420623"/>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rooms, one of them deliberately large
for the measurements</a:t>
            </a:r>
          </a:p>
        </p:txBody>
      </p:sp>
      <p:sp>
        <p:nvSpPr>
          <p:cNvPr id="13" name="Rounded Rectangle 12"/>
          <p:cNvSpPr/>
          <p:nvPr/>
        </p:nvSpPr>
        <p:spPr>
          <a:xfrm>
            <a:off x="8065007" y="3520440"/>
            <a:ext cx="3520440" cy="1133856"/>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7" y="3648456"/>
            <a:ext cx="3154680" cy="502920"/>
          </a:xfrm>
          <a:prstGeom prst="rect">
            <a:avLst/>
          </a:prstGeom>
          <a:noFill/>
        </p:spPr>
        <p:txBody>
          <a:bodyPr wrap="square" anchor="t" lIns="0" rIns="0" tIns="0" bIns="0">
            <a:spAutoFit/>
          </a:bodyPr>
          <a:lstStyle/>
          <a:p>
            <a:pPr algn="l">
              <a:spcAft>
                <a:spcPts val="400"/>
              </a:spcAft>
            </a:pPr>
            <a:r>
              <a:rPr sz="2700" b="1">
                <a:solidFill>
                  <a:srgbClr val="4F9BF5"/>
                </a:solidFill>
                <a:latin typeface="Calibri"/>
              </a:rPr>
              <a:t>2 → 3</a:t>
            </a:r>
          </a:p>
        </p:txBody>
      </p:sp>
      <p:sp>
        <p:nvSpPr>
          <p:cNvPr id="15" name="TextBox 14"/>
          <p:cNvSpPr txBox="1"/>
          <p:nvPr/>
        </p:nvSpPr>
        <p:spPr>
          <a:xfrm>
            <a:off x="8247887" y="4142232"/>
            <a:ext cx="3154680" cy="420623"/>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collections: snapshots was added
after measuring join cost</a:t>
            </a:r>
          </a:p>
        </p:txBody>
      </p:sp>
      <p:sp>
        <p:nvSpPr>
          <p:cNvPr id="16" name="TextBox 15"/>
          <p:cNvSpPr txBox="1"/>
          <p:nvPr/>
        </p:nvSpPr>
        <p:spPr>
          <a:xfrm>
            <a:off x="566928" y="4956048"/>
            <a:ext cx="11064240" cy="914400"/>
          </a:xfrm>
          <a:prstGeom prst="rect">
            <a:avLst/>
          </a:prstGeom>
          <a:noFill/>
        </p:spPr>
        <p:txBody>
          <a:bodyPr wrap="square" anchor="t" lIns="0" rIns="0" tIns="0" bIns="0">
            <a:spAutoFit/>
          </a:bodyPr>
          <a:lstStyle/>
          <a:p>
            <a:pPr algn="l">
              <a:spcAft>
                <a:spcPts val="400"/>
              </a:spcAft>
            </a:pPr>
            <a:r>
              <a:rPr sz="1500" b="1">
                <a:solidFill>
                  <a:srgbClr val="ECF1F8"/>
                </a:solidFill>
                <a:latin typeface="Calibri"/>
              </a:rPr>
              <a:t>Review 1 proposed two collections. Measurement added the third.</a:t>
            </a:r>
          </a:p>
          <a:p>
            <a:pPr algn="l">
              <a:lnSpc>
                <a:spcPct val="110000"/>
              </a:lnSpc>
              <a:spcAft>
                <a:spcPts val="400"/>
              </a:spcAft>
            </a:pPr>
            <a:r>
              <a:rPr sz="1350" b="0">
                <a:solidFill>
                  <a:srgbClr val="93A4BD"/>
                </a:solidFill>
                <a:latin typeface="Calibri"/>
              </a:rPr>
              <a:t>A full replay of the largest room transfers 66 MB, so snapshotting moved from 'optional' to part of the normal join path.</a:t>
            </a:r>
          </a:p>
        </p:txBody>
      </p:sp>
      <p:sp>
        <p:nvSpPr>
          <p:cNvPr id="17" name="TextBox 16"/>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3.1 of the report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DATABASE IMPLEMENTATION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Flexible schema, shown rather than claimed</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72768"/>
            <a:ext cx="11064240" cy="365760"/>
          </a:xfrm>
          <a:prstGeom prst="rect">
            <a:avLst/>
          </a:prstGeom>
          <a:noFill/>
        </p:spPr>
        <p:txBody>
          <a:bodyPr wrap="square" anchor="t" lIns="0" rIns="0" tIns="0" bIns="0">
            <a:spAutoFit/>
          </a:bodyPr>
          <a:lstStyle/>
          <a:p>
            <a:pPr algn="l">
              <a:spcAft>
                <a:spcPts val="400"/>
              </a:spcAft>
            </a:pPr>
            <a:r>
              <a:rPr sz="1450" b="0">
                <a:solidFill>
                  <a:srgbClr val="93A4BD"/>
                </a:solidFill>
                <a:latin typeface="Calibri"/>
              </a:rPr>
              <a:t>Three documents from the same collection, written by the same code path. No migration, no nullable columns standing in for absent fields.</a:t>
            </a:r>
          </a:p>
        </p:txBody>
      </p:sp>
      <p:sp>
        <p:nvSpPr>
          <p:cNvPr id="7" name="Rounded Rectangle 6"/>
          <p:cNvSpPr/>
          <p:nvPr/>
        </p:nvSpPr>
        <p:spPr>
          <a:xfrm>
            <a:off x="566928" y="2029968"/>
            <a:ext cx="3566160" cy="3200400"/>
          </a:xfrm>
          <a:prstGeom prst="roundRect">
            <a:avLst>
              <a:gd name="adj" fmla="val 4000"/>
            </a:avLst>
          </a:prstGeom>
          <a:solidFill>
            <a:srgbClr val="101828"/>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148840"/>
            <a:ext cx="3200400" cy="237744"/>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pen — carries points</a:t>
            </a:r>
          </a:p>
        </p:txBody>
      </p:sp>
      <p:sp>
        <p:nvSpPr>
          <p:cNvPr id="9" name="TextBox 8"/>
          <p:cNvSpPr txBox="1"/>
          <p:nvPr/>
        </p:nvSpPr>
        <p:spPr>
          <a:xfrm>
            <a:off x="749808" y="2441448"/>
            <a:ext cx="3200400" cy="2651760"/>
          </a:xfrm>
          <a:prstGeom prst="rect">
            <a:avLst/>
          </a:prstGeom>
          <a:noFill/>
        </p:spPr>
        <p:txBody>
          <a:bodyPr wrap="square" anchor="t" lIns="0" rIns="0" tIns="0" bIns="0">
            <a:spAutoFit/>
          </a:bodyPr>
          <a:lstStyle/>
          <a:p>
            <a:pPr algn="l">
              <a:lnSpc>
                <a:spcPct val="102000"/>
              </a:lnSpc>
              <a:spcAft>
                <a:spcPts val="0"/>
              </a:spcAft>
            </a:pPr>
            <a:r>
              <a:rPr sz="1050" b="0">
                <a:solidFill>
                  <a:srgbClr val="ECF1F8"/>
                </a:solidFill>
                <a:latin typeface="Consolas"/>
              </a:rPr>
              <a:t>{</a:t>
            </a:r>
          </a:p>
          <a:p>
            <a:pPr algn="l">
              <a:lnSpc>
                <a:spcPct val="102000"/>
              </a:lnSpc>
              <a:spcAft>
                <a:spcPts val="0"/>
              </a:spcAft>
            </a:pPr>
            <a:r>
              <a:rPr sz="1050" b="0">
                <a:solidFill>
                  <a:srgbClr val="ECF1F8"/>
                </a:solidFill>
                <a:latin typeface="Consolas"/>
              </a:rPr>
              <a:t>  "tool": "pen",</a:t>
            </a:r>
          </a:p>
          <a:p>
            <a:pPr algn="l">
              <a:lnSpc>
                <a:spcPct val="102000"/>
              </a:lnSpc>
              <a:spcAft>
                <a:spcPts val="0"/>
              </a:spcAft>
            </a:pPr>
            <a:r>
              <a:rPr sz="1050" b="0">
                <a:solidFill>
                  <a:srgbClr val="ECF1F8"/>
                </a:solidFill>
                <a:latin typeface="Consolas"/>
              </a:rPr>
              <a:t>  "seq": 1,</a:t>
            </a:r>
          </a:p>
          <a:p>
            <a:pPr algn="l">
              <a:lnSpc>
                <a:spcPct val="102000"/>
              </a:lnSpc>
              <a:spcAft>
                <a:spcPts val="0"/>
              </a:spcAft>
            </a:pPr>
            <a:r>
              <a:rPr sz="1050" b="0">
                <a:solidFill>
                  <a:srgbClr val="ECF1F8"/>
                </a:solidFill>
                <a:latin typeface="Consolas"/>
              </a:rPr>
              <a:t>  "points": [</a:t>
            </a:r>
          </a:p>
          <a:p>
            <a:pPr algn="l">
              <a:lnSpc>
                <a:spcPct val="102000"/>
              </a:lnSpc>
              <a:spcAft>
                <a:spcPts val="0"/>
              </a:spcAft>
            </a:pPr>
            <a:r>
              <a:rPr sz="1050" b="0">
                <a:solidFill>
                  <a:srgbClr val="ECF1F8"/>
                </a:solidFill>
                <a:latin typeface="Consolas"/>
              </a:rPr>
              <a:t>    {"x": 323.7, "y": 294.2},</a:t>
            </a:r>
          </a:p>
          <a:p>
            <a:pPr algn="l">
              <a:lnSpc>
                <a:spcPct val="102000"/>
              </a:lnSpc>
              <a:spcAft>
                <a:spcPts val="0"/>
              </a:spcAft>
            </a:pPr>
            <a:r>
              <a:rPr sz="1050" b="0">
                <a:solidFill>
                  <a:srgbClr val="ECF1F8"/>
                </a:solidFill>
                <a:latin typeface="Consolas"/>
              </a:rPr>
              <a:t>    {"x": 325.9, "y": 293.9},</a:t>
            </a:r>
          </a:p>
          <a:p>
            <a:pPr algn="l">
              <a:lnSpc>
                <a:spcPct val="102000"/>
              </a:lnSpc>
              <a:spcAft>
                <a:spcPts val="0"/>
              </a:spcAft>
            </a:pPr>
            <a:r>
              <a:rPr sz="1050" b="0">
                <a:solidFill>
                  <a:srgbClr val="ECF1F8"/>
                </a:solidFill>
                <a:latin typeface="Consolas"/>
              </a:rPr>
              <a:t>    ... 145 more ...</a:t>
            </a:r>
          </a:p>
          <a:p>
            <a:pPr algn="l">
              <a:lnSpc>
                <a:spcPct val="102000"/>
              </a:lnSpc>
              <a:spcAft>
                <a:spcPts val="0"/>
              </a:spcAft>
            </a:pPr>
            <a:r>
              <a:rPr sz="1050" b="0">
                <a:solidFill>
                  <a:srgbClr val="ECF1F8"/>
                </a:solidFill>
                <a:latin typeface="Consolas"/>
              </a:rPr>
              <a:t>  ],</a:t>
            </a:r>
          </a:p>
          <a:p>
            <a:pPr algn="l">
              <a:lnSpc>
                <a:spcPct val="102000"/>
              </a:lnSpc>
              <a:spcAft>
                <a:spcPts val="0"/>
              </a:spcAft>
            </a:pPr>
            <a:r>
              <a:rPr sz="1050" b="0">
                <a:solidFill>
                  <a:srgbClr val="ECF1F8"/>
                </a:solidFill>
                <a:latin typeface="Consolas"/>
              </a:rPr>
              <a:t>  "pointCount": 148,</a:t>
            </a:r>
          </a:p>
          <a:p>
            <a:pPr algn="l">
              <a:lnSpc>
                <a:spcPct val="102000"/>
              </a:lnSpc>
              <a:spcAft>
                <a:spcPts val="0"/>
              </a:spcAft>
            </a:pPr>
            <a:r>
              <a:rPr sz="1050" b="0">
                <a:solidFill>
                  <a:srgbClr val="ECF1F8"/>
                </a:solidFill>
                <a:latin typeface="Consolas"/>
              </a:rPr>
              <a:t>  "style": {"width": 6.4},</a:t>
            </a:r>
          </a:p>
          <a:p>
            <a:pPr algn="l">
              <a:lnSpc>
                <a:spcPct val="102000"/>
              </a:lnSpc>
              <a:spcAft>
                <a:spcPts val="0"/>
              </a:spcAft>
            </a:pPr>
            <a:r>
              <a:rPr sz="1050" b="0">
                <a:solidFill>
                  <a:srgbClr val="ECF1F8"/>
                </a:solidFill>
                <a:latin typeface="Consolas"/>
              </a:rPr>
              <a:t>  "active": true</a:t>
            </a:r>
          </a:p>
          <a:p>
            <a:pPr algn="l">
              <a:lnSpc>
                <a:spcPct val="102000"/>
              </a:lnSpc>
              <a:spcAft>
                <a:spcPts val="0"/>
              </a:spcAft>
            </a:pPr>
            <a:r>
              <a:rPr sz="1050" b="0">
                <a:solidFill>
                  <a:srgbClr val="ECF1F8"/>
                </a:solidFill>
                <a:latin typeface="Consolas"/>
              </a:rPr>
              <a:t>}</a:t>
            </a:r>
          </a:p>
        </p:txBody>
      </p:sp>
      <p:sp>
        <p:nvSpPr>
          <p:cNvPr id="10" name="Rounded Rectangle 9"/>
          <p:cNvSpPr/>
          <p:nvPr/>
        </p:nvSpPr>
        <p:spPr>
          <a:xfrm>
            <a:off x="4315968" y="2029968"/>
            <a:ext cx="3566160" cy="3200400"/>
          </a:xfrm>
          <a:prstGeom prst="roundRect">
            <a:avLst>
              <a:gd name="adj" fmla="val 4000"/>
            </a:avLst>
          </a:prstGeom>
          <a:solidFill>
            <a:srgbClr val="101828"/>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8" y="2148840"/>
            <a:ext cx="3200400" cy="237744"/>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rect — no points at all</a:t>
            </a:r>
          </a:p>
        </p:txBody>
      </p:sp>
      <p:sp>
        <p:nvSpPr>
          <p:cNvPr id="12" name="TextBox 11"/>
          <p:cNvSpPr txBox="1"/>
          <p:nvPr/>
        </p:nvSpPr>
        <p:spPr>
          <a:xfrm>
            <a:off x="4498848" y="2441448"/>
            <a:ext cx="3200400" cy="2651760"/>
          </a:xfrm>
          <a:prstGeom prst="rect">
            <a:avLst/>
          </a:prstGeom>
          <a:noFill/>
        </p:spPr>
        <p:txBody>
          <a:bodyPr wrap="square" anchor="t" lIns="0" rIns="0" tIns="0" bIns="0">
            <a:spAutoFit/>
          </a:bodyPr>
          <a:lstStyle/>
          <a:p>
            <a:pPr algn="l">
              <a:lnSpc>
                <a:spcPct val="102000"/>
              </a:lnSpc>
              <a:spcAft>
                <a:spcPts val="0"/>
              </a:spcAft>
            </a:pPr>
            <a:r>
              <a:rPr sz="1050" b="0">
                <a:solidFill>
                  <a:srgbClr val="ECF1F8"/>
                </a:solidFill>
                <a:latin typeface="Consolas"/>
              </a:rPr>
              <a:t>{</a:t>
            </a:r>
          </a:p>
          <a:p>
            <a:pPr algn="l">
              <a:lnSpc>
                <a:spcPct val="102000"/>
              </a:lnSpc>
              <a:spcAft>
                <a:spcPts val="0"/>
              </a:spcAft>
            </a:pPr>
            <a:r>
              <a:rPr sz="1050" b="0">
                <a:solidFill>
                  <a:srgbClr val="ECF1F8"/>
                </a:solidFill>
                <a:latin typeface="Consolas"/>
              </a:rPr>
              <a:t>  "tool": "rect",</a:t>
            </a:r>
          </a:p>
          <a:p>
            <a:pPr algn="l">
              <a:lnSpc>
                <a:spcPct val="102000"/>
              </a:lnSpc>
              <a:spcAft>
                <a:spcPts val="0"/>
              </a:spcAft>
            </a:pPr>
            <a:r>
              <a:rPr sz="1050" b="0">
                <a:solidFill>
                  <a:srgbClr val="ECF1F8"/>
                </a:solidFill>
                <a:latin typeface="Consolas"/>
              </a:rPr>
              <a:t>  "seq": 14,</a:t>
            </a:r>
          </a:p>
          <a:p>
            <a:pPr algn="l">
              <a:lnSpc>
                <a:spcPct val="102000"/>
              </a:lnSpc>
              <a:spcAft>
                <a:spcPts val="0"/>
              </a:spcAft>
            </a:pPr>
            <a:r>
              <a:rPr sz="1050" b="0">
                <a:solidFill>
                  <a:srgbClr val="ECF1F8"/>
                </a:solidFill>
                <a:latin typeface="Consolas"/>
              </a:rPr>
              <a:t>  "geometry": {</a:t>
            </a:r>
          </a:p>
          <a:p>
            <a:pPr algn="l">
              <a:lnSpc>
                <a:spcPct val="102000"/>
              </a:lnSpc>
              <a:spcAft>
                <a:spcPts val="0"/>
              </a:spcAft>
            </a:pPr>
            <a:r>
              <a:rPr sz="1050" b="0">
                <a:solidFill>
                  <a:srgbClr val="ECF1F8"/>
                </a:solidFill>
                <a:latin typeface="Consolas"/>
              </a:rPr>
              <a:t>    "x": 798.1, "y": 159.3,</a:t>
            </a:r>
          </a:p>
          <a:p>
            <a:pPr algn="l">
              <a:lnSpc>
                <a:spcPct val="102000"/>
              </a:lnSpc>
              <a:spcAft>
                <a:spcPts val="0"/>
              </a:spcAft>
            </a:pPr>
            <a:r>
              <a:rPr sz="1050" b="0">
                <a:solidFill>
                  <a:srgbClr val="ECF1F8"/>
                </a:solidFill>
                <a:latin typeface="Consolas"/>
              </a:rPr>
              <a:t>    "w": 417.5, "h": -191.1</a:t>
            </a:r>
          </a:p>
          <a:p>
            <a:pPr algn="l">
              <a:lnSpc>
                <a:spcPct val="102000"/>
              </a:lnSpc>
              <a:spcAft>
                <a:spcPts val="0"/>
              </a:spcAft>
            </a:pPr>
            <a:r>
              <a:rPr sz="1050" b="0">
                <a:solidFill>
                  <a:srgbClr val="ECF1F8"/>
                </a:solidFill>
                <a:latin typeface="Consolas"/>
              </a:rPr>
              <a:t>  },</a:t>
            </a:r>
          </a:p>
          <a:p>
            <a:pPr algn="l">
              <a:lnSpc>
                <a:spcPct val="102000"/>
              </a:lnSpc>
              <a:spcAft>
                <a:spcPts val="0"/>
              </a:spcAft>
            </a:pPr>
            <a:r>
              <a:rPr sz="1050" b="0">
                <a:solidFill>
                  <a:srgbClr val="ECF1F8"/>
                </a:solidFill>
                <a:latin typeface="Consolas"/>
              </a:rPr>
              <a:t>  "bbox": {"minX": 798.1, ...},</a:t>
            </a:r>
          </a:p>
          <a:p>
            <a:pPr algn="l">
              <a:lnSpc>
                <a:spcPct val="102000"/>
              </a:lnSpc>
              <a:spcAft>
                <a:spcPts val="0"/>
              </a:spcAft>
            </a:pPr>
            <a:r>
              <a:rPr sz="1050" b="0">
                <a:solidFill>
                  <a:srgbClr val="ECF1F8"/>
                </a:solidFill>
                <a:latin typeface="Consolas"/>
              </a:rPr>
              <a:t>  "style": {"width": 8.3},</a:t>
            </a:r>
          </a:p>
          <a:p>
            <a:pPr algn="l">
              <a:lnSpc>
                <a:spcPct val="102000"/>
              </a:lnSpc>
              <a:spcAft>
                <a:spcPts val="0"/>
              </a:spcAft>
            </a:pPr>
            <a:r>
              <a:rPr sz="1050" b="0">
                <a:solidFill>
                  <a:srgbClr val="ECF1F8"/>
                </a:solidFill>
                <a:latin typeface="Consolas"/>
              </a:rPr>
              <a:t>  "active": true</a:t>
            </a:r>
          </a:p>
          <a:p>
            <a:pPr algn="l">
              <a:lnSpc>
                <a:spcPct val="102000"/>
              </a:lnSpc>
              <a:spcAft>
                <a:spcPts val="0"/>
              </a:spcAft>
            </a:pPr>
            <a:r>
              <a:rPr sz="1050" b="0">
                <a:solidFill>
                  <a:srgbClr val="ECF1F8"/>
                </a:solidFill>
                <a:latin typeface="Consolas"/>
              </a:rPr>
              <a:t>}</a:t>
            </a:r>
          </a:p>
        </p:txBody>
      </p:sp>
      <p:sp>
        <p:nvSpPr>
          <p:cNvPr id="13" name="Rounded Rectangle 12"/>
          <p:cNvSpPr/>
          <p:nvPr/>
        </p:nvSpPr>
        <p:spPr>
          <a:xfrm>
            <a:off x="8065008" y="2029968"/>
            <a:ext cx="3566160" cy="3200400"/>
          </a:xfrm>
          <a:prstGeom prst="roundRect">
            <a:avLst>
              <a:gd name="adj" fmla="val 4000"/>
            </a:avLst>
          </a:prstGeom>
          <a:solidFill>
            <a:srgbClr val="101828"/>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2148840"/>
            <a:ext cx="3200400" cy="237744"/>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text — text and font</a:t>
            </a:r>
          </a:p>
        </p:txBody>
      </p:sp>
      <p:sp>
        <p:nvSpPr>
          <p:cNvPr id="15" name="TextBox 14"/>
          <p:cNvSpPr txBox="1"/>
          <p:nvPr/>
        </p:nvSpPr>
        <p:spPr>
          <a:xfrm>
            <a:off x="8247888" y="2441448"/>
            <a:ext cx="3200400" cy="2651760"/>
          </a:xfrm>
          <a:prstGeom prst="rect">
            <a:avLst/>
          </a:prstGeom>
          <a:noFill/>
        </p:spPr>
        <p:txBody>
          <a:bodyPr wrap="square" anchor="t" lIns="0" rIns="0" tIns="0" bIns="0">
            <a:spAutoFit/>
          </a:bodyPr>
          <a:lstStyle/>
          <a:p>
            <a:pPr algn="l">
              <a:lnSpc>
                <a:spcPct val="102000"/>
              </a:lnSpc>
              <a:spcAft>
                <a:spcPts val="0"/>
              </a:spcAft>
            </a:pPr>
            <a:r>
              <a:rPr sz="1050" b="0">
                <a:solidFill>
                  <a:srgbClr val="ECF1F8"/>
                </a:solidFill>
                <a:latin typeface="Consolas"/>
              </a:rPr>
              <a:t>{</a:t>
            </a:r>
          </a:p>
          <a:p>
            <a:pPr algn="l">
              <a:lnSpc>
                <a:spcPct val="102000"/>
              </a:lnSpc>
              <a:spcAft>
                <a:spcPts val="0"/>
              </a:spcAft>
            </a:pPr>
            <a:r>
              <a:rPr sz="1050" b="0">
                <a:solidFill>
                  <a:srgbClr val="ECF1F8"/>
                </a:solidFill>
                <a:latin typeface="Consolas"/>
              </a:rPr>
              <a:t>  "tool": "text",</a:t>
            </a:r>
          </a:p>
          <a:p>
            <a:pPr algn="l">
              <a:lnSpc>
                <a:spcPct val="102000"/>
              </a:lnSpc>
              <a:spcAft>
                <a:spcPts val="0"/>
              </a:spcAft>
            </a:pPr>
            <a:r>
              <a:rPr sz="1050" b="0">
                <a:solidFill>
                  <a:srgbClr val="ECF1F8"/>
                </a:solidFill>
                <a:latin typeface="Consolas"/>
              </a:rPr>
              <a:t>  "seq": 21,</a:t>
            </a:r>
          </a:p>
          <a:p>
            <a:pPr algn="l">
              <a:lnSpc>
                <a:spcPct val="102000"/>
              </a:lnSpc>
              <a:spcAft>
                <a:spcPts val="0"/>
              </a:spcAft>
            </a:pPr>
            <a:r>
              <a:rPr sz="1050" b="0">
                <a:solidFill>
                  <a:srgbClr val="ECF1F8"/>
                </a:solidFill>
                <a:latin typeface="Consolas"/>
              </a:rPr>
              <a:t>  "text": "stroke log =",</a:t>
            </a:r>
          </a:p>
          <a:p>
            <a:pPr algn="l">
              <a:lnSpc>
                <a:spcPct val="102000"/>
              </a:lnSpc>
              <a:spcAft>
                <a:spcPts val="0"/>
              </a:spcAft>
            </a:pPr>
            <a:r>
              <a:rPr sz="1050" b="0">
                <a:solidFill>
                  <a:srgbClr val="ECF1F8"/>
                </a:solidFill>
                <a:latin typeface="Consolas"/>
              </a:rPr>
              <a:t>  "font": "600 34px Inter",</a:t>
            </a:r>
          </a:p>
          <a:p>
            <a:pPr algn="l">
              <a:lnSpc>
                <a:spcPct val="102000"/>
              </a:lnSpc>
              <a:spcAft>
                <a:spcPts val="0"/>
              </a:spcAft>
            </a:pPr>
            <a:r>
              <a:rPr sz="1050" b="0">
                <a:solidFill>
                  <a:srgbClr val="ECF1F8"/>
                </a:solidFill>
                <a:latin typeface="Consolas"/>
              </a:rPr>
              <a:t>  "geometry": {</a:t>
            </a:r>
          </a:p>
          <a:p>
            <a:pPr algn="l">
              <a:lnSpc>
                <a:spcPct val="102000"/>
              </a:lnSpc>
              <a:spcAft>
                <a:spcPts val="0"/>
              </a:spcAft>
            </a:pPr>
            <a:r>
              <a:rPr sz="1050" b="0">
                <a:solidFill>
                  <a:srgbClr val="ECF1F8"/>
                </a:solidFill>
                <a:latin typeface="Consolas"/>
              </a:rPr>
              <a:t>    "x": 452.0, "y": 118.0</a:t>
            </a:r>
          </a:p>
          <a:p>
            <a:pPr algn="l">
              <a:lnSpc>
                <a:spcPct val="102000"/>
              </a:lnSpc>
              <a:spcAft>
                <a:spcPts val="0"/>
              </a:spcAft>
            </a:pPr>
            <a:r>
              <a:rPr sz="1050" b="0">
                <a:solidFill>
                  <a:srgbClr val="ECF1F8"/>
                </a:solidFill>
                <a:latin typeface="Consolas"/>
              </a:rPr>
              <a:t>  },</a:t>
            </a:r>
          </a:p>
          <a:p>
            <a:pPr algn="l">
              <a:lnSpc>
                <a:spcPct val="102000"/>
              </a:lnSpc>
              <a:spcAft>
                <a:spcPts val="0"/>
              </a:spcAft>
            </a:pPr>
            <a:r>
              <a:rPr sz="1050" b="0">
                <a:solidFill>
                  <a:srgbClr val="ECF1F8"/>
                </a:solidFill>
                <a:latin typeface="Consolas"/>
              </a:rPr>
              <a:t>  "style": {"color": "#e8ecf4"},</a:t>
            </a:r>
          </a:p>
          <a:p>
            <a:pPr algn="l">
              <a:lnSpc>
                <a:spcPct val="102000"/>
              </a:lnSpc>
              <a:spcAft>
                <a:spcPts val="0"/>
              </a:spcAft>
            </a:pPr>
            <a:r>
              <a:rPr sz="1050" b="0">
                <a:solidFill>
                  <a:srgbClr val="ECF1F8"/>
                </a:solidFill>
                <a:latin typeface="Consolas"/>
              </a:rPr>
              <a:t>  "active": true</a:t>
            </a:r>
          </a:p>
          <a:p>
            <a:pPr algn="l">
              <a:lnSpc>
                <a:spcPct val="102000"/>
              </a:lnSpc>
              <a:spcAft>
                <a:spcPts val="0"/>
              </a:spcAft>
            </a:pPr>
            <a:r>
              <a:rPr sz="1050" b="0">
                <a:solidFill>
                  <a:srgbClr val="ECF1F8"/>
                </a:solidFill>
                <a:latin typeface="Consolas"/>
              </a:rPr>
              <a:t>}</a:t>
            </a:r>
          </a:p>
        </p:txBody>
      </p:sp>
      <p:sp>
        <p:nvSpPr>
          <p:cNvPr id="16" name="TextBox 15"/>
          <p:cNvSpPr txBox="1"/>
          <p:nvPr/>
        </p:nvSpPr>
        <p:spPr>
          <a:xfrm>
            <a:off x="566928" y="5394960"/>
            <a:ext cx="11064240" cy="640080"/>
          </a:xfrm>
          <a:prstGeom prst="rect">
            <a:avLst/>
          </a:prstGeom>
          <a:noFill/>
        </p:spPr>
        <p:txBody>
          <a:bodyPr wrap="square" anchor="t" lIns="0" rIns="0" tIns="0" bIns="0">
            <a:spAutoFit/>
          </a:bodyPr>
          <a:lstStyle/>
          <a:p>
            <a:pPr algn="l">
              <a:lnSpc>
                <a:spcPct val="110000"/>
              </a:lnSpc>
              <a:spcAft>
                <a:spcPts val="400"/>
              </a:spcAft>
            </a:pPr>
            <a:r>
              <a:rPr sz="1350" b="0">
                <a:solidFill>
                  <a:srgbClr val="93A4BD"/>
                </a:solidFill>
                <a:latin typeface="Calibri"/>
              </a:rPr>
              <a:t>Adding a polygon tool tomorrow needs a model and a renderer — no migration. Existing documents are untouched and replay keeps working, because readers only look at the fields relevant to each tool.</a:t>
            </a:r>
          </a:p>
        </p:txBody>
      </p:sp>
      <p:sp>
        <p:nvSpPr>
          <p:cNvPr id="17" name="TextBox 16"/>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Sections 3.3 and 3.7 of the report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DATABASE IMPLEMENTATION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Embed or reference, and the Redis key space</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54480"/>
            <a:ext cx="5349240" cy="274320"/>
          </a:xfrm>
          <a:prstGeom prst="rect">
            <a:avLst/>
          </a:prstGeom>
          <a:noFill/>
        </p:spPr>
        <p:txBody>
          <a:bodyPr wrap="square" anchor="t" lIns="0" rIns="0" tIns="0" bIns="0">
            <a:spAutoFit/>
          </a:bodyPr>
          <a:lstStyle/>
          <a:p>
            <a:pPr algn="l">
              <a:spcAft>
                <a:spcPts val="400"/>
              </a:spcAft>
            </a:pPr>
            <a:r>
              <a:rPr sz="1450" b="1">
                <a:solidFill>
                  <a:srgbClr val="4F9BF5"/>
                </a:solidFill>
                <a:latin typeface="Calibri"/>
              </a:rPr>
              <a:t>The governing question is whether the child is bounded</a:t>
            </a:r>
          </a:p>
        </p:txBody>
      </p:sp>
      <p:graphicFrame>
        <p:nvGraphicFramePr>
          <p:cNvPr id="7" name="Table 6"/>
          <p:cNvGraphicFramePr>
            <a:graphicFrameLocks noGrp="1"/>
          </p:cNvGraphicFramePr>
          <p:nvPr/>
        </p:nvGraphicFramePr>
        <p:xfrm>
          <a:off x="566928" y="1901952"/>
          <a:ext cx="5349240" cy="2048256"/>
        </p:xfrm>
        <a:graphic>
          <a:graphicData uri="http://schemas.openxmlformats.org/drawingml/2006/table">
            <a:tbl>
              <a:tblPr firstRow="1" bandRow="1">
                <a:tableStyleId>{5C22544A-7EE6-4342-B048-85BDC9FD1C3A}</a:tableStyleId>
              </a:tblPr>
              <a:tblGrid>
                <a:gridCol w="1691640"/>
                <a:gridCol w="1188720"/>
                <a:gridCol w="2468880"/>
              </a:tblGrid>
              <a:tr h="512064">
                <a:tc>
                  <a:txBody>
                    <a:bodyPr/>
                    <a:lstStyle/>
                    <a:p>
                      <a:pPr algn="l">
                        <a:spcAft>
                          <a:spcPts val="400"/>
                        </a:spcAft>
                      </a:pPr>
                      <a:r>
                        <a:rPr sz="1150" b="1">
                          <a:solidFill>
                            <a:srgbClr val="4F9BF5"/>
                          </a:solidFill>
                          <a:latin typeface="Calibri"/>
                        </a:rPr>
                        <a:t>Relationship</a:t>
                      </a:r>
                    </a:p>
                  </a:txBody>
                  <a:tcPr anchor="ctr" marL="64008" marR="64008">
                    <a:solidFill>
                      <a:srgbClr val="22314A"/>
                    </a:solidFill>
                  </a:tcPr>
                </a:tc>
                <a:tc>
                  <a:txBody>
                    <a:bodyPr/>
                    <a:lstStyle/>
                    <a:p>
                      <a:pPr algn="l">
                        <a:spcAft>
                          <a:spcPts val="400"/>
                        </a:spcAft>
                      </a:pPr>
                      <a:r>
                        <a:rPr sz="1150" b="1">
                          <a:solidFill>
                            <a:srgbClr val="4F9BF5"/>
                          </a:solidFill>
                          <a:latin typeface="Calibri"/>
                        </a:rPr>
                        <a:t>Strategy</a:t>
                      </a:r>
                    </a:p>
                  </a:txBody>
                  <a:tcPr anchor="ctr" marL="64008" marR="64008">
                    <a:solidFill>
                      <a:srgbClr val="22314A"/>
                    </a:solidFill>
                  </a:tcPr>
                </a:tc>
                <a:tc>
                  <a:txBody>
                    <a:bodyPr/>
                    <a:lstStyle/>
                    <a:p>
                      <a:pPr algn="l">
                        <a:spcAft>
                          <a:spcPts val="400"/>
                        </a:spcAft>
                      </a:pPr>
                      <a:r>
                        <a:rPr sz="1150" b="1">
                          <a:solidFill>
                            <a:srgbClr val="4F9BF5"/>
                          </a:solidFill>
                          <a:latin typeface="Calibri"/>
                        </a:rPr>
                        <a:t>Why</a:t>
                      </a:r>
                    </a:p>
                  </a:txBody>
                  <a:tcPr anchor="ctr" marL="64008" marR="64008">
                    <a:solidFill>
                      <a:srgbClr val="22314A"/>
                    </a:solidFill>
                  </a:tcPr>
                </a:tc>
              </a:tr>
              <a:tr h="512064">
                <a:tc>
                  <a:txBody>
                    <a:bodyPr/>
                    <a:lstStyle/>
                    <a:p>
                      <a:pPr algn="l">
                        <a:spcAft>
                          <a:spcPts val="400"/>
                        </a:spcAft>
                      </a:pPr>
                      <a:r>
                        <a:rPr sz="1150" b="0">
                          <a:solidFill>
                            <a:srgbClr val="ECF1F8"/>
                          </a:solidFill>
                          <a:latin typeface="Calibri"/>
                        </a:rPr>
                        <a:t>Room → participants</a:t>
                      </a:r>
                    </a:p>
                  </a:txBody>
                  <a:tcPr anchor="ctr" marL="64008" marR="64008">
                    <a:solidFill>
                      <a:srgbClr val="182236"/>
                    </a:solidFill>
                  </a:tcPr>
                </a:tc>
                <a:tc>
                  <a:txBody>
                    <a:bodyPr/>
                    <a:lstStyle/>
                    <a:p>
                      <a:pPr algn="l">
                        <a:spcAft>
                          <a:spcPts val="400"/>
                        </a:spcAft>
                      </a:pPr>
                      <a:r>
                        <a:rPr sz="1150" b="0">
                          <a:solidFill>
                            <a:srgbClr val="ECF1F8"/>
                          </a:solidFill>
                          <a:latin typeface="Calibri"/>
                        </a:rPr>
                        <a:t>Embedded</a:t>
                      </a:r>
                    </a:p>
                  </a:txBody>
                  <a:tcPr anchor="ctr" marL="64008" marR="64008">
                    <a:solidFill>
                      <a:srgbClr val="182236"/>
                    </a:solidFill>
                  </a:tcPr>
                </a:tc>
                <a:tc>
                  <a:txBody>
                    <a:bodyPr/>
                    <a:lstStyle/>
                    <a:p>
                      <a:pPr algn="l">
                        <a:spcAft>
                          <a:spcPts val="400"/>
                        </a:spcAft>
                      </a:pPr>
                      <a:r>
                        <a:rPr sz="1150" b="0">
                          <a:solidFill>
                            <a:srgbClr val="ECF1F8"/>
                          </a:solidFill>
                          <a:latin typeface="Calibri"/>
                        </a:rPr>
                        <a:t>Bounded, small, read with the room</a:t>
                      </a:r>
                    </a:p>
                  </a:txBody>
                  <a:tcPr anchor="ctr" marL="64008" marR="64008">
                    <a:solidFill>
                      <a:srgbClr val="182236"/>
                    </a:solidFill>
                  </a:tcPr>
                </a:tc>
              </a:tr>
              <a:tr h="512064">
                <a:tc>
                  <a:txBody>
                    <a:bodyPr/>
                    <a:lstStyle/>
                    <a:p>
                      <a:pPr algn="l">
                        <a:spcAft>
                          <a:spcPts val="400"/>
                        </a:spcAft>
                      </a:pPr>
                      <a:r>
                        <a:rPr sz="1150" b="0">
                          <a:solidFill>
                            <a:srgbClr val="ECF1F8"/>
                          </a:solidFill>
                          <a:latin typeface="Calibri"/>
                        </a:rPr>
                        <a:t>Room → strokes</a:t>
                      </a:r>
                    </a:p>
                  </a:txBody>
                  <a:tcPr anchor="ctr" marL="64008" marR="64008">
                    <a:solidFill>
                      <a:srgbClr val="141E30"/>
                    </a:solidFill>
                  </a:tcPr>
                </a:tc>
                <a:tc>
                  <a:txBody>
                    <a:bodyPr/>
                    <a:lstStyle/>
                    <a:p>
                      <a:pPr algn="l">
                        <a:spcAft>
                          <a:spcPts val="400"/>
                        </a:spcAft>
                      </a:pPr>
                      <a:r>
                        <a:rPr sz="1150" b="0">
                          <a:solidFill>
                            <a:srgbClr val="ECF1F8"/>
                          </a:solidFill>
                          <a:latin typeface="Calibri"/>
                        </a:rPr>
                        <a:t>Referenced</a:t>
                      </a:r>
                    </a:p>
                  </a:txBody>
                  <a:tcPr anchor="ctr" marL="64008" marR="64008">
                    <a:solidFill>
                      <a:srgbClr val="141E30"/>
                    </a:solidFill>
                  </a:tcPr>
                </a:tc>
                <a:tc>
                  <a:txBody>
                    <a:bodyPr/>
                    <a:lstStyle/>
                    <a:p>
                      <a:pPr algn="l">
                        <a:spcAft>
                          <a:spcPts val="400"/>
                        </a:spcAft>
                      </a:pPr>
                      <a:r>
                        <a:rPr sz="1150" b="0">
                          <a:solidFill>
                            <a:srgbClr val="ECF1F8"/>
                          </a:solidFill>
                          <a:latin typeface="Calibri"/>
                        </a:rPr>
                        <a:t>Unbounded — 42,672 in one room</a:t>
                      </a:r>
                    </a:p>
                  </a:txBody>
                  <a:tcPr anchor="ctr" marL="64008" marR="64008">
                    <a:solidFill>
                      <a:srgbClr val="141E30"/>
                    </a:solidFill>
                  </a:tcPr>
                </a:tc>
              </a:tr>
              <a:tr h="512064">
                <a:tc>
                  <a:txBody>
                    <a:bodyPr/>
                    <a:lstStyle/>
                    <a:p>
                      <a:pPr algn="l">
                        <a:spcAft>
                          <a:spcPts val="400"/>
                        </a:spcAft>
                      </a:pPr>
                      <a:r>
                        <a:rPr sz="1150" b="0">
                          <a:solidFill>
                            <a:srgbClr val="ECF1F8"/>
                          </a:solidFill>
                          <a:latin typeface="Calibri"/>
                        </a:rPr>
                        <a:t>Room → snapshots</a:t>
                      </a:r>
                    </a:p>
                  </a:txBody>
                  <a:tcPr anchor="ctr" marL="64008" marR="64008">
                    <a:solidFill>
                      <a:srgbClr val="182236"/>
                    </a:solidFill>
                  </a:tcPr>
                </a:tc>
                <a:tc>
                  <a:txBody>
                    <a:bodyPr/>
                    <a:lstStyle/>
                    <a:p>
                      <a:pPr algn="l">
                        <a:spcAft>
                          <a:spcPts val="400"/>
                        </a:spcAft>
                      </a:pPr>
                      <a:r>
                        <a:rPr sz="1150" b="0">
                          <a:solidFill>
                            <a:srgbClr val="ECF1F8"/>
                          </a:solidFill>
                          <a:latin typeface="Calibri"/>
                        </a:rPr>
                        <a:t>Referenced</a:t>
                      </a:r>
                    </a:p>
                  </a:txBody>
                  <a:tcPr anchor="ctr" marL="64008" marR="64008">
                    <a:solidFill>
                      <a:srgbClr val="182236"/>
                    </a:solidFill>
                  </a:tcPr>
                </a:tc>
                <a:tc>
                  <a:txBody>
                    <a:bodyPr/>
                    <a:lstStyle/>
                    <a:p>
                      <a:pPr algn="l">
                        <a:spcAft>
                          <a:spcPts val="400"/>
                        </a:spcAft>
                      </a:pPr>
                      <a:r>
                        <a:rPr sz="1150" b="0">
                          <a:solidFill>
                            <a:srgbClr val="ECF1F8"/>
                          </a:solidFill>
                          <a:latin typeface="Calibri"/>
                        </a:rPr>
                        <a:t>Large binaries, pruned separately</a:t>
                      </a:r>
                    </a:p>
                  </a:txBody>
                  <a:tcPr anchor="ctr" marL="64008" marR="64008">
                    <a:solidFill>
                      <a:srgbClr val="182236"/>
                    </a:solidFill>
                  </a:tcPr>
                </a:tc>
              </a:tr>
            </a:tbl>
          </a:graphicData>
        </a:graphic>
      </p:graphicFrame>
      <p:sp>
        <p:nvSpPr>
          <p:cNvPr id="8" name="TextBox 7"/>
          <p:cNvSpPr txBox="1"/>
          <p:nvPr/>
        </p:nvSpPr>
        <p:spPr>
          <a:xfrm>
            <a:off x="6263640" y="1554480"/>
            <a:ext cx="5367528" cy="274320"/>
          </a:xfrm>
          <a:prstGeom prst="rect">
            <a:avLst/>
          </a:prstGeom>
          <a:noFill/>
        </p:spPr>
        <p:txBody>
          <a:bodyPr wrap="square" anchor="t" lIns="0" rIns="0" tIns="0" bIns="0">
            <a:spAutoFit/>
          </a:bodyPr>
          <a:lstStyle/>
          <a:p>
            <a:pPr algn="l">
              <a:spcAft>
                <a:spcPts val="400"/>
              </a:spcAft>
            </a:pPr>
            <a:r>
              <a:rPr sz="1450" b="1">
                <a:solidFill>
                  <a:srgbClr val="4F9BF5"/>
                </a:solidFill>
                <a:latin typeface="Calibri"/>
              </a:rPr>
              <a:t>Redis is a database here too, so its keys are documented</a:t>
            </a:r>
          </a:p>
        </p:txBody>
      </p:sp>
      <p:graphicFrame>
        <p:nvGraphicFramePr>
          <p:cNvPr id="9" name="Table 8"/>
          <p:cNvGraphicFramePr>
            <a:graphicFrameLocks noGrp="1"/>
          </p:cNvGraphicFramePr>
          <p:nvPr/>
        </p:nvGraphicFramePr>
        <p:xfrm>
          <a:off x="6263640" y="1901952"/>
          <a:ext cx="5367528" cy="2048256"/>
        </p:xfrm>
        <a:graphic>
          <a:graphicData uri="http://schemas.openxmlformats.org/drawingml/2006/table">
            <a:tbl>
              <a:tblPr firstRow="1" bandRow="1">
                <a:tableStyleId>{5C22544A-7EE6-4342-B048-85BDC9FD1C3A}</a:tableStyleId>
              </a:tblPr>
              <a:tblGrid>
                <a:gridCol w="2057400"/>
                <a:gridCol w="1051560"/>
                <a:gridCol w="2258568"/>
              </a:tblGrid>
              <a:tr h="512064">
                <a:tc>
                  <a:txBody>
                    <a:bodyPr/>
                    <a:lstStyle/>
                    <a:p>
                      <a:pPr algn="l">
                        <a:spcAft>
                          <a:spcPts val="400"/>
                        </a:spcAft>
                      </a:pPr>
                      <a:r>
                        <a:rPr sz="1150" b="1">
                          <a:solidFill>
                            <a:srgbClr val="4F9BF5"/>
                          </a:solidFill>
                          <a:latin typeface="Calibri"/>
                        </a:rPr>
                        <a:t>Key</a:t>
                      </a:r>
                    </a:p>
                  </a:txBody>
                  <a:tcPr anchor="ctr" marL="64008" marR="64008">
                    <a:solidFill>
                      <a:srgbClr val="22314A"/>
                    </a:solidFill>
                  </a:tcPr>
                </a:tc>
                <a:tc>
                  <a:txBody>
                    <a:bodyPr/>
                    <a:lstStyle/>
                    <a:p>
                      <a:pPr algn="l">
                        <a:spcAft>
                          <a:spcPts val="400"/>
                        </a:spcAft>
                      </a:pPr>
                      <a:r>
                        <a:rPr sz="1150" b="1">
                          <a:solidFill>
                            <a:srgbClr val="4F9BF5"/>
                          </a:solidFill>
                          <a:latin typeface="Calibri"/>
                        </a:rPr>
                        <a:t>Type</a:t>
                      </a:r>
                    </a:p>
                  </a:txBody>
                  <a:tcPr anchor="ctr" marL="64008" marR="64008">
                    <a:solidFill>
                      <a:srgbClr val="22314A"/>
                    </a:solidFill>
                  </a:tcPr>
                </a:tc>
                <a:tc>
                  <a:txBody>
                    <a:bodyPr/>
                    <a:lstStyle/>
                    <a:p>
                      <a:pPr algn="l">
                        <a:spcAft>
                          <a:spcPts val="400"/>
                        </a:spcAft>
                      </a:pPr>
                      <a:r>
                        <a:rPr sz="1150" b="1">
                          <a:solidFill>
                            <a:srgbClr val="4F9BF5"/>
                          </a:solidFill>
                          <a:latin typeface="Calibri"/>
                        </a:rPr>
                        <a:t>Lifetime</a:t>
                      </a:r>
                    </a:p>
                  </a:txBody>
                  <a:tcPr anchor="ctr" marL="64008" marR="64008">
                    <a:solidFill>
                      <a:srgbClr val="22314A"/>
                    </a:solidFill>
                  </a:tcPr>
                </a:tc>
              </a:tr>
              <a:tr h="512064">
                <a:tc>
                  <a:txBody>
                    <a:bodyPr/>
                    <a:lstStyle/>
                    <a:p>
                      <a:pPr algn="l">
                        <a:spcAft>
                          <a:spcPts val="400"/>
                        </a:spcAft>
                      </a:pPr>
                      <a:r>
                        <a:rPr sz="1150" b="0">
                          <a:solidFill>
                            <a:srgbClr val="ECF1F8"/>
                          </a:solidFill>
                          <a:latin typeface="Calibri"/>
                        </a:rPr>
                        <a:t>room:{id}:seq</a:t>
                      </a:r>
                    </a:p>
                  </a:txBody>
                  <a:tcPr anchor="ctr" marL="64008" marR="64008">
                    <a:solidFill>
                      <a:srgbClr val="182236"/>
                    </a:solidFill>
                  </a:tcPr>
                </a:tc>
                <a:tc>
                  <a:txBody>
                    <a:bodyPr/>
                    <a:lstStyle/>
                    <a:p>
                      <a:pPr algn="l">
                        <a:spcAft>
                          <a:spcPts val="400"/>
                        </a:spcAft>
                      </a:pPr>
                      <a:r>
                        <a:rPr sz="1150" b="0">
                          <a:solidFill>
                            <a:srgbClr val="ECF1F8"/>
                          </a:solidFill>
                          <a:latin typeface="Calibri"/>
                        </a:rPr>
                        <a:t>Counter</a:t>
                      </a:r>
                    </a:p>
                  </a:txBody>
                  <a:tcPr anchor="ctr" marL="64008" marR="64008">
                    <a:solidFill>
                      <a:srgbClr val="182236"/>
                    </a:solidFill>
                  </a:tcPr>
                </a:tc>
                <a:tc>
                  <a:txBody>
                    <a:bodyPr/>
                    <a:lstStyle/>
                    <a:p>
                      <a:pPr algn="l">
                        <a:spcAft>
                          <a:spcPts val="400"/>
                        </a:spcAft>
                      </a:pPr>
                      <a:r>
                        <a:rPr sz="1150" b="0">
                          <a:solidFill>
                            <a:srgbClr val="ECF1F8"/>
                          </a:solidFill>
                          <a:latin typeface="Calibri"/>
                        </a:rPr>
                        <a:t>Persistent, realigned on join</a:t>
                      </a:r>
                    </a:p>
                  </a:txBody>
                  <a:tcPr anchor="ctr" marL="64008" marR="64008">
                    <a:solidFill>
                      <a:srgbClr val="182236"/>
                    </a:solidFill>
                  </a:tcPr>
                </a:tc>
              </a:tr>
              <a:tr h="512064">
                <a:tc>
                  <a:txBody>
                    <a:bodyPr/>
                    <a:lstStyle/>
                    <a:p>
                      <a:pPr algn="l">
                        <a:spcAft>
                          <a:spcPts val="400"/>
                        </a:spcAft>
                      </a:pPr>
                      <a:r>
                        <a:rPr sz="1150" b="0">
                          <a:solidFill>
                            <a:srgbClr val="ECF1F8"/>
                          </a:solidFill>
                          <a:latin typeface="Calibri"/>
                        </a:rPr>
                        <a:t>wb:room:{CODE}</a:t>
                      </a:r>
                    </a:p>
                  </a:txBody>
                  <a:tcPr anchor="ctr" marL="64008" marR="64008">
                    <a:solidFill>
                      <a:srgbClr val="141E30"/>
                    </a:solidFill>
                  </a:tcPr>
                </a:tc>
                <a:tc>
                  <a:txBody>
                    <a:bodyPr/>
                    <a:lstStyle/>
                    <a:p>
                      <a:pPr algn="l">
                        <a:spcAft>
                          <a:spcPts val="400"/>
                        </a:spcAft>
                      </a:pPr>
                      <a:r>
                        <a:rPr sz="1150" b="0">
                          <a:solidFill>
                            <a:srgbClr val="ECF1F8"/>
                          </a:solidFill>
                          <a:latin typeface="Calibri"/>
                        </a:rPr>
                        <a:t>Pub/Sub</a:t>
                      </a:r>
                    </a:p>
                  </a:txBody>
                  <a:tcPr anchor="ctr" marL="64008" marR="64008">
                    <a:solidFill>
                      <a:srgbClr val="141E30"/>
                    </a:solidFill>
                  </a:tcPr>
                </a:tc>
                <a:tc>
                  <a:txBody>
                    <a:bodyPr/>
                    <a:lstStyle/>
                    <a:p>
                      <a:pPr algn="l">
                        <a:spcAft>
                          <a:spcPts val="400"/>
                        </a:spcAft>
                      </a:pPr>
                      <a:r>
                        <a:rPr sz="1150" b="0">
                          <a:solidFill>
                            <a:srgbClr val="ECF1F8"/>
                          </a:solidFill>
                          <a:latin typeface="Calibri"/>
                        </a:rPr>
                        <a:t>Transient, never stored</a:t>
                      </a:r>
                    </a:p>
                  </a:txBody>
                  <a:tcPr anchor="ctr" marL="64008" marR="64008">
                    <a:solidFill>
                      <a:srgbClr val="141E30"/>
                    </a:solidFill>
                  </a:tcPr>
                </a:tc>
              </a:tr>
              <a:tr h="512064">
                <a:tc>
                  <a:txBody>
                    <a:bodyPr/>
                    <a:lstStyle/>
                    <a:p>
                      <a:pPr algn="l">
                        <a:spcAft>
                          <a:spcPts val="400"/>
                        </a:spcAft>
                      </a:pPr>
                      <a:r>
                        <a:rPr sz="1150" b="0">
                          <a:solidFill>
                            <a:srgbClr val="ECF1F8"/>
                          </a:solidFill>
                          <a:latin typeface="Calibri"/>
                        </a:rPr>
                        <a:t>room:{CODE}:presence</a:t>
                      </a:r>
                    </a:p>
                  </a:txBody>
                  <a:tcPr anchor="ctr" marL="64008" marR="64008">
                    <a:solidFill>
                      <a:srgbClr val="182236"/>
                    </a:solidFill>
                  </a:tcPr>
                </a:tc>
                <a:tc>
                  <a:txBody>
                    <a:bodyPr/>
                    <a:lstStyle/>
                    <a:p>
                      <a:pPr algn="l">
                        <a:spcAft>
                          <a:spcPts val="400"/>
                        </a:spcAft>
                      </a:pPr>
                      <a:r>
                        <a:rPr sz="1150" b="0">
                          <a:solidFill>
                            <a:srgbClr val="ECF1F8"/>
                          </a:solidFill>
                          <a:latin typeface="Calibri"/>
                        </a:rPr>
                        <a:t>Hash</a:t>
                      </a:r>
                    </a:p>
                  </a:txBody>
                  <a:tcPr anchor="ctr" marL="64008" marR="64008">
                    <a:solidFill>
                      <a:srgbClr val="182236"/>
                    </a:solidFill>
                  </a:tcPr>
                </a:tc>
                <a:tc>
                  <a:txBody>
                    <a:bodyPr/>
                    <a:lstStyle/>
                    <a:p>
                      <a:pPr algn="l">
                        <a:spcAft>
                          <a:spcPts val="400"/>
                        </a:spcAft>
                      </a:pPr>
                      <a:r>
                        <a:rPr sz="1150" b="0">
                          <a:solidFill>
                            <a:srgbClr val="ECF1F8"/>
                          </a:solidFill>
                          <a:latin typeface="Calibri"/>
                        </a:rPr>
                        <a:t>Expires after 2 min of silence</a:t>
                      </a:r>
                    </a:p>
                  </a:txBody>
                  <a:tcPr anchor="ctr" marL="64008" marR="64008">
                    <a:solidFill>
                      <a:srgbClr val="182236"/>
                    </a:solidFill>
                  </a:tcPr>
                </a:tc>
              </a:tr>
            </a:tbl>
          </a:graphicData>
        </a:graphic>
      </p:graphicFrame>
      <p:sp>
        <p:nvSpPr>
          <p:cNvPr id="10" name="TextBox 9"/>
          <p:cNvSpPr txBox="1"/>
          <p:nvPr/>
        </p:nvSpPr>
        <p:spPr>
          <a:xfrm>
            <a:off x="566928" y="4069080"/>
            <a:ext cx="11064240" cy="1463040"/>
          </a:xfrm>
          <a:prstGeom prst="rect">
            <a:avLst/>
          </a:prstGeom>
          <a:noFill/>
        </p:spPr>
        <p:txBody>
          <a:bodyPr wrap="square" anchor="t" lIns="0" rIns="0" tIns="0" bIns="0">
            <a:spAutoFit/>
          </a:bodyPr>
          <a:lstStyle/>
          <a:p>
            <a:pPr algn="l">
              <a:spcAft>
                <a:spcPts val="400"/>
              </a:spcAft>
            </a:pPr>
            <a:r>
              <a:rPr sz="1600" b="1">
                <a:solidFill>
                  <a:srgbClr val="ECF1F8"/>
                </a:solidFill>
                <a:latin typeface="Calibri"/>
              </a:rPr>
              <a:t>No amount of tuning makes an unbounded embedded array safe.</a:t>
            </a:r>
          </a:p>
          <a:p>
            <a:pPr algn="l">
              <a:lnSpc>
                <a:spcPct val="112000"/>
              </a:lnSpc>
              <a:spcAft>
                <a:spcPts val="400"/>
              </a:spcAft>
            </a:pPr>
            <a:r>
              <a:rPr sz="1350" b="0">
                <a:solidFill>
                  <a:srgbClr val="93A4BD"/>
                </a:solidFill>
                <a:latin typeface="Calibri"/>
              </a:rPr>
              <a:t>At 1,576 bytes per stroke, the largest room alone would be far past the 16 MB document limit. Referencing also lets one stroke be undone or restyled without rewriting the room.</a:t>
            </a:r>
          </a:p>
        </p:txBody>
      </p:sp>
      <p:sp>
        <p:nvSpPr>
          <p:cNvPr id="11" name="TextBox 10"/>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Sections 3.5 and 3.6 of the report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DATABASE IMPLEMENTATION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The full CRUD surface, over REST and WebSocket</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54480"/>
            <a:ext cx="11064240" cy="310896"/>
          </a:xfrm>
          <a:prstGeom prst="rect">
            <a:avLst/>
          </a:prstGeom>
          <a:noFill/>
        </p:spPr>
        <p:txBody>
          <a:bodyPr wrap="square" anchor="t" lIns="0" rIns="0" tIns="0" bIns="0">
            <a:spAutoFit/>
          </a:bodyPr>
          <a:lstStyle/>
          <a:p>
            <a:pPr algn="l">
              <a:spcAft>
                <a:spcPts val="400"/>
              </a:spcAft>
            </a:pPr>
            <a:r>
              <a:rPr sz="1400" b="0">
                <a:solidFill>
                  <a:srgbClr val="93A4BD"/>
                </a:solidFill>
                <a:latin typeface="Calibri"/>
              </a:rPr>
              <a:t>An append-only log has no natural update or delete. These were designed in, not bolted on — and every one is reachable in Postman.</a:t>
            </a:r>
          </a:p>
        </p:txBody>
      </p:sp>
      <p:graphicFrame>
        <p:nvGraphicFramePr>
          <p:cNvPr id="7" name="Table 6"/>
          <p:cNvGraphicFramePr>
            <a:graphicFrameLocks noGrp="1"/>
          </p:cNvGraphicFramePr>
          <p:nvPr/>
        </p:nvGraphicFramePr>
        <p:xfrm>
          <a:off x="566928" y="1965960"/>
          <a:ext cx="11064240" cy="2834640"/>
        </p:xfrm>
        <a:graphic>
          <a:graphicData uri="http://schemas.openxmlformats.org/drawingml/2006/table">
            <a:tbl>
              <a:tblPr firstRow="1" bandRow="1">
                <a:tableStyleId>{5C22544A-7EE6-4342-B048-85BDC9FD1C3A}</a:tableStyleId>
              </a:tblPr>
              <a:tblGrid>
                <a:gridCol w="502920"/>
                <a:gridCol w="6172200"/>
                <a:gridCol w="4389120"/>
              </a:tblGrid>
              <a:tr h="566928">
                <a:tc>
                  <a:txBody>
                    <a:bodyPr/>
                    <a:lstStyle/>
                    <a:p>
                      <a:pPr algn="l">
                        <a:spcAft>
                          <a:spcPts val="400"/>
                        </a:spcAft>
                      </a:pPr>
                      <a:r>
                        <a:rPr sz="1200" b="1">
                          <a:solidFill>
                            <a:srgbClr val="4F9BF5"/>
                          </a:solidFill>
                          <a:latin typeface="Calibri"/>
                        </a:rPr>
                        <a:t/>
                      </a:r>
                    </a:p>
                  </a:txBody>
                  <a:tcPr anchor="ctr" marL="64008" marR="64008">
                    <a:solidFill>
                      <a:srgbClr val="22314A"/>
                    </a:solidFill>
                  </a:tcPr>
                </a:tc>
                <a:tc>
                  <a:txBody>
                    <a:bodyPr/>
                    <a:lstStyle/>
                    <a:p>
                      <a:pPr algn="l">
                        <a:spcAft>
                          <a:spcPts val="400"/>
                        </a:spcAft>
                      </a:pPr>
                      <a:r>
                        <a:rPr sz="1200" b="1">
                          <a:solidFill>
                            <a:srgbClr val="4F9BF5"/>
                          </a:solidFill>
                          <a:latin typeface="Calibri"/>
                        </a:rPr>
                        <a:t>Endpoints</a:t>
                      </a:r>
                    </a:p>
                  </a:txBody>
                  <a:tcPr anchor="ctr" marL="64008" marR="64008">
                    <a:solidFill>
                      <a:srgbClr val="22314A"/>
                    </a:solidFill>
                  </a:tcPr>
                </a:tc>
                <a:tc>
                  <a:txBody>
                    <a:bodyPr/>
                    <a:lstStyle/>
                    <a:p>
                      <a:pPr algn="l">
                        <a:spcAft>
                          <a:spcPts val="400"/>
                        </a:spcAft>
                      </a:pPr>
                      <a:r>
                        <a:rPr sz="1200" b="1">
                          <a:solidFill>
                            <a:srgbClr val="4F9BF5"/>
                          </a:solidFill>
                          <a:latin typeface="Calibri"/>
                        </a:rPr>
                        <a:t>What it does</a:t>
                      </a:r>
                    </a:p>
                  </a:txBody>
                  <a:tcPr anchor="ctr" marL="64008" marR="64008">
                    <a:solidFill>
                      <a:srgbClr val="22314A"/>
                    </a:solidFill>
                  </a:tcPr>
                </a:tc>
              </a:tr>
              <a:tr h="566928">
                <a:tc>
                  <a:txBody>
                    <a:bodyPr/>
                    <a:lstStyle/>
                    <a:p>
                      <a:pPr algn="l">
                        <a:spcAft>
                          <a:spcPts val="400"/>
                        </a:spcAft>
                      </a:pPr>
                      <a:r>
                        <a:rPr sz="1200" b="0">
                          <a:solidFill>
                            <a:srgbClr val="ECF1F8"/>
                          </a:solidFill>
                          <a:latin typeface="Calibri"/>
                        </a:rPr>
                        <a:t>C</a:t>
                      </a:r>
                    </a:p>
                  </a:txBody>
                  <a:tcPr anchor="ctr" marL="64008" marR="64008">
                    <a:solidFill>
                      <a:srgbClr val="182236"/>
                    </a:solidFill>
                  </a:tcPr>
                </a:tc>
                <a:tc>
                  <a:txBody>
                    <a:bodyPr/>
                    <a:lstStyle/>
                    <a:p>
                      <a:pPr algn="l">
                        <a:spcAft>
                          <a:spcPts val="400"/>
                        </a:spcAft>
                      </a:pPr>
                      <a:r>
                        <a:rPr sz="1200" b="0">
                          <a:solidFill>
                            <a:srgbClr val="ECF1F8"/>
                          </a:solidFill>
                          <a:latin typeface="Calibri"/>
                        </a:rPr>
                        <a:t>POST /api/rooms  ·  POST /api/rooms/{code}/strokes</a:t>
                      </a:r>
                    </a:p>
                  </a:txBody>
                  <a:tcPr anchor="ctr" marL="64008" marR="64008">
                    <a:solidFill>
                      <a:srgbClr val="182236"/>
                    </a:solidFill>
                  </a:tcPr>
                </a:tc>
                <a:tc>
                  <a:txBody>
                    <a:bodyPr/>
                    <a:lstStyle/>
                    <a:p>
                      <a:pPr algn="l">
                        <a:spcAft>
                          <a:spcPts val="400"/>
                        </a:spcAft>
                      </a:pPr>
                      <a:r>
                        <a:rPr sz="1200" b="0">
                          <a:solidFill>
                            <a:srgbClr val="ECF1F8"/>
                          </a:solidFill>
                          <a:latin typeface="Calibri"/>
                        </a:rPr>
                        <a:t>Room with a unique code; one stroke document</a:t>
                      </a:r>
                    </a:p>
                  </a:txBody>
                  <a:tcPr anchor="ctr" marL="64008" marR="64008">
                    <a:solidFill>
                      <a:srgbClr val="182236"/>
                    </a:solidFill>
                  </a:tcPr>
                </a:tc>
              </a:tr>
              <a:tr h="566928">
                <a:tc>
                  <a:txBody>
                    <a:bodyPr/>
                    <a:lstStyle/>
                    <a:p>
                      <a:pPr algn="l">
                        <a:spcAft>
                          <a:spcPts val="400"/>
                        </a:spcAft>
                      </a:pPr>
                      <a:r>
                        <a:rPr sz="1200" b="0">
                          <a:solidFill>
                            <a:srgbClr val="ECF1F8"/>
                          </a:solidFill>
                          <a:latin typeface="Calibri"/>
                        </a:rPr>
                        <a:t>R</a:t>
                      </a:r>
                    </a:p>
                  </a:txBody>
                  <a:tcPr anchor="ctr" marL="64008" marR="64008">
                    <a:solidFill>
                      <a:srgbClr val="141E30"/>
                    </a:solidFill>
                  </a:tcPr>
                </a:tc>
                <a:tc>
                  <a:txBody>
                    <a:bodyPr/>
                    <a:lstStyle/>
                    <a:p>
                      <a:pPr algn="l">
                        <a:spcAft>
                          <a:spcPts val="400"/>
                        </a:spcAft>
                      </a:pPr>
                      <a:r>
                        <a:rPr sz="1200" b="0">
                          <a:solidFill>
                            <a:srgbClr val="ECF1F8"/>
                          </a:solidFill>
                          <a:latin typeface="Calibri"/>
                        </a:rPr>
                        <a:t>GET /api/rooms  ·  /rooms/{code}/strokes?afterSeq=  ·  /strokes/{id}</a:t>
                      </a:r>
                    </a:p>
                  </a:txBody>
                  <a:tcPr anchor="ctr" marL="64008" marR="64008">
                    <a:solidFill>
                      <a:srgbClr val="141E30"/>
                    </a:solidFill>
                  </a:tcPr>
                </a:tc>
                <a:tc>
                  <a:txBody>
                    <a:bodyPr/>
                    <a:lstStyle/>
                    <a:p>
                      <a:pPr algn="l">
                        <a:spcAft>
                          <a:spcPts val="400"/>
                        </a:spcAft>
                      </a:pPr>
                      <a:r>
                        <a:rPr sz="1200" b="0">
                          <a:solidFill>
                            <a:srgbClr val="ECF1F8"/>
                          </a:solidFill>
                          <a:latin typeface="Calibri"/>
                        </a:rPr>
                        <a:t>List, full replay, incremental tail, single document</a:t>
                      </a:r>
                    </a:p>
                  </a:txBody>
                  <a:tcPr anchor="ctr" marL="64008" marR="64008">
                    <a:solidFill>
                      <a:srgbClr val="141E30"/>
                    </a:solidFill>
                  </a:tcPr>
                </a:tc>
              </a:tr>
              <a:tr h="566928">
                <a:tc>
                  <a:txBody>
                    <a:bodyPr/>
                    <a:lstStyle/>
                    <a:p>
                      <a:pPr algn="l">
                        <a:spcAft>
                          <a:spcPts val="400"/>
                        </a:spcAft>
                      </a:pPr>
                      <a:r>
                        <a:rPr sz="1200" b="0">
                          <a:solidFill>
                            <a:srgbClr val="ECF1F8"/>
                          </a:solidFill>
                          <a:latin typeface="Calibri"/>
                        </a:rPr>
                        <a:t>U</a:t>
                      </a:r>
                    </a:p>
                  </a:txBody>
                  <a:tcPr anchor="ctr" marL="64008" marR="64008">
                    <a:solidFill>
                      <a:srgbClr val="182236"/>
                    </a:solidFill>
                  </a:tcPr>
                </a:tc>
                <a:tc>
                  <a:txBody>
                    <a:bodyPr/>
                    <a:lstStyle/>
                    <a:p>
                      <a:pPr algn="l">
                        <a:spcAft>
                          <a:spcPts val="400"/>
                        </a:spcAft>
                      </a:pPr>
                      <a:r>
                        <a:rPr sz="1200" b="0">
                          <a:solidFill>
                            <a:srgbClr val="ECF1F8"/>
                          </a:solidFill>
                          <a:latin typeface="Calibri"/>
                        </a:rPr>
                        <a:t>PATCH /api/rooms/{code}  ·  PATCH /api/strokes/{id}  ·  POST /strokes/{id}/move</a:t>
                      </a:r>
                    </a:p>
                  </a:txBody>
                  <a:tcPr anchor="ctr" marL="64008" marR="64008">
                    <a:solidFill>
                      <a:srgbClr val="182236"/>
                    </a:solidFill>
                  </a:tcPr>
                </a:tc>
                <a:tc>
                  <a:txBody>
                    <a:bodyPr/>
                    <a:lstStyle/>
                    <a:p>
                      <a:pPr algn="l">
                        <a:spcAft>
                          <a:spcPts val="400"/>
                        </a:spcAft>
                      </a:pPr>
                      <a:r>
                        <a:rPr sz="1200" b="0">
                          <a:solidFill>
                            <a:srgbClr val="ECF1F8"/>
                          </a:solidFill>
                          <a:latin typeface="Calibri"/>
                        </a:rPr>
                        <a:t>Rename; restyle nested fields; $inc nested geometry</a:t>
                      </a:r>
                    </a:p>
                  </a:txBody>
                  <a:tcPr anchor="ctr" marL="64008" marR="64008">
                    <a:solidFill>
                      <a:srgbClr val="182236"/>
                    </a:solidFill>
                  </a:tcPr>
                </a:tc>
              </a:tr>
              <a:tr h="566928">
                <a:tc>
                  <a:txBody>
                    <a:bodyPr/>
                    <a:lstStyle/>
                    <a:p>
                      <a:pPr algn="l">
                        <a:spcAft>
                          <a:spcPts val="400"/>
                        </a:spcAft>
                      </a:pPr>
                      <a:r>
                        <a:rPr sz="1200" b="0">
                          <a:solidFill>
                            <a:srgbClr val="ECF1F8"/>
                          </a:solidFill>
                          <a:latin typeface="Calibri"/>
                        </a:rPr>
                        <a:t>D</a:t>
                      </a:r>
                    </a:p>
                  </a:txBody>
                  <a:tcPr anchor="ctr" marL="64008" marR="64008">
                    <a:solidFill>
                      <a:srgbClr val="141E30"/>
                    </a:solidFill>
                  </a:tcPr>
                </a:tc>
                <a:tc>
                  <a:txBody>
                    <a:bodyPr/>
                    <a:lstStyle/>
                    <a:p>
                      <a:pPr algn="l">
                        <a:spcAft>
                          <a:spcPts val="400"/>
                        </a:spcAft>
                      </a:pPr>
                      <a:r>
                        <a:rPr sz="1200" b="0">
                          <a:solidFill>
                            <a:srgbClr val="ECF1F8"/>
                          </a:solidFill>
                          <a:latin typeface="Calibri"/>
                        </a:rPr>
                        <a:t>POST /rooms/{code}/undo | redo | compact  ·  DELETE /strokes/{id}  ·  DELETE /rooms/{code}</a:t>
                      </a:r>
                    </a:p>
                  </a:txBody>
                  <a:tcPr anchor="ctr" marL="64008" marR="64008">
                    <a:solidFill>
                      <a:srgbClr val="141E30"/>
                    </a:solidFill>
                  </a:tcPr>
                </a:tc>
                <a:tc>
                  <a:txBody>
                    <a:bodyPr/>
                    <a:lstStyle/>
                    <a:p>
                      <a:pPr algn="l">
                        <a:spcAft>
                          <a:spcPts val="400"/>
                        </a:spcAft>
                      </a:pPr>
                      <a:r>
                        <a:rPr sz="1200" b="0">
                          <a:solidFill>
                            <a:srgbClr val="ECF1F8"/>
                          </a:solidFill>
                          <a:latin typeface="Calibri"/>
                        </a:rPr>
                        <a:t>Soft delete, hard delete, and cascade</a:t>
                      </a:r>
                    </a:p>
                  </a:txBody>
                  <a:tcPr anchor="ctr" marL="64008" marR="64008">
                    <a:solidFill>
                      <a:srgbClr val="141E30"/>
                    </a:solidFill>
                  </a:tcPr>
                </a:tc>
              </a:tr>
            </a:tbl>
          </a:graphicData>
        </a:graphic>
      </p:graphicFrame>
      <p:sp>
        <p:nvSpPr>
          <p:cNvPr id="8" name="TextBox 7"/>
          <p:cNvSpPr txBox="1"/>
          <p:nvPr/>
        </p:nvSpPr>
        <p:spPr>
          <a:xfrm>
            <a:off x="566928" y="4434840"/>
            <a:ext cx="11064240" cy="274320"/>
          </a:xfrm>
          <a:prstGeom prst="rect">
            <a:avLst/>
          </a:prstGeom>
          <a:noFill/>
        </p:spPr>
        <p:txBody>
          <a:bodyPr wrap="square" anchor="t" lIns="0" rIns="0" tIns="0" bIns="0">
            <a:spAutoFit/>
          </a:bodyPr>
          <a:lstStyle/>
          <a:p>
            <a:pPr>
              <a:lnSpc>
                <a:spcPct val="104000"/>
              </a:lnSpc>
            </a:pPr>
            <a:r>
              <a:rPr sz="1400" b="1">
                <a:solidFill>
                  <a:srgbClr val="ECF1F8"/>
                </a:solidFill>
                <a:latin typeface="Calibri"/>
              </a:rPr>
              <a:t>A stroke created over REST appears on an open board immediately, </a:t>
            </a:r>
            <a:r>
              <a:rPr sz="1400" b="0">
                <a:solidFill>
                  <a:srgbClr val="93A4BD"/>
                </a:solidFill>
                <a:latin typeface="Calibri"/>
              </a:rPr>
              <a:t>because the endpoint publishes to Redis — a far better demonstration than a refresh.</a:t>
            </a:r>
          </a:p>
        </p:txBody>
      </p:sp>
      <p:sp>
        <p:nvSpPr>
          <p:cNvPr id="9" name="TextBox 8"/>
          <p:cNvSpPr txBox="1"/>
          <p:nvPr/>
        </p:nvSpPr>
        <p:spPr>
          <a:xfrm>
            <a:off x="566928" y="5001768"/>
            <a:ext cx="11064240" cy="274320"/>
          </a:xfrm>
          <a:prstGeom prst="rect">
            <a:avLst/>
          </a:prstGeom>
          <a:noFill/>
        </p:spPr>
        <p:txBody>
          <a:bodyPr wrap="square" anchor="t" lIns="0" rIns="0" tIns="0" bIns="0">
            <a:spAutoFit/>
          </a:bodyPr>
          <a:lstStyle/>
          <a:p>
            <a:pPr>
              <a:lnSpc>
                <a:spcPct val="104000"/>
              </a:lnSpc>
            </a:pPr>
            <a:r>
              <a:rPr sz="1400" b="1">
                <a:solidFill>
                  <a:srgbClr val="ECF1F8"/>
                </a:solidFill>
                <a:latin typeface="Calibri"/>
              </a:rPr>
              <a:t>Verified by script, not by assertion. </a:t>
            </a:r>
            <a:r>
              <a:rPr sz="1400" b="0">
                <a:solidFill>
                  <a:srgbClr val="93A4BD"/>
                </a:solidFill>
                <a:latin typeface="Calibri"/>
              </a:rPr>
              <a:t>A run walks every operation including the concurrent-undo race and reports pass or fail.</a:t>
            </a:r>
          </a:p>
        </p:txBody>
      </p:sp>
      <p:sp>
        <p:nvSpPr>
          <p:cNvPr id="10" name="TextBox 9"/>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4 of the report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DATABASE IMPLEMENTATION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Three deletion semantics, and the one real race</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600200"/>
          <a:ext cx="5486400" cy="1828800"/>
        </p:xfrm>
        <a:graphic>
          <a:graphicData uri="http://schemas.openxmlformats.org/drawingml/2006/table">
            <a:tbl>
              <a:tblPr firstRow="1" bandRow="1">
                <a:tableStyleId>{5C22544A-7EE6-4342-B048-85BDC9FD1C3A}</a:tableStyleId>
              </a:tblPr>
              <a:tblGrid>
                <a:gridCol w="1920240"/>
                <a:gridCol w="1463040"/>
                <a:gridCol w="2103120"/>
              </a:tblGrid>
              <a:tr h="457200">
                <a:tc>
                  <a:txBody>
                    <a:bodyPr/>
                    <a:lstStyle/>
                    <a:p>
                      <a:pPr algn="l">
                        <a:spcAft>
                          <a:spcPts val="400"/>
                        </a:spcAft>
                      </a:pPr>
                      <a:r>
                        <a:rPr sz="1250" b="1">
                          <a:solidFill>
                            <a:srgbClr val="4F9BF5"/>
                          </a:solidFill>
                          <a:latin typeface="Calibri"/>
                        </a:rPr>
                        <a:t>Semantics</a:t>
                      </a:r>
                    </a:p>
                  </a:txBody>
                  <a:tcPr anchor="ctr" marL="64008" marR="64008">
                    <a:solidFill>
                      <a:srgbClr val="22314A"/>
                    </a:solidFill>
                  </a:tcPr>
                </a:tc>
                <a:tc>
                  <a:txBody>
                    <a:bodyPr/>
                    <a:lstStyle/>
                    <a:p>
                      <a:pPr algn="l">
                        <a:spcAft>
                          <a:spcPts val="400"/>
                        </a:spcAft>
                      </a:pPr>
                      <a:r>
                        <a:rPr sz="1250" b="1">
                          <a:solidFill>
                            <a:srgbClr val="4F9BF5"/>
                          </a:solidFill>
                          <a:latin typeface="Calibri"/>
                        </a:rPr>
                        <a:t>Retains data</a:t>
                      </a:r>
                    </a:p>
                  </a:txBody>
                  <a:tcPr anchor="ctr" marL="64008" marR="64008">
                    <a:solidFill>
                      <a:srgbClr val="22314A"/>
                    </a:solidFill>
                  </a:tcPr>
                </a:tc>
                <a:tc>
                  <a:txBody>
                    <a:bodyPr/>
                    <a:lstStyle/>
                    <a:p>
                      <a:pPr algn="l">
                        <a:spcAft>
                          <a:spcPts val="400"/>
                        </a:spcAft>
                      </a:pPr>
                      <a:r>
                        <a:rPr sz="1250" b="1">
                          <a:solidFill>
                            <a:srgbClr val="4F9BF5"/>
                          </a:solidFill>
                          <a:latin typeface="Calibri"/>
                        </a:rPr>
                        <a:t>Used for</a:t>
                      </a:r>
                    </a:p>
                  </a:txBody>
                  <a:tcPr anchor="ctr" marL="64008" marR="64008">
                    <a:solidFill>
                      <a:srgbClr val="22314A"/>
                    </a:solidFill>
                  </a:tcPr>
                </a:tc>
              </a:tr>
              <a:tr h="457200">
                <a:tc>
                  <a:txBody>
                    <a:bodyPr/>
                    <a:lstStyle/>
                    <a:p>
                      <a:pPr algn="l">
                        <a:spcAft>
                          <a:spcPts val="400"/>
                        </a:spcAft>
                      </a:pPr>
                      <a:r>
                        <a:rPr sz="1250" b="0">
                          <a:solidFill>
                            <a:srgbClr val="ECF1F8"/>
                          </a:solidFill>
                          <a:latin typeface="Calibri"/>
                        </a:rPr>
                        <a:t>Soft delete</a:t>
                      </a:r>
                    </a:p>
                  </a:txBody>
                  <a:tcPr anchor="ctr" marL="64008" marR="64008">
                    <a:solidFill>
                      <a:srgbClr val="182236"/>
                    </a:solidFill>
                  </a:tcPr>
                </a:tc>
                <a:tc>
                  <a:txBody>
                    <a:bodyPr/>
                    <a:lstStyle/>
                    <a:p>
                      <a:pPr algn="l">
                        <a:spcAft>
                          <a:spcPts val="400"/>
                        </a:spcAft>
                      </a:pPr>
                      <a:r>
                        <a:rPr sz="1250" b="0">
                          <a:solidFill>
                            <a:srgbClr val="ECF1F8"/>
                          </a:solidFill>
                          <a:latin typeface="Calibri"/>
                        </a:rPr>
                        <a:t>Yes, fully</a:t>
                      </a:r>
                    </a:p>
                  </a:txBody>
                  <a:tcPr anchor="ctr" marL="64008" marR="64008">
                    <a:solidFill>
                      <a:srgbClr val="182236"/>
                    </a:solidFill>
                  </a:tcPr>
                </a:tc>
                <a:tc>
                  <a:txBody>
                    <a:bodyPr/>
                    <a:lstStyle/>
                    <a:p>
                      <a:pPr algn="l">
                        <a:spcAft>
                          <a:spcPts val="400"/>
                        </a:spcAft>
                      </a:pPr>
                      <a:r>
                        <a:rPr sz="1250" b="0">
                          <a:solidFill>
                            <a:srgbClr val="ECF1F8"/>
                          </a:solidFill>
                          <a:latin typeface="Calibri"/>
                        </a:rPr>
                        <a:t>Undo and redo</a:t>
                      </a:r>
                    </a:p>
                  </a:txBody>
                  <a:tcPr anchor="ctr" marL="64008" marR="64008">
                    <a:solidFill>
                      <a:srgbClr val="182236"/>
                    </a:solidFill>
                  </a:tcPr>
                </a:tc>
              </a:tr>
              <a:tr h="457200">
                <a:tc>
                  <a:txBody>
                    <a:bodyPr/>
                    <a:lstStyle/>
                    <a:p>
                      <a:pPr algn="l">
                        <a:spcAft>
                          <a:spcPts val="400"/>
                        </a:spcAft>
                      </a:pPr>
                      <a:r>
                        <a:rPr sz="1250" b="0">
                          <a:solidFill>
                            <a:srgbClr val="ECF1F8"/>
                          </a:solidFill>
                          <a:latin typeface="Calibri"/>
                        </a:rPr>
                        <a:t>Compaction</a:t>
                      </a:r>
                    </a:p>
                  </a:txBody>
                  <a:tcPr anchor="ctr" marL="64008" marR="64008">
                    <a:solidFill>
                      <a:srgbClr val="141E30"/>
                    </a:solidFill>
                  </a:tcPr>
                </a:tc>
                <a:tc>
                  <a:txBody>
                    <a:bodyPr/>
                    <a:lstStyle/>
                    <a:p>
                      <a:pPr algn="l">
                        <a:spcAft>
                          <a:spcPts val="400"/>
                        </a:spcAft>
                      </a:pPr>
                      <a:r>
                        <a:rPr sz="1250" b="0">
                          <a:solidFill>
                            <a:srgbClr val="ECF1F8"/>
                          </a:solidFill>
                          <a:latin typeface="Calibri"/>
                        </a:rPr>
                        <a:t>No</a:t>
                      </a:r>
                    </a:p>
                  </a:txBody>
                  <a:tcPr anchor="ctr" marL="64008" marR="64008">
                    <a:solidFill>
                      <a:srgbClr val="141E30"/>
                    </a:solidFill>
                  </a:tcPr>
                </a:tc>
                <a:tc>
                  <a:txBody>
                    <a:bodyPr/>
                    <a:lstStyle/>
                    <a:p>
                      <a:pPr algn="l">
                        <a:spcAft>
                          <a:spcPts val="400"/>
                        </a:spcAft>
                      </a:pPr>
                      <a:r>
                        <a:rPr sz="1250" b="0">
                          <a:solidFill>
                            <a:srgbClr val="ECF1F8"/>
                          </a:solidFill>
                          <a:latin typeface="Calibri"/>
                        </a:rPr>
                        <a:t>Reclaiming finished boards</a:t>
                      </a:r>
                    </a:p>
                  </a:txBody>
                  <a:tcPr anchor="ctr" marL="64008" marR="64008">
                    <a:solidFill>
                      <a:srgbClr val="141E30"/>
                    </a:solidFill>
                  </a:tcPr>
                </a:tc>
              </a:tr>
              <a:tr h="457200">
                <a:tc>
                  <a:txBody>
                    <a:bodyPr/>
                    <a:lstStyle/>
                    <a:p>
                      <a:pPr algn="l">
                        <a:spcAft>
                          <a:spcPts val="400"/>
                        </a:spcAft>
                      </a:pPr>
                      <a:r>
                        <a:rPr sz="1250" b="0">
                          <a:solidFill>
                            <a:srgbClr val="ECF1F8"/>
                          </a:solidFill>
                          <a:latin typeface="Calibri"/>
                        </a:rPr>
                        <a:t>Cascade delete</a:t>
                      </a:r>
                    </a:p>
                  </a:txBody>
                  <a:tcPr anchor="ctr" marL="64008" marR="64008">
                    <a:solidFill>
                      <a:srgbClr val="182236"/>
                    </a:solidFill>
                  </a:tcPr>
                </a:tc>
                <a:tc>
                  <a:txBody>
                    <a:bodyPr/>
                    <a:lstStyle/>
                    <a:p>
                      <a:pPr algn="l">
                        <a:spcAft>
                          <a:spcPts val="400"/>
                        </a:spcAft>
                      </a:pPr>
                      <a:r>
                        <a:rPr sz="1250" b="0">
                          <a:solidFill>
                            <a:srgbClr val="ECF1F8"/>
                          </a:solidFill>
                          <a:latin typeface="Calibri"/>
                        </a:rPr>
                        <a:t>No</a:t>
                      </a:r>
                    </a:p>
                  </a:txBody>
                  <a:tcPr anchor="ctr" marL="64008" marR="64008">
                    <a:solidFill>
                      <a:srgbClr val="182236"/>
                    </a:solidFill>
                  </a:tcPr>
                </a:tc>
                <a:tc>
                  <a:txBody>
                    <a:bodyPr/>
                    <a:lstStyle/>
                    <a:p>
                      <a:pPr algn="l">
                        <a:spcAft>
                          <a:spcPts val="400"/>
                        </a:spcAft>
                      </a:pPr>
                      <a:r>
                        <a:rPr sz="1250" b="0">
                          <a:solidFill>
                            <a:srgbClr val="ECF1F8"/>
                          </a:solidFill>
                          <a:latin typeface="Calibri"/>
                        </a:rPr>
                        <a:t>Removing a board entirely</a:t>
                      </a:r>
                    </a:p>
                  </a:txBody>
                  <a:tcPr anchor="ctr" marL="64008" marR="64008">
                    <a:solidFill>
                      <a:srgbClr val="182236"/>
                    </a:solidFill>
                  </a:tcPr>
                </a:tc>
              </a:tr>
            </a:tbl>
          </a:graphicData>
        </a:graphic>
      </p:graphicFrame>
      <p:sp>
        <p:nvSpPr>
          <p:cNvPr id="7" name="TextBox 6"/>
          <p:cNvSpPr txBox="1"/>
          <p:nvPr/>
        </p:nvSpPr>
        <p:spPr>
          <a:xfrm>
            <a:off x="566928" y="3200400"/>
            <a:ext cx="5486400" cy="1371600"/>
          </a:xfrm>
          <a:prstGeom prst="rect">
            <a:avLst/>
          </a:prstGeom>
          <a:noFill/>
        </p:spPr>
        <p:txBody>
          <a:bodyPr wrap="square" anchor="t" lIns="0" rIns="0" tIns="0" bIns="0">
            <a:spAutoFit/>
          </a:bodyPr>
          <a:lstStyle/>
          <a:p>
            <a:pPr algn="l">
              <a:spcAft>
                <a:spcPts val="400"/>
              </a:spcAft>
            </a:pPr>
            <a:r>
              <a:rPr sz="1500" b="1">
                <a:solidFill>
                  <a:srgbClr val="F5A524"/>
                </a:solidFill>
                <a:latin typeface="Calibri"/>
              </a:rPr>
              <a:t>MongoDB has no ON DELETE CASCADE.</a:t>
            </a:r>
          </a:p>
          <a:p>
            <a:pPr algn="l">
              <a:lnSpc>
                <a:spcPct val="110000"/>
              </a:lnSpc>
              <a:spcAft>
                <a:spcPts val="400"/>
              </a:spcAft>
            </a:pPr>
            <a:r>
              <a:rPr sz="1300" b="0">
                <a:solidFill>
                  <a:srgbClr val="93A4BD"/>
                </a:solidFill>
                <a:latin typeface="Calibri"/>
              </a:rPr>
              <a:t>Deleting a room without its strokes would silently orphan tens of thousands of documents no query returns and no user can reach. Referential integrity is the application's job, and the endpoint reports what it removed.</a:t>
            </a:r>
          </a:p>
        </p:txBody>
      </p:sp>
      <p:sp>
        <p:nvSpPr>
          <p:cNvPr id="8" name="Rounded Rectangle 7"/>
          <p:cNvSpPr/>
          <p:nvPr/>
        </p:nvSpPr>
        <p:spPr>
          <a:xfrm>
            <a:off x="6355080" y="1600200"/>
            <a:ext cx="5276088" cy="3063240"/>
          </a:xfrm>
          <a:prstGeom prst="roundRect">
            <a:avLst>
              <a:gd name="adj" fmla="val 4000"/>
            </a:avLst>
          </a:prstGeom>
          <a:solidFill>
            <a:srgbClr val="101828"/>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1719072"/>
            <a:ext cx="4910327" cy="237744"/>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undo_last — one atomic claim</a:t>
            </a:r>
          </a:p>
        </p:txBody>
      </p:sp>
      <p:sp>
        <p:nvSpPr>
          <p:cNvPr id="10" name="TextBox 9"/>
          <p:cNvSpPr txBox="1"/>
          <p:nvPr/>
        </p:nvSpPr>
        <p:spPr>
          <a:xfrm>
            <a:off x="6537960" y="2011679"/>
            <a:ext cx="4910327" cy="2514600"/>
          </a:xfrm>
          <a:prstGeom prst="rect">
            <a:avLst/>
          </a:prstGeom>
          <a:noFill/>
        </p:spPr>
        <p:txBody>
          <a:bodyPr wrap="square" anchor="t" lIns="0" rIns="0" tIns="0" bIns="0">
            <a:spAutoFit/>
          </a:bodyPr>
          <a:lstStyle/>
          <a:p>
            <a:pPr algn="l">
              <a:lnSpc>
                <a:spcPct val="102000"/>
              </a:lnSpc>
              <a:spcAft>
                <a:spcPts val="0"/>
              </a:spcAft>
            </a:pPr>
            <a:r>
              <a:rPr sz="1050" b="0">
                <a:solidFill>
                  <a:srgbClr val="ECF1F8"/>
                </a:solidFill>
                <a:latin typeface="Consolas"/>
              </a:rPr>
              <a:t># Scoped to the user: a room-wide undo would let one</a:t>
            </a:r>
          </a:p>
          <a:p>
            <a:pPr algn="l">
              <a:lnSpc>
                <a:spcPct val="102000"/>
              </a:lnSpc>
              <a:spcAft>
                <a:spcPts val="0"/>
              </a:spcAft>
            </a:pPr>
            <a:r>
              <a:rPr sz="1050" b="0">
                <a:solidFill>
                  <a:srgbClr val="ECF1F8"/>
                </a:solidFill>
                <a:latin typeface="Consolas"/>
              </a:rPr>
              <a:t># person retract another's work.</a:t>
            </a:r>
          </a:p>
          <a:p>
            <a:pPr algn="l">
              <a:lnSpc>
                <a:spcPct val="102000"/>
              </a:lnSpc>
              <a:spcAft>
                <a:spcPts val="0"/>
              </a:spcAft>
            </a:pPr>
            <a:r>
              <a:rPr sz="1050" b="0">
                <a:solidFill>
                  <a:srgbClr val="ECF1F8"/>
                </a:solidFill>
                <a:latin typeface="Consolas"/>
              </a:rPr>
              <a:t># Atomic: find-then-update in two calls lets two</a:t>
            </a:r>
          </a:p>
          <a:p>
            <a:pPr algn="l">
              <a:lnSpc>
                <a:spcPct val="102000"/>
              </a:lnSpc>
              <a:spcAft>
                <a:spcPts val="0"/>
              </a:spcAft>
            </a:pPr>
            <a:r>
              <a:rPr sz="1050" b="0">
                <a:solidFill>
                  <a:srgbClr val="ECF1F8"/>
                </a:solidFill>
                <a:latin typeface="Consolas"/>
              </a:rPr>
              <a:t># simultaneous undos claim the same stroke.</a:t>
            </a:r>
          </a:p>
          <a:p>
            <a:pPr algn="l">
              <a:lnSpc>
                <a:spcPct val="102000"/>
              </a:lnSpc>
              <a:spcAft>
                <a:spcPts val="0"/>
              </a:spcAft>
            </a:pPr>
            <a:r>
              <a:rPr sz="1050" b="0">
                <a:solidFill>
                  <a:srgbClr val="ECF1F8"/>
                </a:solidFill>
                <a:latin typeface="Consolas"/>
              </a:rPr>
              <a:t>doc = await db()[STROKES].find_one_and_update(</a:t>
            </a:r>
          </a:p>
          <a:p>
            <a:pPr algn="l">
              <a:lnSpc>
                <a:spcPct val="102000"/>
              </a:lnSpc>
              <a:spcAft>
                <a:spcPts val="0"/>
              </a:spcAft>
            </a:pPr>
            <a:r>
              <a:rPr sz="1050" b="0">
                <a:solidFill>
                  <a:srgbClr val="ECF1F8"/>
                </a:solidFill>
                <a:latin typeface="Consolas"/>
              </a:rPr>
              <a:t>    {"roomId": rid, "userId": uid, "active": True},</a:t>
            </a:r>
          </a:p>
          <a:p>
            <a:pPr algn="l">
              <a:lnSpc>
                <a:spcPct val="102000"/>
              </a:lnSpc>
              <a:spcAft>
                <a:spcPts val="0"/>
              </a:spcAft>
            </a:pPr>
            <a:r>
              <a:rPr sz="1050" b="0">
                <a:solidFill>
                  <a:srgbClr val="ECF1F8"/>
                </a:solidFill>
                <a:latin typeface="Consolas"/>
              </a:rPr>
              <a:t>    {"$set": {"active": False, "undoneAt": now}},</a:t>
            </a:r>
          </a:p>
          <a:p>
            <a:pPr algn="l">
              <a:lnSpc>
                <a:spcPct val="102000"/>
              </a:lnSpc>
              <a:spcAft>
                <a:spcPts val="0"/>
              </a:spcAft>
            </a:pPr>
            <a:r>
              <a:rPr sz="1050" b="0">
                <a:solidFill>
                  <a:srgbClr val="ECF1F8"/>
                </a:solidFill>
                <a:latin typeface="Consolas"/>
              </a:rPr>
              <a:t>    sort=[("seq", -1)],</a:t>
            </a:r>
          </a:p>
          <a:p>
            <a:pPr algn="l">
              <a:lnSpc>
                <a:spcPct val="102000"/>
              </a:lnSpc>
              <a:spcAft>
                <a:spcPts val="0"/>
              </a:spcAft>
            </a:pPr>
            <a:r>
              <a:rPr sz="1050" b="0">
                <a:solidFill>
                  <a:srgbClr val="ECF1F8"/>
                </a:solidFill>
                <a:latin typeface="Consolas"/>
              </a:rPr>
              <a:t>    return_document=ReturnDocument.AFTER,</a:t>
            </a:r>
          </a:p>
          <a:p>
            <a:pPr algn="l">
              <a:lnSpc>
                <a:spcPct val="102000"/>
              </a:lnSpc>
              <a:spcAft>
                <a:spcPts val="0"/>
              </a:spcAft>
            </a:pPr>
            <a:r>
              <a:rPr sz="1050" b="0">
                <a:solidFill>
                  <a:srgbClr val="ECF1F8"/>
                </a:solidFill>
                <a:latin typeface="Consolas"/>
              </a:rPr>
              <a:t>)</a:t>
            </a:r>
          </a:p>
        </p:txBody>
      </p:sp>
      <p:sp>
        <p:nvSpPr>
          <p:cNvPr id="11" name="TextBox 10"/>
          <p:cNvSpPr txBox="1"/>
          <p:nvPr/>
        </p:nvSpPr>
        <p:spPr>
          <a:xfrm>
            <a:off x="6355080" y="4800600"/>
            <a:ext cx="5276088" cy="731520"/>
          </a:xfrm>
          <a:prstGeom prst="rect">
            <a:avLst/>
          </a:prstGeom>
          <a:noFill/>
        </p:spPr>
        <p:txBody>
          <a:bodyPr wrap="square" anchor="t" lIns="0" rIns="0" tIns="0" bIns="0">
            <a:spAutoFit/>
          </a:bodyPr>
          <a:lstStyle/>
          <a:p>
            <a:pPr algn="l">
              <a:lnSpc>
                <a:spcPct val="110000"/>
              </a:lnSpc>
              <a:spcAft>
                <a:spcPts val="400"/>
              </a:spcAft>
            </a:pPr>
            <a:r>
              <a:rPr sz="1300" b="0">
                <a:solidFill>
                  <a:srgbClr val="93A4BD"/>
                </a:solidFill>
                <a:latin typeface="Calibri"/>
              </a:rPr>
              <a:t>The second request no longer matches active: true on that document and moves to the next one. This is also the query the dedicated undo index exists for.</a:t>
            </a:r>
          </a:p>
        </p:txBody>
      </p:sp>
      <p:sp>
        <p:nvSpPr>
          <p:cNvPr id="12" name="TextBox 11"/>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Sections 4.5 and 4.6 of the report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QUERY QUALITY</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Seven indexes, each for a named query</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600200"/>
          <a:ext cx="11064240" cy="3072384"/>
        </p:xfrm>
        <a:graphic>
          <a:graphicData uri="http://schemas.openxmlformats.org/drawingml/2006/table">
            <a:tbl>
              <a:tblPr firstRow="1" bandRow="1">
                <a:tableStyleId>{5C22544A-7EE6-4342-B048-85BDC9FD1C3A}</a:tableStyleId>
              </a:tblPr>
              <a:tblGrid>
                <a:gridCol w="2286000"/>
                <a:gridCol w="3017520"/>
                <a:gridCol w="5760720"/>
              </a:tblGrid>
              <a:tr h="384048">
                <a:tc>
                  <a:txBody>
                    <a:bodyPr/>
                    <a:lstStyle/>
                    <a:p>
                      <a:pPr algn="l">
                        <a:spcAft>
                          <a:spcPts val="400"/>
                        </a:spcAft>
                      </a:pPr>
                      <a:r>
                        <a:rPr sz="1100" b="1">
                          <a:solidFill>
                            <a:srgbClr val="4F9BF5"/>
                          </a:solidFill>
                          <a:latin typeface="Calibri"/>
                        </a:rPr>
                        <a:t>Index</a:t>
                      </a:r>
                    </a:p>
                  </a:txBody>
                  <a:tcPr anchor="ctr" marL="64008" marR="64008">
                    <a:solidFill>
                      <a:srgbClr val="22314A"/>
                    </a:solidFill>
                  </a:tcPr>
                </a:tc>
                <a:tc>
                  <a:txBody>
                    <a:bodyPr/>
                    <a:lstStyle/>
                    <a:p>
                      <a:pPr algn="l">
                        <a:spcAft>
                          <a:spcPts val="400"/>
                        </a:spcAft>
                      </a:pPr>
                      <a:r>
                        <a:rPr sz="1100" b="1">
                          <a:solidFill>
                            <a:srgbClr val="4F9BF5"/>
                          </a:solidFill>
                          <a:latin typeface="Calibri"/>
                        </a:rPr>
                        <a:t>Key</a:t>
                      </a:r>
                    </a:p>
                  </a:txBody>
                  <a:tcPr anchor="ctr" marL="64008" marR="64008">
                    <a:solidFill>
                      <a:srgbClr val="22314A"/>
                    </a:solidFill>
                  </a:tcPr>
                </a:tc>
                <a:tc>
                  <a:txBody>
                    <a:bodyPr/>
                    <a:lstStyle/>
                    <a:p>
                      <a:pPr algn="l">
                        <a:spcAft>
                          <a:spcPts val="400"/>
                        </a:spcAft>
                      </a:pPr>
                      <a:r>
                        <a:rPr sz="1100" b="1">
                          <a:solidFill>
                            <a:srgbClr val="4F9BF5"/>
                          </a:solidFill>
                          <a:latin typeface="Calibri"/>
                        </a:rPr>
                        <a:t>The query it exists for</a:t>
                      </a:r>
                    </a:p>
                  </a:txBody>
                  <a:tcPr anchor="ctr" marL="64008" marR="64008">
                    <a:solidFill>
                      <a:srgbClr val="22314A"/>
                    </a:solidFill>
                  </a:tcPr>
                </a:tc>
              </a:tr>
              <a:tr h="384048">
                <a:tc>
                  <a:txBody>
                    <a:bodyPr/>
                    <a:lstStyle/>
                    <a:p>
                      <a:pPr algn="l">
                        <a:spcAft>
                          <a:spcPts val="400"/>
                        </a:spcAft>
                      </a:pPr>
                      <a:r>
                        <a:rPr sz="1100" b="0">
                          <a:solidFill>
                            <a:srgbClr val="ECF1F8"/>
                          </a:solidFill>
                          <a:latin typeface="Calibri"/>
                        </a:rPr>
                        <a:t>ix_room_code</a:t>
                      </a:r>
                    </a:p>
                  </a:txBody>
                  <a:tcPr anchor="ctr" marL="64008" marR="64008">
                    <a:solidFill>
                      <a:srgbClr val="182236"/>
                    </a:solidFill>
                  </a:tcPr>
                </a:tc>
                <a:tc>
                  <a:txBody>
                    <a:bodyPr/>
                    <a:lstStyle/>
                    <a:p>
                      <a:pPr algn="l">
                        <a:spcAft>
                          <a:spcPts val="400"/>
                        </a:spcAft>
                      </a:pPr>
                      <a:r>
                        <a:rPr sz="1100" b="0">
                          <a:solidFill>
                            <a:srgbClr val="ECF1F8"/>
                          </a:solidFill>
                          <a:latin typeface="Calibri"/>
                        </a:rPr>
                        <a:t>{code: 1}</a:t>
                      </a:r>
                    </a:p>
                  </a:txBody>
                  <a:tcPr anchor="ctr" marL="64008" marR="64008">
                    <a:solidFill>
                      <a:srgbClr val="182236"/>
                    </a:solidFill>
                  </a:tcPr>
                </a:tc>
                <a:tc>
                  <a:txBody>
                    <a:bodyPr/>
                    <a:lstStyle/>
                    <a:p>
                      <a:pPr algn="l">
                        <a:spcAft>
                          <a:spcPts val="400"/>
                        </a:spcAft>
                      </a:pPr>
                      <a:r>
                        <a:rPr sz="1100" b="0">
                          <a:solidFill>
                            <a:srgbClr val="ECF1F8"/>
                          </a:solidFill>
                          <a:latin typeface="Calibri"/>
                        </a:rPr>
                        <a:t>Every join is a lookup by short room code; unique prevents duplicate codes.</a:t>
                      </a:r>
                    </a:p>
                  </a:txBody>
                  <a:tcPr anchor="ctr" marL="64008" marR="64008">
                    <a:solidFill>
                      <a:srgbClr val="182236"/>
                    </a:solidFill>
                  </a:tcPr>
                </a:tc>
              </a:tr>
              <a:tr h="384048">
                <a:tc>
                  <a:txBody>
                    <a:bodyPr/>
                    <a:lstStyle/>
                    <a:p>
                      <a:pPr algn="l">
                        <a:spcAft>
                          <a:spcPts val="400"/>
                        </a:spcAft>
                      </a:pPr>
                      <a:r>
                        <a:rPr sz="1100" b="0">
                          <a:solidFill>
                            <a:srgbClr val="ECF1F8"/>
                          </a:solidFill>
                          <a:latin typeface="Calibri"/>
                        </a:rPr>
                        <a:t>ix_room_activity</a:t>
                      </a:r>
                    </a:p>
                  </a:txBody>
                  <a:tcPr anchor="ctr" marL="64008" marR="64008">
                    <a:solidFill>
                      <a:srgbClr val="141E30"/>
                    </a:solidFill>
                  </a:tcPr>
                </a:tc>
                <a:tc>
                  <a:txBody>
                    <a:bodyPr/>
                    <a:lstStyle/>
                    <a:p>
                      <a:pPr algn="l">
                        <a:spcAft>
                          <a:spcPts val="400"/>
                        </a:spcAft>
                      </a:pPr>
                      <a:r>
                        <a:rPr sz="1100" b="0">
                          <a:solidFill>
                            <a:srgbClr val="ECF1F8"/>
                          </a:solidFill>
                          <a:latin typeface="Calibri"/>
                        </a:rPr>
                        <a:t>{lastActivityAt: -1}</a:t>
                      </a:r>
                    </a:p>
                  </a:txBody>
                  <a:tcPr anchor="ctr" marL="64008" marR="64008">
                    <a:solidFill>
                      <a:srgbClr val="141E30"/>
                    </a:solidFill>
                  </a:tcPr>
                </a:tc>
                <a:tc>
                  <a:txBody>
                    <a:bodyPr/>
                    <a:lstStyle/>
                    <a:p>
                      <a:pPr algn="l">
                        <a:spcAft>
                          <a:spcPts val="400"/>
                        </a:spcAft>
                      </a:pPr>
                      <a:r>
                        <a:rPr sz="1100" b="0">
                          <a:solidFill>
                            <a:srgbClr val="ECF1F8"/>
                          </a:solidFill>
                          <a:latin typeface="Calibri"/>
                        </a:rPr>
                        <a:t>Powers the 'recent rooms' list without scanning the whole collection.</a:t>
                      </a:r>
                    </a:p>
                  </a:txBody>
                  <a:tcPr anchor="ctr" marL="64008" marR="64008">
                    <a:solidFill>
                      <a:srgbClr val="141E30"/>
                    </a:solidFill>
                  </a:tcPr>
                </a:tc>
              </a:tr>
              <a:tr h="384048">
                <a:tc>
                  <a:txBody>
                    <a:bodyPr/>
                    <a:lstStyle/>
                    <a:p>
                      <a:pPr algn="l">
                        <a:spcAft>
                          <a:spcPts val="400"/>
                        </a:spcAft>
                      </a:pPr>
                      <a:r>
                        <a:rPr sz="1100" b="0">
                          <a:solidFill>
                            <a:srgbClr val="ECF1F8"/>
                          </a:solidFill>
                          <a:latin typeface="Calibri"/>
                        </a:rPr>
                        <a:t>ix_stroke_replay</a:t>
                      </a:r>
                    </a:p>
                  </a:txBody>
                  <a:tcPr anchor="ctr" marL="64008" marR="64008">
                    <a:solidFill>
                      <a:srgbClr val="182236"/>
                    </a:solidFill>
                  </a:tcPr>
                </a:tc>
                <a:tc>
                  <a:txBody>
                    <a:bodyPr/>
                    <a:lstStyle/>
                    <a:p>
                      <a:pPr algn="l">
                        <a:spcAft>
                          <a:spcPts val="400"/>
                        </a:spcAft>
                      </a:pPr>
                      <a:r>
                        <a:rPr sz="1100" b="0">
                          <a:solidFill>
                            <a:srgbClr val="ECF1F8"/>
                          </a:solidFill>
                          <a:latin typeface="Calibri"/>
                        </a:rPr>
                        <a:t>{roomId: 1, seq: 1}</a:t>
                      </a:r>
                    </a:p>
                  </a:txBody>
                  <a:tcPr anchor="ctr" marL="64008" marR="64008">
                    <a:solidFill>
                      <a:srgbClr val="182236"/>
                    </a:solidFill>
                  </a:tcPr>
                </a:tc>
                <a:tc>
                  <a:txBody>
                    <a:bodyPr/>
                    <a:lstStyle/>
                    <a:p>
                      <a:pPr algn="l">
                        <a:spcAft>
                          <a:spcPts val="400"/>
                        </a:spcAft>
                      </a:pPr>
                      <a:r>
                        <a:rPr sz="1100" b="0">
                          <a:solidFill>
                            <a:srgbClr val="ECF1F8"/>
                          </a:solidFill>
                          <a:latin typeface="Calibri"/>
                        </a:rPr>
                        <a:t>The hot path: replay a room's strokes in order. Covers range queries on seq for incremen</a:t>
                      </a:r>
                    </a:p>
                  </a:txBody>
                  <a:tcPr anchor="ctr" marL="64008" marR="64008">
                    <a:solidFill>
                      <a:srgbClr val="182236"/>
                    </a:solidFill>
                  </a:tcPr>
                </a:tc>
              </a:tr>
              <a:tr h="384048">
                <a:tc>
                  <a:txBody>
                    <a:bodyPr/>
                    <a:lstStyle/>
                    <a:p>
                      <a:pPr algn="l">
                        <a:spcAft>
                          <a:spcPts val="400"/>
                        </a:spcAft>
                      </a:pPr>
                      <a:r>
                        <a:rPr sz="1100" b="0">
                          <a:solidFill>
                            <a:srgbClr val="ECF1F8"/>
                          </a:solidFill>
                          <a:latin typeface="Calibri"/>
                        </a:rPr>
                        <a:t>ix_stroke_undo</a:t>
                      </a:r>
                    </a:p>
                  </a:txBody>
                  <a:tcPr anchor="ctr" marL="64008" marR="64008">
                    <a:solidFill>
                      <a:srgbClr val="141E30"/>
                    </a:solidFill>
                  </a:tcPr>
                </a:tc>
                <a:tc>
                  <a:txBody>
                    <a:bodyPr/>
                    <a:lstStyle/>
                    <a:p>
                      <a:pPr algn="l">
                        <a:spcAft>
                          <a:spcPts val="400"/>
                        </a:spcAft>
                      </a:pPr>
                      <a:r>
                        <a:rPr sz="1100" b="0">
                          <a:solidFill>
                            <a:srgbClr val="ECF1F8"/>
                          </a:solidFill>
                          <a:latin typeface="Calibri"/>
                        </a:rPr>
                        <a:t>{roomId: 1, userId: 1, active: 1, seq: -1}</a:t>
                      </a:r>
                    </a:p>
                  </a:txBody>
                  <a:tcPr anchor="ctr" marL="64008" marR="64008">
                    <a:solidFill>
                      <a:srgbClr val="141E30"/>
                    </a:solidFill>
                  </a:tcPr>
                </a:tc>
                <a:tc>
                  <a:txBody>
                    <a:bodyPr/>
                    <a:lstStyle/>
                    <a:p>
                      <a:pPr algn="l">
                        <a:spcAft>
                          <a:spcPts val="400"/>
                        </a:spcAft>
                      </a:pPr>
                      <a:r>
                        <a:rPr sz="1100" b="0">
                          <a:solidFill>
                            <a:srgbClr val="ECF1F8"/>
                          </a:solidFill>
                          <a:latin typeface="Calibri"/>
                        </a:rPr>
                        <a:t>Per-user undo claims the newest active stroke belonging to that user. Descending seq let</a:t>
                      </a:r>
                    </a:p>
                  </a:txBody>
                  <a:tcPr anchor="ctr" marL="64008" marR="64008">
                    <a:solidFill>
                      <a:srgbClr val="141E30"/>
                    </a:solidFill>
                  </a:tcPr>
                </a:tc>
              </a:tr>
              <a:tr h="384048">
                <a:tc>
                  <a:txBody>
                    <a:bodyPr/>
                    <a:lstStyle/>
                    <a:p>
                      <a:pPr algn="l">
                        <a:spcAft>
                          <a:spcPts val="400"/>
                        </a:spcAft>
                      </a:pPr>
                      <a:r>
                        <a:rPr sz="1100" b="0">
                          <a:solidFill>
                            <a:srgbClr val="ECF1F8"/>
                          </a:solidFill>
                          <a:latin typeface="Calibri"/>
                        </a:rPr>
                        <a:t>ix_stroke_tool</a:t>
                      </a:r>
                    </a:p>
                  </a:txBody>
                  <a:tcPr anchor="ctr" marL="64008" marR="64008">
                    <a:solidFill>
                      <a:srgbClr val="182236"/>
                    </a:solidFill>
                  </a:tcPr>
                </a:tc>
                <a:tc>
                  <a:txBody>
                    <a:bodyPr/>
                    <a:lstStyle/>
                    <a:p>
                      <a:pPr algn="l">
                        <a:spcAft>
                          <a:spcPts val="400"/>
                        </a:spcAft>
                      </a:pPr>
                      <a:r>
                        <a:rPr sz="1100" b="0">
                          <a:solidFill>
                            <a:srgbClr val="ECF1F8"/>
                          </a:solidFill>
                          <a:latin typeface="Calibri"/>
                        </a:rPr>
                        <a:t>{roomId: 1, tool: 1}</a:t>
                      </a:r>
                    </a:p>
                  </a:txBody>
                  <a:tcPr anchor="ctr" marL="64008" marR="64008">
                    <a:solidFill>
                      <a:srgbClr val="182236"/>
                    </a:solidFill>
                  </a:tcPr>
                </a:tc>
                <a:tc>
                  <a:txBody>
                    <a:bodyPr/>
                    <a:lstStyle/>
                    <a:p>
                      <a:pPr algn="l">
                        <a:spcAft>
                          <a:spcPts val="400"/>
                        </a:spcAft>
                      </a:pPr>
                      <a:r>
                        <a:rPr sz="1100" b="0">
                          <a:solidFill>
                            <a:srgbClr val="ECF1F8"/>
                          </a:solidFill>
                          <a:latin typeface="Calibri"/>
                        </a:rPr>
                        <a:t>Supports the tool-distribution aggregation without a collection scan.</a:t>
                      </a:r>
                    </a:p>
                  </a:txBody>
                  <a:tcPr anchor="ctr" marL="64008" marR="64008">
                    <a:solidFill>
                      <a:srgbClr val="182236"/>
                    </a:solidFill>
                  </a:tcPr>
                </a:tc>
              </a:tr>
              <a:tr h="384048">
                <a:tc>
                  <a:txBody>
                    <a:bodyPr/>
                    <a:lstStyle/>
                    <a:p>
                      <a:pPr algn="l">
                        <a:spcAft>
                          <a:spcPts val="400"/>
                        </a:spcAft>
                      </a:pPr>
                      <a:r>
                        <a:rPr sz="1100" b="0">
                          <a:solidFill>
                            <a:srgbClr val="ECF1F8"/>
                          </a:solidFill>
                          <a:latin typeface="Calibri"/>
                        </a:rPr>
                        <a:t>ix_stroke_time</a:t>
                      </a:r>
                    </a:p>
                  </a:txBody>
                  <a:tcPr anchor="ctr" marL="64008" marR="64008">
                    <a:solidFill>
                      <a:srgbClr val="141E30"/>
                    </a:solidFill>
                  </a:tcPr>
                </a:tc>
                <a:tc>
                  <a:txBody>
                    <a:bodyPr/>
                    <a:lstStyle/>
                    <a:p>
                      <a:pPr algn="l">
                        <a:spcAft>
                          <a:spcPts val="400"/>
                        </a:spcAft>
                      </a:pPr>
                      <a:r>
                        <a:rPr sz="1100" b="0">
                          <a:solidFill>
                            <a:srgbClr val="ECF1F8"/>
                          </a:solidFill>
                          <a:latin typeface="Calibri"/>
                        </a:rPr>
                        <a:t>{roomId: 1, createdAt: 1}</a:t>
                      </a:r>
                    </a:p>
                  </a:txBody>
                  <a:tcPr anchor="ctr" marL="64008" marR="64008">
                    <a:solidFill>
                      <a:srgbClr val="141E30"/>
                    </a:solidFill>
                  </a:tcPr>
                </a:tc>
                <a:tc>
                  <a:txBody>
                    <a:bodyPr/>
                    <a:lstStyle/>
                    <a:p>
                      <a:pPr algn="l">
                        <a:spcAft>
                          <a:spcPts val="400"/>
                        </a:spcAft>
                      </a:pPr>
                      <a:r>
                        <a:rPr sz="1100" b="0">
                          <a:solidFill>
                            <a:srgbClr val="ECF1F8"/>
                          </a:solidFill>
                          <a:latin typeface="Calibri"/>
                        </a:rPr>
                        <a:t>Supports the time-bucketed activity aggregation ($dateTrunc grouping).</a:t>
                      </a:r>
                    </a:p>
                  </a:txBody>
                  <a:tcPr anchor="ctr" marL="64008" marR="64008">
                    <a:solidFill>
                      <a:srgbClr val="141E30"/>
                    </a:solidFill>
                  </a:tcPr>
                </a:tc>
              </a:tr>
              <a:tr h="384048">
                <a:tc>
                  <a:txBody>
                    <a:bodyPr/>
                    <a:lstStyle/>
                    <a:p>
                      <a:pPr algn="l">
                        <a:spcAft>
                          <a:spcPts val="400"/>
                        </a:spcAft>
                      </a:pPr>
                      <a:r>
                        <a:rPr sz="1100" b="0">
                          <a:solidFill>
                            <a:srgbClr val="ECF1F8"/>
                          </a:solidFill>
                          <a:latin typeface="Calibri"/>
                        </a:rPr>
                        <a:t>ix_snapshot_latest</a:t>
                      </a:r>
                    </a:p>
                  </a:txBody>
                  <a:tcPr anchor="ctr" marL="64008" marR="64008">
                    <a:solidFill>
                      <a:srgbClr val="182236"/>
                    </a:solidFill>
                  </a:tcPr>
                </a:tc>
                <a:tc>
                  <a:txBody>
                    <a:bodyPr/>
                    <a:lstStyle/>
                    <a:p>
                      <a:pPr algn="l">
                        <a:spcAft>
                          <a:spcPts val="400"/>
                        </a:spcAft>
                      </a:pPr>
                      <a:r>
                        <a:rPr sz="1100" b="0">
                          <a:solidFill>
                            <a:srgbClr val="ECF1F8"/>
                          </a:solidFill>
                          <a:latin typeface="Calibri"/>
                        </a:rPr>
                        <a:t>{roomId: 1, upToSeq: -1}</a:t>
                      </a:r>
                    </a:p>
                  </a:txBody>
                  <a:tcPr anchor="ctr" marL="64008" marR="64008">
                    <a:solidFill>
                      <a:srgbClr val="182236"/>
                    </a:solidFill>
                  </a:tcPr>
                </a:tc>
                <a:tc>
                  <a:txBody>
                    <a:bodyPr/>
                    <a:lstStyle/>
                    <a:p>
                      <a:pPr algn="l">
                        <a:spcAft>
                          <a:spcPts val="400"/>
                        </a:spcAft>
                      </a:pPr>
                      <a:r>
                        <a:rPr sz="1100" b="0">
                          <a:solidFill>
                            <a:srgbClr val="ECF1F8"/>
                          </a:solidFill>
                          <a:latin typeface="Calibri"/>
                        </a:rPr>
                        <a:t>Fetches the newest snapshot for a room in a single index seek.</a:t>
                      </a:r>
                    </a:p>
                  </a:txBody>
                  <a:tcPr anchor="ctr" marL="64008" marR="64008">
                    <a:solidFill>
                      <a:srgbClr val="182236"/>
                    </a:solidFill>
                  </a:tcPr>
                </a:tc>
              </a:tr>
            </a:tbl>
          </a:graphicData>
        </a:graphic>
      </p:graphicFrame>
      <p:sp>
        <p:nvSpPr>
          <p:cNvPr id="7" name="TextBox 6"/>
          <p:cNvSpPr txBox="1"/>
          <p:nvPr/>
        </p:nvSpPr>
        <p:spPr>
          <a:xfrm>
            <a:off x="566928" y="4754880"/>
            <a:ext cx="11064240" cy="1097280"/>
          </a:xfrm>
          <a:prstGeom prst="rect">
            <a:avLst/>
          </a:prstGeom>
          <a:noFill/>
        </p:spPr>
        <p:txBody>
          <a:bodyPr wrap="square" anchor="t" lIns="0" rIns="0" tIns="0" bIns="0">
            <a:spAutoFit/>
          </a:bodyPr>
          <a:lstStyle/>
          <a:p>
            <a:pPr algn="l">
              <a:spcAft>
                <a:spcPts val="400"/>
              </a:spcAft>
            </a:pPr>
            <a:r>
              <a:rPr sz="1500" b="1">
                <a:solidFill>
                  <a:srgbClr val="ECF1F8"/>
                </a:solidFill>
                <a:latin typeface="Calibri"/>
              </a:rPr>
              <a:t>None was added speculatively.</a:t>
            </a:r>
          </a:p>
          <a:p>
            <a:pPr algn="l">
              <a:lnSpc>
                <a:spcPct val="110000"/>
              </a:lnSpc>
              <a:spcAft>
                <a:spcPts val="400"/>
              </a:spcAft>
            </a:pPr>
            <a:r>
              <a:rPr sz="1350" b="0">
                <a:solidFill>
                  <a:srgbClr val="93A4BD"/>
                </a:solidFill>
                <a:latin typeface="Calibri"/>
              </a:rPr>
              <a:t>Indexes cost storage and slow every write. These total 9.8 MB against 120 MB of data (8% overhead). The largest single index is _id, which no query in this application ever uses.</a:t>
            </a:r>
          </a:p>
        </p:txBody>
      </p:sp>
      <p:sp>
        <p:nvSpPr>
          <p:cNvPr id="8" name="TextBox 7"/>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5.1 of the report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QUERY QUALITY</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Indexes: measured, not asserted</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ocs-examined.png"/>
          <p:cNvPicPr>
            <a:picLocks noChangeAspect="1"/>
          </p:cNvPicPr>
          <p:nvPr/>
        </p:nvPicPr>
        <p:blipFill>
          <a:blip r:embed="rId2"/>
          <a:stretch>
            <a:fillRect/>
          </a:stretch>
        </p:blipFill>
        <p:spPr>
          <a:xfrm>
            <a:off x="566928" y="1572768"/>
            <a:ext cx="5760720" cy="2860739"/>
          </a:xfrm>
          <a:prstGeom prst="rect">
            <a:avLst/>
          </a:prstGeom>
          <a:ln w="12700">
            <a:solidFill>
              <a:srgbClr val="2A3A55"/>
            </a:solidFill>
          </a:ln>
        </p:spPr>
      </p:pic>
      <p:sp>
        <p:nvSpPr>
          <p:cNvPr id="7" name="TextBox 6"/>
          <p:cNvSpPr txBox="1"/>
          <p:nvPr/>
        </p:nvSpPr>
        <p:spPr>
          <a:xfrm>
            <a:off x="566928" y="4497515"/>
            <a:ext cx="5760720" cy="274320"/>
          </a:xfrm>
          <a:prstGeom prst="rect">
            <a:avLst/>
          </a:prstGeom>
          <a:noFill/>
        </p:spPr>
        <p:txBody>
          <a:bodyPr wrap="square" anchor="t" lIns="0" rIns="0" tIns="0" bIns="0">
            <a:spAutoFit/>
          </a:bodyPr>
          <a:lstStyle/>
          <a:p>
            <a:pPr algn="l">
              <a:lnSpc>
                <a:spcPct val="105000"/>
              </a:lnSpc>
              <a:spcAft>
                <a:spcPts val="400"/>
              </a:spcAft>
            </a:pPr>
            <a:r>
              <a:rPr sz="1050" b="0">
                <a:solidFill>
                  <a:srgbClr val="93A4BD"/>
                </a:solidFill>
                <a:latin typeface="Calibri"/>
              </a:rPr>
              <a:t>Documents MongoDB had to open, log scale. Planner output, so it is reproducible.</a:t>
            </a:r>
          </a:p>
        </p:txBody>
      </p:sp>
      <p:graphicFrame>
        <p:nvGraphicFramePr>
          <p:cNvPr id="8" name="Table 7"/>
          <p:cNvGraphicFramePr>
            <a:graphicFrameLocks noGrp="1"/>
          </p:cNvGraphicFramePr>
          <p:nvPr/>
        </p:nvGraphicFramePr>
        <p:xfrm>
          <a:off x="6537960" y="1691640"/>
          <a:ext cx="5093208" cy="2523744"/>
        </p:xfrm>
        <a:graphic>
          <a:graphicData uri="http://schemas.openxmlformats.org/drawingml/2006/table">
            <a:tbl>
              <a:tblPr firstRow="1" bandRow="1">
                <a:tableStyleId>{5C22544A-7EE6-4342-B048-85BDC9FD1C3A}</a:tableStyleId>
              </a:tblPr>
              <a:tblGrid>
                <a:gridCol w="1554480"/>
                <a:gridCol w="1463040"/>
                <a:gridCol w="1463040"/>
                <a:gridCol w="612648"/>
              </a:tblGrid>
              <a:tr h="420624">
                <a:tc>
                  <a:txBody>
                    <a:bodyPr/>
                    <a:lstStyle/>
                    <a:p>
                      <a:pPr algn="l">
                        <a:spcAft>
                          <a:spcPts val="400"/>
                        </a:spcAft>
                      </a:pPr>
                      <a:r>
                        <a:rPr sz="1100" b="1">
                          <a:solidFill>
                            <a:srgbClr val="4F9BF5"/>
                          </a:solidFill>
                          <a:latin typeface="Calibri"/>
                        </a:rPr>
                        <a:t>Query</a:t>
                      </a:r>
                    </a:p>
                  </a:txBody>
                  <a:tcPr anchor="ctr" marL="64008" marR="64008">
                    <a:solidFill>
                      <a:srgbClr val="22314A"/>
                    </a:solidFill>
                  </a:tcPr>
                </a:tc>
                <a:tc>
                  <a:txBody>
                    <a:bodyPr/>
                    <a:lstStyle/>
                    <a:p>
                      <a:pPr algn="l">
                        <a:spcAft>
                          <a:spcPts val="400"/>
                        </a:spcAft>
                      </a:pPr>
                      <a:r>
                        <a:rPr sz="1100" b="1">
                          <a:solidFill>
                            <a:srgbClr val="4F9BF5"/>
                          </a:solidFill>
                          <a:latin typeface="Calibri"/>
                        </a:rPr>
                        <a:t>Without index</a:t>
                      </a:r>
                    </a:p>
                  </a:txBody>
                  <a:tcPr anchor="ctr" marL="64008" marR="64008">
                    <a:solidFill>
                      <a:srgbClr val="22314A"/>
                    </a:solidFill>
                  </a:tcPr>
                </a:tc>
                <a:tc>
                  <a:txBody>
                    <a:bodyPr/>
                    <a:lstStyle/>
                    <a:p>
                      <a:pPr algn="l">
                        <a:spcAft>
                          <a:spcPts val="400"/>
                        </a:spcAft>
                      </a:pPr>
                      <a:r>
                        <a:rPr sz="1100" b="1">
                          <a:solidFill>
                            <a:srgbClr val="4F9BF5"/>
                          </a:solidFill>
                          <a:latin typeface="Calibri"/>
                        </a:rPr>
                        <a:t>With index</a:t>
                      </a:r>
                    </a:p>
                  </a:txBody>
                  <a:tcPr anchor="ctr" marL="64008" marR="64008">
                    <a:solidFill>
                      <a:srgbClr val="22314A"/>
                    </a:solidFill>
                  </a:tcPr>
                </a:tc>
                <a:tc>
                  <a:txBody>
                    <a:bodyPr/>
                    <a:lstStyle/>
                    <a:p>
                      <a:pPr algn="l">
                        <a:spcAft>
                          <a:spcPts val="400"/>
                        </a:spcAft>
                      </a:pPr>
                      <a:r>
                        <a:rPr sz="1100" b="1">
                          <a:solidFill>
                            <a:srgbClr val="4F9BF5"/>
                          </a:solidFill>
                          <a:latin typeface="Calibri"/>
                        </a:rPr>
                        <a:t>Gain</a:t>
                      </a:r>
                    </a:p>
                  </a:txBody>
                  <a:tcPr anchor="ctr" marL="64008" marR="64008">
                    <a:solidFill>
                      <a:srgbClr val="22314A"/>
                    </a:solidFill>
                  </a:tcPr>
                </a:tc>
              </a:tr>
              <a:tr h="420624">
                <a:tc>
                  <a:txBody>
                    <a:bodyPr/>
                    <a:lstStyle/>
                    <a:p>
                      <a:pPr algn="l">
                        <a:spcAft>
                          <a:spcPts val="400"/>
                        </a:spcAft>
                      </a:pPr>
                      <a:r>
                        <a:rPr sz="1100" b="0">
                          <a:solidFill>
                            <a:srgbClr val="ECF1F8"/>
                          </a:solidFill>
                          <a:latin typeface="Calibri"/>
                        </a:rPr>
                        <a:t>undo lookup</a:t>
                      </a:r>
                    </a:p>
                  </a:txBody>
                  <a:tcPr anchor="ctr" marL="64008" marR="64008">
                    <a:solidFill>
                      <a:srgbClr val="182236"/>
                    </a:solidFill>
                  </a:tcPr>
                </a:tc>
                <a:tc>
                  <a:txBody>
                    <a:bodyPr/>
                    <a:lstStyle/>
                    <a:p>
                      <a:pPr algn="l">
                        <a:spcAft>
                          <a:spcPts val="400"/>
                        </a:spcAft>
                      </a:pPr>
                      <a:r>
                        <a:rPr sz="1100" b="0">
                          <a:solidFill>
                            <a:srgbClr val="ECF1F8"/>
                          </a:solidFill>
                          <a:latin typeface="Calibri"/>
                        </a:rPr>
                        <a:t>COLLSCAN · 80,019</a:t>
                      </a:r>
                    </a:p>
                  </a:txBody>
                  <a:tcPr anchor="ctr" marL="64008" marR="64008">
                    <a:solidFill>
                      <a:srgbClr val="182236"/>
                    </a:solidFill>
                  </a:tcPr>
                </a:tc>
                <a:tc>
                  <a:txBody>
                    <a:bodyPr/>
                    <a:lstStyle/>
                    <a:p>
                      <a:pPr algn="l">
                        <a:spcAft>
                          <a:spcPts val="400"/>
                        </a:spcAft>
                      </a:pPr>
                      <a:r>
                        <a:rPr sz="1100" b="0">
                          <a:solidFill>
                            <a:srgbClr val="ECF1F8"/>
                          </a:solidFill>
                          <a:latin typeface="Calibri"/>
                        </a:rPr>
                        <a:t>IXSCAN · 1</a:t>
                      </a:r>
                    </a:p>
                  </a:txBody>
                  <a:tcPr anchor="ctr" marL="64008" marR="64008">
                    <a:solidFill>
                      <a:srgbClr val="182236"/>
                    </a:solidFill>
                  </a:tcPr>
                </a:tc>
                <a:tc>
                  <a:txBody>
                    <a:bodyPr/>
                    <a:lstStyle/>
                    <a:p>
                      <a:pPr algn="l">
                        <a:spcAft>
                          <a:spcPts val="400"/>
                        </a:spcAft>
                      </a:pPr>
                      <a:r>
                        <a:rPr sz="1100" b="1">
                          <a:solidFill>
                            <a:srgbClr val="3DD598"/>
                          </a:solidFill>
                          <a:latin typeface="Calibri"/>
                        </a:rPr>
                        <a:t>23.2x</a:t>
                      </a:r>
                    </a:p>
                  </a:txBody>
                  <a:tcPr anchor="ctr" marL="64008" marR="64008">
                    <a:solidFill>
                      <a:srgbClr val="182236"/>
                    </a:solidFill>
                  </a:tcPr>
                </a:tc>
              </a:tr>
              <a:tr h="420624">
                <a:tc>
                  <a:txBody>
                    <a:bodyPr/>
                    <a:lstStyle/>
                    <a:p>
                      <a:pPr algn="l">
                        <a:spcAft>
                          <a:spcPts val="400"/>
                        </a:spcAft>
                      </a:pPr>
                      <a:r>
                        <a:rPr sz="1100" b="0">
                          <a:solidFill>
                            <a:srgbClr val="ECF1F8"/>
                          </a:solidFill>
                          <a:latin typeface="Calibri"/>
                        </a:rPr>
                        <a:t>incremental join</a:t>
                      </a:r>
                    </a:p>
                  </a:txBody>
                  <a:tcPr anchor="ctr" marL="64008" marR="64008">
                    <a:solidFill>
                      <a:srgbClr val="141E30"/>
                    </a:solidFill>
                  </a:tcPr>
                </a:tc>
                <a:tc>
                  <a:txBody>
                    <a:bodyPr/>
                    <a:lstStyle/>
                    <a:p>
                      <a:pPr algn="l">
                        <a:spcAft>
                          <a:spcPts val="400"/>
                        </a:spcAft>
                      </a:pPr>
                      <a:r>
                        <a:rPr sz="1100" b="0">
                          <a:solidFill>
                            <a:srgbClr val="ECF1F8"/>
                          </a:solidFill>
                          <a:latin typeface="Calibri"/>
                        </a:rPr>
                        <a:t>COLLSCAN · 80,019</a:t>
                      </a:r>
                    </a:p>
                  </a:txBody>
                  <a:tcPr anchor="ctr" marL="64008" marR="64008">
                    <a:solidFill>
                      <a:srgbClr val="141E30"/>
                    </a:solidFill>
                  </a:tcPr>
                </a:tc>
                <a:tc>
                  <a:txBody>
                    <a:bodyPr/>
                    <a:lstStyle/>
                    <a:p>
                      <a:pPr algn="l">
                        <a:spcAft>
                          <a:spcPts val="400"/>
                        </a:spcAft>
                      </a:pPr>
                      <a:r>
                        <a:rPr sz="1100" b="0">
                          <a:solidFill>
                            <a:srgbClr val="ECF1F8"/>
                          </a:solidFill>
                          <a:latin typeface="Calibri"/>
                        </a:rPr>
                        <a:t>IXSCAN · 500</a:t>
                      </a:r>
                    </a:p>
                  </a:txBody>
                  <a:tcPr anchor="ctr" marL="64008" marR="64008">
                    <a:solidFill>
                      <a:srgbClr val="141E30"/>
                    </a:solidFill>
                  </a:tcPr>
                </a:tc>
                <a:tc>
                  <a:txBody>
                    <a:bodyPr/>
                    <a:lstStyle/>
                    <a:p>
                      <a:pPr algn="l">
                        <a:spcAft>
                          <a:spcPts val="400"/>
                        </a:spcAft>
                      </a:pPr>
                      <a:r>
                        <a:rPr sz="1100" b="1">
                          <a:solidFill>
                            <a:srgbClr val="3DD598"/>
                          </a:solidFill>
                          <a:latin typeface="Calibri"/>
                        </a:rPr>
                        <a:t>3.7x</a:t>
                      </a:r>
                    </a:p>
                  </a:txBody>
                  <a:tcPr anchor="ctr" marL="64008" marR="64008">
                    <a:solidFill>
                      <a:srgbClr val="141E30"/>
                    </a:solidFill>
                  </a:tcPr>
                </a:tc>
              </a:tr>
              <a:tr h="420624">
                <a:tc>
                  <a:txBody>
                    <a:bodyPr/>
                    <a:lstStyle/>
                    <a:p>
                      <a:pPr algn="l">
                        <a:spcAft>
                          <a:spcPts val="400"/>
                        </a:spcAft>
                      </a:pPr>
                      <a:r>
                        <a:rPr sz="1100" b="0">
                          <a:solidFill>
                            <a:srgbClr val="ECF1F8"/>
                          </a:solidFill>
                          <a:latin typeface="Calibri"/>
                        </a:rPr>
                        <a:t>history metadata</a:t>
                      </a:r>
                    </a:p>
                  </a:txBody>
                  <a:tcPr anchor="ctr" marL="64008" marR="64008">
                    <a:solidFill>
                      <a:srgbClr val="182236"/>
                    </a:solidFill>
                  </a:tcPr>
                </a:tc>
                <a:tc>
                  <a:txBody>
                    <a:bodyPr/>
                    <a:lstStyle/>
                    <a:p>
                      <a:pPr algn="l">
                        <a:spcAft>
                          <a:spcPts val="400"/>
                        </a:spcAft>
                      </a:pPr>
                      <a:r>
                        <a:rPr sz="1100" b="0">
                          <a:solidFill>
                            <a:srgbClr val="ECF1F8"/>
                          </a:solidFill>
                          <a:latin typeface="Calibri"/>
                        </a:rPr>
                        <a:t>COLLSCAN · 80,019</a:t>
                      </a:r>
                    </a:p>
                  </a:txBody>
                  <a:tcPr anchor="ctr" marL="64008" marR="64008">
                    <a:solidFill>
                      <a:srgbClr val="182236"/>
                    </a:solidFill>
                  </a:tcPr>
                </a:tc>
                <a:tc>
                  <a:txBody>
                    <a:bodyPr/>
                    <a:lstStyle/>
                    <a:p>
                      <a:pPr algn="l">
                        <a:spcAft>
                          <a:spcPts val="400"/>
                        </a:spcAft>
                      </a:pPr>
                      <a:r>
                        <a:rPr sz="1100" b="0">
                          <a:solidFill>
                            <a:srgbClr val="ECF1F8"/>
                          </a:solidFill>
                          <a:latin typeface="Calibri"/>
                        </a:rPr>
                        <a:t>IXSCAN · 48,000</a:t>
                      </a:r>
                    </a:p>
                  </a:txBody>
                  <a:tcPr anchor="ctr" marL="64008" marR="64008">
                    <a:solidFill>
                      <a:srgbClr val="182236"/>
                    </a:solidFill>
                  </a:tcPr>
                </a:tc>
                <a:tc>
                  <a:txBody>
                    <a:bodyPr/>
                    <a:lstStyle/>
                    <a:p>
                      <a:pPr algn="l">
                        <a:spcAft>
                          <a:spcPts val="400"/>
                        </a:spcAft>
                      </a:pPr>
                      <a:r>
                        <a:rPr sz="1100" b="1">
                          <a:solidFill>
                            <a:srgbClr val="3DD598"/>
                          </a:solidFill>
                          <a:latin typeface="Calibri"/>
                        </a:rPr>
                        <a:t>1.1x</a:t>
                      </a:r>
                    </a:p>
                  </a:txBody>
                  <a:tcPr anchor="ctr" marL="64008" marR="64008">
                    <a:solidFill>
                      <a:srgbClr val="182236"/>
                    </a:solidFill>
                  </a:tcPr>
                </a:tc>
              </a:tr>
              <a:tr h="420624">
                <a:tc>
                  <a:txBody>
                    <a:bodyPr/>
                    <a:lstStyle/>
                    <a:p>
                      <a:pPr algn="l">
                        <a:spcAft>
                          <a:spcPts val="400"/>
                        </a:spcAft>
                      </a:pPr>
                      <a:r>
                        <a:rPr sz="1100" b="0">
                          <a:solidFill>
                            <a:srgbClr val="ECF1F8"/>
                          </a:solidFill>
                          <a:latin typeface="Calibri"/>
                        </a:rPr>
                        <a:t>tool count</a:t>
                      </a:r>
                    </a:p>
                  </a:txBody>
                  <a:tcPr anchor="ctr" marL="64008" marR="64008">
                    <a:solidFill>
                      <a:srgbClr val="141E30"/>
                    </a:solidFill>
                  </a:tcPr>
                </a:tc>
                <a:tc>
                  <a:txBody>
                    <a:bodyPr/>
                    <a:lstStyle/>
                    <a:p>
                      <a:pPr algn="l">
                        <a:spcAft>
                          <a:spcPts val="400"/>
                        </a:spcAft>
                      </a:pPr>
                      <a:r>
                        <a:rPr sz="1100" b="0">
                          <a:solidFill>
                            <a:srgbClr val="ECF1F8"/>
                          </a:solidFill>
                          <a:latin typeface="Calibri"/>
                        </a:rPr>
                        <a:t>COLLSCAN · 80,019</a:t>
                      </a:r>
                    </a:p>
                  </a:txBody>
                  <a:tcPr anchor="ctr" marL="64008" marR="64008">
                    <a:solidFill>
                      <a:srgbClr val="141E30"/>
                    </a:solidFill>
                  </a:tcPr>
                </a:tc>
                <a:tc>
                  <a:txBody>
                    <a:bodyPr/>
                    <a:lstStyle/>
                    <a:p>
                      <a:pPr algn="l">
                        <a:spcAft>
                          <a:spcPts val="400"/>
                        </a:spcAft>
                      </a:pPr>
                      <a:r>
                        <a:rPr sz="1100" b="0">
                          <a:solidFill>
                            <a:srgbClr val="ECF1F8"/>
                          </a:solidFill>
                          <a:latin typeface="Calibri"/>
                        </a:rPr>
                        <a:t>COUNT_SCAN · 0</a:t>
                      </a:r>
                    </a:p>
                  </a:txBody>
                  <a:tcPr anchor="ctr" marL="64008" marR="64008">
                    <a:solidFill>
                      <a:srgbClr val="141E30"/>
                    </a:solidFill>
                  </a:tcPr>
                </a:tc>
                <a:tc>
                  <a:txBody>
                    <a:bodyPr/>
                    <a:lstStyle/>
                    <a:p>
                      <a:pPr algn="l">
                        <a:spcAft>
                          <a:spcPts val="400"/>
                        </a:spcAft>
                      </a:pPr>
                      <a:r>
                        <a:rPr sz="1100" b="1">
                          <a:solidFill>
                            <a:srgbClr val="3DD598"/>
                          </a:solidFill>
                          <a:latin typeface="Calibri"/>
                        </a:rPr>
                        <a:t>4.8x</a:t>
                      </a:r>
                    </a:p>
                  </a:txBody>
                  <a:tcPr anchor="ctr" marL="64008" marR="64008">
                    <a:solidFill>
                      <a:srgbClr val="141E30"/>
                    </a:solidFill>
                  </a:tcPr>
                </a:tc>
              </a:tr>
              <a:tr h="420624">
                <a:tc>
                  <a:txBody>
                    <a:bodyPr/>
                    <a:lstStyle/>
                    <a:p>
                      <a:pPr algn="l">
                        <a:spcAft>
                          <a:spcPts val="400"/>
                        </a:spcAft>
                      </a:pPr>
                      <a:r>
                        <a:rPr sz="1100" b="0">
                          <a:solidFill>
                            <a:srgbClr val="ECF1F8"/>
                          </a:solidFill>
                          <a:latin typeface="Calibri"/>
                        </a:rPr>
                        <a:t>covered query</a:t>
                      </a:r>
                    </a:p>
                  </a:txBody>
                  <a:tcPr anchor="ctr" marL="64008" marR="64008">
                    <a:solidFill>
                      <a:srgbClr val="182236"/>
                    </a:solidFill>
                  </a:tcPr>
                </a:tc>
                <a:tc>
                  <a:txBody>
                    <a:bodyPr/>
                    <a:lstStyle/>
                    <a:p>
                      <a:pPr algn="l">
                        <a:spcAft>
                          <a:spcPts val="400"/>
                        </a:spcAft>
                      </a:pPr>
                      <a:r>
                        <a:rPr sz="1100" b="0">
                          <a:solidFill>
                            <a:srgbClr val="ECF1F8"/>
                          </a:solidFill>
                          <a:latin typeface="Calibri"/>
                        </a:rPr>
                        <a:t>COLLSCAN · 80,019</a:t>
                      </a:r>
                    </a:p>
                  </a:txBody>
                  <a:tcPr anchor="ctr" marL="64008" marR="64008">
                    <a:solidFill>
                      <a:srgbClr val="182236"/>
                    </a:solidFill>
                  </a:tcPr>
                </a:tc>
                <a:tc>
                  <a:txBody>
                    <a:bodyPr/>
                    <a:lstStyle/>
                    <a:p>
                      <a:pPr algn="l">
                        <a:spcAft>
                          <a:spcPts val="400"/>
                        </a:spcAft>
                      </a:pPr>
                      <a:r>
                        <a:rPr sz="1100" b="0">
                          <a:solidFill>
                            <a:srgbClr val="ECF1F8"/>
                          </a:solidFill>
                          <a:latin typeface="Calibri"/>
                        </a:rPr>
                        <a:t>IXSCAN · 0</a:t>
                      </a:r>
                    </a:p>
                  </a:txBody>
                  <a:tcPr anchor="ctr" marL="64008" marR="64008">
                    <a:solidFill>
                      <a:srgbClr val="182236"/>
                    </a:solidFill>
                  </a:tcPr>
                </a:tc>
                <a:tc>
                  <a:txBody>
                    <a:bodyPr/>
                    <a:lstStyle/>
                    <a:p>
                      <a:pPr algn="l">
                        <a:spcAft>
                          <a:spcPts val="400"/>
                        </a:spcAft>
                      </a:pPr>
                      <a:r>
                        <a:rPr sz="1100" b="1">
                          <a:solidFill>
                            <a:srgbClr val="3DD598"/>
                          </a:solidFill>
                          <a:latin typeface="Calibri"/>
                        </a:rPr>
                        <a:t>1.7x</a:t>
                      </a:r>
                    </a:p>
                  </a:txBody>
                  <a:tcPr anchor="ctr" marL="64008" marR="64008">
                    <a:solidFill>
                      <a:srgbClr val="182236"/>
                    </a:solidFill>
                  </a:tcPr>
                </a:tc>
              </a:tr>
            </a:tbl>
          </a:graphicData>
        </a:graphic>
      </p:graphicFrame>
      <p:sp>
        <p:nvSpPr>
          <p:cNvPr id="9" name="TextBox 8"/>
          <p:cNvSpPr txBox="1"/>
          <p:nvPr/>
        </p:nvSpPr>
        <p:spPr>
          <a:xfrm>
            <a:off x="6537960" y="4114800"/>
            <a:ext cx="5093208" cy="1737360"/>
          </a:xfrm>
          <a:prstGeom prst="rect">
            <a:avLst/>
          </a:prstGeom>
          <a:noFill/>
        </p:spPr>
        <p:txBody>
          <a:bodyPr wrap="square" anchor="t" lIns="0" rIns="0" tIns="0" bIns="0">
            <a:spAutoFit/>
          </a:bodyPr>
          <a:lstStyle/>
          <a:p>
            <a:pPr algn="l">
              <a:spcAft>
                <a:spcPts val="400"/>
              </a:spcAft>
            </a:pPr>
            <a:r>
              <a:rPr sz="1450" b="1">
                <a:solidFill>
                  <a:srgbClr val="4F9BF5"/>
                </a:solidFill>
                <a:latin typeface="Calibri"/>
              </a:rPr>
              <a:t>The method</a:t>
            </a:r>
          </a:p>
          <a:p>
            <a:pPr algn="l">
              <a:lnSpc>
                <a:spcPct val="108000"/>
              </a:lnSpc>
              <a:spcAft>
                <a:spcPts val="400"/>
              </a:spcAft>
            </a:pPr>
            <a:r>
              <a:rPr sz="1250" b="0">
                <a:solidFill>
                  <a:srgbClr val="93A4BD"/>
                </a:solidFill>
                <a:latin typeface="Calibri"/>
              </a:rPr>
              <a:t>Drop the indexes, run each real query five times keeping the best, capture explain in executionStats mode, rebuild, repeat.</a:t>
            </a:r>
          </a:p>
          <a:p>
            <a:pPr algn="l">
              <a:lnSpc>
                <a:spcPct val="108000"/>
              </a:lnSpc>
              <a:spcAft>
                <a:spcPts val="400"/>
              </a:spcAft>
            </a:pPr>
            <a:r>
              <a:rPr sz="1250" b="0">
                <a:solidFill>
                  <a:srgbClr val="93A4BD"/>
                </a:solidFill>
                <a:latin typeface="Calibri"/>
              </a:rPr>
              <a:t>Two queries reach zero documents examined: the count wins a COUNT_SCAN that tallies index keys, and the covered query is answered entirely from the index.</a:t>
            </a:r>
          </a:p>
        </p:txBody>
      </p:sp>
      <p:sp>
        <p:nvSpPr>
          <p:cNvPr id="10" name="TextBox 9"/>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5.3 of the report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QUERY QUALITY</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Where the index barely helps</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45920"/>
            <a:ext cx="11064240" cy="1371600"/>
          </a:xfrm>
          <a:prstGeom prst="roundRect">
            <a:avLst>
              <a:gd name="adj" fmla="val 4000"/>
            </a:avLst>
          </a:prstGeom>
          <a:solidFill>
            <a:srgbClr val="2A2012"/>
          </a:solidFill>
          <a:ln w="12700">
            <a:solidFill>
              <a:srgbClr val="F5A5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47088"/>
            <a:ext cx="10515600" cy="1005840"/>
          </a:xfrm>
          <a:prstGeom prst="rect">
            <a:avLst/>
          </a:prstGeom>
          <a:noFill/>
        </p:spPr>
        <p:txBody>
          <a:bodyPr wrap="square" anchor="t" lIns="0" rIns="0" tIns="0" bIns="0">
            <a:spAutoFit/>
          </a:bodyPr>
          <a:lstStyle/>
          <a:p>
            <a:pPr algn="l">
              <a:spcAft>
                <a:spcPts val="400"/>
              </a:spcAft>
            </a:pPr>
            <a:r>
              <a:rPr sz="1900" b="1">
                <a:solidFill>
                  <a:srgbClr val="F5A524"/>
                </a:solidFill>
                <a:latin typeface="Calibri"/>
              </a:rPr>
              <a:t>history metadata:  305 ms without → 274 ms with  (1.1x)</a:t>
            </a:r>
          </a:p>
          <a:p>
            <a:pPr algn="l">
              <a:spcAft>
                <a:spcPts val="400"/>
              </a:spcAft>
            </a:pPr>
            <a:r>
              <a:rPr sz="1350" b="0">
                <a:solidFill>
                  <a:srgbClr val="93A4BD"/>
                </a:solidFill>
                <a:latin typeface="Calibri"/>
              </a:rPr>
              <a:t>It still opens 48,000 documents. This result is reported rather than omitted.</a:t>
            </a:r>
          </a:p>
        </p:txBody>
      </p:sp>
      <p:sp>
        <p:nvSpPr>
          <p:cNvPr id="8" name="TextBox 7"/>
          <p:cNvSpPr txBox="1"/>
          <p:nvPr/>
        </p:nvSpPr>
        <p:spPr>
          <a:xfrm>
            <a:off x="566928" y="3337560"/>
            <a:ext cx="11064240" cy="274320"/>
          </a:xfrm>
          <a:prstGeom prst="rect">
            <a:avLst/>
          </a:prstGeom>
          <a:noFill/>
        </p:spPr>
        <p:txBody>
          <a:bodyPr wrap="square" anchor="t" lIns="0" rIns="0" tIns="0" bIns="0">
            <a:spAutoFit/>
          </a:bodyPr>
          <a:lstStyle/>
          <a:p>
            <a:pPr>
              <a:lnSpc>
                <a:spcPct val="104000"/>
              </a:lnSpc>
            </a:pPr>
            <a:r>
              <a:rPr sz="1450" b="1">
                <a:solidFill>
                  <a:srgbClr val="ECF1F8"/>
                </a:solidFill>
                <a:latin typeface="Calibri"/>
              </a:rPr>
              <a:t>The query is not selective. </a:t>
            </a:r>
            <a:r>
              <a:rPr sz="1450" b="0">
                <a:solidFill>
                  <a:srgbClr val="93A4BD"/>
                </a:solidFill>
                <a:latin typeface="Calibri"/>
              </a:rPr>
              <a:t>It returns tens of thousands of documents, so the index lets the server skip almost nothing.</a:t>
            </a:r>
          </a:p>
        </p:txBody>
      </p:sp>
      <p:sp>
        <p:nvSpPr>
          <p:cNvPr id="9" name="TextBox 8"/>
          <p:cNvSpPr txBox="1"/>
          <p:nvPr/>
        </p:nvSpPr>
        <p:spPr>
          <a:xfrm>
            <a:off x="566928" y="3904487"/>
            <a:ext cx="11064240" cy="274320"/>
          </a:xfrm>
          <a:prstGeom prst="rect">
            <a:avLst/>
          </a:prstGeom>
          <a:noFill/>
        </p:spPr>
        <p:txBody>
          <a:bodyPr wrap="square" anchor="t" lIns="0" rIns="0" tIns="0" bIns="0">
            <a:spAutoFit/>
          </a:bodyPr>
          <a:lstStyle/>
          <a:p>
            <a:pPr>
              <a:lnSpc>
                <a:spcPct val="104000"/>
              </a:lnSpc>
            </a:pPr>
            <a:r>
              <a:rPr sz="1450" b="1">
                <a:solidFill>
                  <a:srgbClr val="ECF1F8"/>
                </a:solidFill>
                <a:latin typeface="Calibri"/>
              </a:rPr>
              <a:t>Index then fetch is random access; </a:t>
            </a:r>
            <a:r>
              <a:rPr sz="1450" b="0">
                <a:solidFill>
                  <a:srgbClr val="93A4BD"/>
                </a:solidFill>
                <a:latin typeface="Calibri"/>
              </a:rPr>
              <a:t>scanning the collection in storage order is sequential. When a query touches most of a collection, the sequential scan wins.</a:t>
            </a:r>
          </a:p>
        </p:txBody>
      </p:sp>
      <p:sp>
        <p:nvSpPr>
          <p:cNvPr id="10" name="TextBox 9"/>
          <p:cNvSpPr txBox="1"/>
          <p:nvPr/>
        </p:nvSpPr>
        <p:spPr>
          <a:xfrm>
            <a:off x="566928" y="4471416"/>
            <a:ext cx="11064240" cy="274320"/>
          </a:xfrm>
          <a:prstGeom prst="rect">
            <a:avLst/>
          </a:prstGeom>
          <a:noFill/>
        </p:spPr>
        <p:txBody>
          <a:bodyPr wrap="square" anchor="t" lIns="0" rIns="0" tIns="0" bIns="0">
            <a:spAutoFit/>
          </a:bodyPr>
          <a:lstStyle/>
          <a:p>
            <a:pPr>
              <a:lnSpc>
                <a:spcPct val="104000"/>
              </a:lnSpc>
            </a:pPr>
            <a:r>
              <a:rPr sz="1450" b="1">
                <a:solidFill>
                  <a:srgbClr val="ECF1F8"/>
                </a:solidFill>
                <a:latin typeface="Calibri"/>
              </a:rPr>
              <a:t>MongoDB's own planner would often choose the scan. </a:t>
            </a:r>
            <a:r>
              <a:rPr sz="1450" b="0">
                <a:solidFill>
                  <a:srgbClr val="93A4BD"/>
                </a:solidFill>
                <a:latin typeface="Calibri"/>
              </a:rPr>
              <a:t>The optimiser agreeing with the measurement is the point.</a:t>
            </a:r>
          </a:p>
        </p:txBody>
      </p:sp>
      <p:sp>
        <p:nvSpPr>
          <p:cNvPr id="11" name="TextBox 10"/>
          <p:cNvSpPr txBox="1"/>
          <p:nvPr/>
        </p:nvSpPr>
        <p:spPr>
          <a:xfrm>
            <a:off x="566928" y="5038344"/>
            <a:ext cx="11064240" cy="274320"/>
          </a:xfrm>
          <a:prstGeom prst="rect">
            <a:avLst/>
          </a:prstGeom>
          <a:noFill/>
        </p:spPr>
        <p:txBody>
          <a:bodyPr wrap="square" anchor="t" lIns="0" rIns="0" tIns="0" bIns="0">
            <a:spAutoFit/>
          </a:bodyPr>
          <a:lstStyle/>
          <a:p>
            <a:pPr>
              <a:lnSpc>
                <a:spcPct val="104000"/>
              </a:lnSpc>
            </a:pPr>
            <a:r>
              <a:rPr sz="1450" b="1">
                <a:solidFill>
                  <a:srgbClr val="ECF1F8"/>
                </a:solidFill>
                <a:latin typeface="Calibri"/>
              </a:rPr>
              <a:t>The general rule: </a:t>
            </a:r>
            <a:r>
              <a:rPr sz="1450" b="0">
                <a:solidFill>
                  <a:srgbClr val="93A4BD"/>
                </a:solidFill>
                <a:latin typeface="Calibri"/>
              </a:rPr>
              <a:t>an index pays off in proportion to how much of the collection it lets the server skip. A query that skips nothing gains nothing.</a:t>
            </a:r>
          </a:p>
        </p:txBody>
      </p:sp>
      <p:sp>
        <p:nvSpPr>
          <p:cNvPr id="12" name="TextBox 11"/>
          <p:cNvSpPr txBox="1"/>
          <p:nvPr/>
        </p:nvSpPr>
        <p:spPr>
          <a:xfrm>
            <a:off x="566928" y="5623560"/>
            <a:ext cx="11064240" cy="548640"/>
          </a:xfrm>
          <a:prstGeom prst="rect">
            <a:avLst/>
          </a:prstGeom>
          <a:noFill/>
        </p:spPr>
        <p:txBody>
          <a:bodyPr wrap="square" anchor="t" lIns="0" rIns="0" tIns="0" bIns="0">
            <a:spAutoFit/>
          </a:bodyPr>
          <a:lstStyle/>
          <a:p>
            <a:pPr algn="l">
              <a:lnSpc>
                <a:spcPct val="108000"/>
              </a:lnSpc>
              <a:spcAft>
                <a:spcPts val="400"/>
              </a:spcAft>
            </a:pPr>
            <a:r>
              <a:rPr sz="1250" b="0">
                <a:solidFill>
                  <a:srgbClr val="93A4BD"/>
                </a:solidFill>
                <a:latin typeface="Calibri"/>
              </a:rPr>
              <a:t>Timings are also cache-warm: the whole collection fits in the WiredTiger cache here, which flatters the unindexed case. On Atlas M0 the gap would be wider, so these speed-ups are a conservative floor.</a:t>
            </a:r>
          </a:p>
        </p:txBody>
      </p:sp>
      <p:sp>
        <p:nvSpPr>
          <p:cNvPr id="13" name="TextBox 12"/>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5.4 of the report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QUERY QUALITY</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Nine pipelines, each answering a real question</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1572768"/>
          <a:ext cx="11064240" cy="3657600"/>
        </p:xfrm>
        <a:graphic>
          <a:graphicData uri="http://schemas.openxmlformats.org/drawingml/2006/table">
            <a:tbl>
              <a:tblPr firstRow="1" bandRow="1">
                <a:tableStyleId>{5C22544A-7EE6-4342-B048-85BDC9FD1C3A}</a:tableStyleId>
              </a:tblPr>
              <a:tblGrid>
                <a:gridCol w="2286000"/>
                <a:gridCol w="4114800"/>
                <a:gridCol w="3703320"/>
                <a:gridCol w="960120"/>
              </a:tblGrid>
              <a:tr h="365760">
                <a:tc>
                  <a:txBody>
                    <a:bodyPr/>
                    <a:lstStyle/>
                    <a:p>
                      <a:pPr algn="l">
                        <a:spcAft>
                          <a:spcPts val="400"/>
                        </a:spcAft>
                      </a:pPr>
                      <a:r>
                        <a:rPr sz="1050" b="1">
                          <a:solidFill>
                            <a:srgbClr val="4F9BF5"/>
                          </a:solidFill>
                          <a:latin typeface="Calibri"/>
                        </a:rPr>
                        <a:t>Pipeline</a:t>
                      </a:r>
                    </a:p>
                  </a:txBody>
                  <a:tcPr anchor="ctr" marL="64008" marR="64008">
                    <a:solidFill>
                      <a:srgbClr val="22314A"/>
                    </a:solidFill>
                  </a:tcPr>
                </a:tc>
                <a:tc>
                  <a:txBody>
                    <a:bodyPr/>
                    <a:lstStyle/>
                    <a:p>
                      <a:pPr algn="l">
                        <a:spcAft>
                          <a:spcPts val="400"/>
                        </a:spcAft>
                      </a:pPr>
                      <a:r>
                        <a:rPr sz="1050" b="1">
                          <a:solidFill>
                            <a:srgbClr val="4F9BF5"/>
                          </a:solidFill>
                          <a:latin typeface="Calibri"/>
                        </a:rPr>
                        <a:t>Question it answers</a:t>
                      </a:r>
                    </a:p>
                  </a:txBody>
                  <a:tcPr anchor="ctr" marL="64008" marR="64008">
                    <a:solidFill>
                      <a:srgbClr val="22314A"/>
                    </a:solidFill>
                  </a:tcPr>
                </a:tc>
                <a:tc>
                  <a:txBody>
                    <a:bodyPr/>
                    <a:lstStyle/>
                    <a:p>
                      <a:pPr algn="l">
                        <a:spcAft>
                          <a:spcPts val="400"/>
                        </a:spcAft>
                      </a:pPr>
                      <a:r>
                        <a:rPr sz="1050" b="1">
                          <a:solidFill>
                            <a:srgbClr val="4F9BF5"/>
                          </a:solidFill>
                          <a:latin typeface="Calibri"/>
                        </a:rPr>
                        <a:t>Stages</a:t>
                      </a:r>
                    </a:p>
                  </a:txBody>
                  <a:tcPr anchor="ctr" marL="64008" marR="64008">
                    <a:solidFill>
                      <a:srgbClr val="22314A"/>
                    </a:solidFill>
                  </a:tcPr>
                </a:tc>
                <a:tc>
                  <a:txBody>
                    <a:bodyPr/>
                    <a:lstStyle/>
                    <a:p>
                      <a:pPr algn="l">
                        <a:spcAft>
                          <a:spcPts val="400"/>
                        </a:spcAft>
                      </a:pPr>
                      <a:r>
                        <a:rPr sz="1050" b="1">
                          <a:solidFill>
                            <a:srgbClr val="4F9BF5"/>
                          </a:solidFill>
                          <a:latin typeface="Calibri"/>
                        </a:rPr>
                        <a:t>Time</a:t>
                      </a:r>
                    </a:p>
                  </a:txBody>
                  <a:tcPr anchor="ctr" marL="64008" marR="64008">
                    <a:solidFill>
                      <a:srgbClr val="22314A"/>
                    </a:solidFill>
                  </a:tcPr>
                </a:tc>
              </a:tr>
              <a:tr h="365760">
                <a:tc>
                  <a:txBody>
                    <a:bodyPr/>
                    <a:lstStyle/>
                    <a:p>
                      <a:pPr algn="l">
                        <a:spcAft>
                          <a:spcPts val="400"/>
                        </a:spcAft>
                      </a:pPr>
                      <a:r>
                        <a:rPr sz="1050" b="0">
                          <a:solidFill>
                            <a:srgbClr val="ECF1F8"/>
                          </a:solidFill>
                          <a:latin typeface="Calibri"/>
                        </a:rPr>
                        <a:t>Contribution breakdown by user</a:t>
                      </a:r>
                    </a:p>
                  </a:txBody>
                  <a:tcPr anchor="ctr" marL="64008" marR="64008">
                    <a:solidFill>
                      <a:srgbClr val="182236"/>
                    </a:solidFill>
                  </a:tcPr>
                </a:tc>
                <a:tc>
                  <a:txBody>
                    <a:bodyPr/>
                    <a:lstStyle/>
                    <a:p>
                      <a:pPr algn="l">
                        <a:spcAft>
                          <a:spcPts val="400"/>
                        </a:spcAft>
                      </a:pPr>
                      <a:r>
                        <a:rPr sz="1050" b="0">
                          <a:solidFill>
                            <a:srgbClr val="ECF1F8"/>
                          </a:solidFill>
                          <a:latin typeface="Calibri"/>
                        </a:rPr>
                        <a:t>Who drew how much in this room, and how often did they und</a:t>
                      </a:r>
                    </a:p>
                  </a:txBody>
                  <a:tcPr anchor="ctr" marL="64008" marR="64008">
                    <a:solidFill>
                      <a:srgbClr val="182236"/>
                    </a:solidFill>
                  </a:tcPr>
                </a:tc>
                <a:tc>
                  <a:txBody>
                    <a:bodyPr/>
                    <a:lstStyle/>
                    <a:p>
                      <a:pPr algn="l">
                        <a:spcAft>
                          <a:spcPts val="400"/>
                        </a:spcAft>
                      </a:pPr>
                      <a:r>
                        <a:rPr sz="1050" b="0">
                          <a:solidFill>
                            <a:srgbClr val="ECF1F8"/>
                          </a:solidFill>
                          <a:latin typeface="Calibri"/>
                        </a:rPr>
                        <a:t>$match, $group, $project, $sort</a:t>
                      </a:r>
                    </a:p>
                  </a:txBody>
                  <a:tcPr anchor="ctr" marL="64008" marR="64008">
                    <a:solidFill>
                      <a:srgbClr val="182236"/>
                    </a:solidFill>
                  </a:tcPr>
                </a:tc>
                <a:tc>
                  <a:txBody>
                    <a:bodyPr/>
                    <a:lstStyle/>
                    <a:p>
                      <a:pPr algn="l">
                        <a:spcAft>
                          <a:spcPts val="400"/>
                        </a:spcAft>
                      </a:pPr>
                      <a:r>
                        <a:rPr sz="1050" b="0">
                          <a:solidFill>
                            <a:srgbClr val="ECF1F8"/>
                          </a:solidFill>
                          <a:latin typeface="Calibri"/>
                        </a:rPr>
                        <a:t>351 ms</a:t>
                      </a:r>
                    </a:p>
                  </a:txBody>
                  <a:tcPr anchor="ctr" marL="64008" marR="64008">
                    <a:solidFill>
                      <a:srgbClr val="182236"/>
                    </a:solidFill>
                  </a:tcPr>
                </a:tc>
              </a:tr>
              <a:tr h="365760">
                <a:tc>
                  <a:txBody>
                    <a:bodyPr/>
                    <a:lstStyle/>
                    <a:p>
                      <a:pPr algn="l">
                        <a:spcAft>
                          <a:spcPts val="400"/>
                        </a:spcAft>
                      </a:pPr>
                      <a:r>
                        <a:rPr sz="1050" b="0">
                          <a:solidFill>
                            <a:srgbClr val="ECF1F8"/>
                          </a:solidFill>
                          <a:latin typeface="Calibri"/>
                        </a:rPr>
                        <a:t>Tool usage mix</a:t>
                      </a:r>
                    </a:p>
                  </a:txBody>
                  <a:tcPr anchor="ctr" marL="64008" marR="64008">
                    <a:solidFill>
                      <a:srgbClr val="141E30"/>
                    </a:solidFill>
                  </a:tcPr>
                </a:tc>
                <a:tc>
                  <a:txBody>
                    <a:bodyPr/>
                    <a:lstStyle/>
                    <a:p>
                      <a:pPr algn="l">
                        <a:spcAft>
                          <a:spcPts val="400"/>
                        </a:spcAft>
                      </a:pPr>
                      <a:r>
                        <a:rPr sz="1050" b="0">
                          <a:solidFill>
                            <a:srgbClr val="ECF1F8"/>
                          </a:solidFill>
                          <a:latin typeface="Calibri"/>
                        </a:rPr>
                        <a:t>Which tools dominate, and how complex is a typical stroke </a:t>
                      </a:r>
                    </a:p>
                  </a:txBody>
                  <a:tcPr anchor="ctr" marL="64008" marR="64008">
                    <a:solidFill>
                      <a:srgbClr val="141E30"/>
                    </a:solidFill>
                  </a:tcPr>
                </a:tc>
                <a:tc>
                  <a:txBody>
                    <a:bodyPr/>
                    <a:lstStyle/>
                    <a:p>
                      <a:pPr algn="l">
                        <a:spcAft>
                          <a:spcPts val="400"/>
                        </a:spcAft>
                      </a:pPr>
                      <a:r>
                        <a:rPr sz="1050" b="0">
                          <a:solidFill>
                            <a:srgbClr val="ECF1F8"/>
                          </a:solidFill>
                          <a:latin typeface="Calibri"/>
                        </a:rPr>
                        <a:t>$match, $group, $project, $sort</a:t>
                      </a:r>
                    </a:p>
                  </a:txBody>
                  <a:tcPr anchor="ctr" marL="64008" marR="64008">
                    <a:solidFill>
                      <a:srgbClr val="141E30"/>
                    </a:solidFill>
                  </a:tcPr>
                </a:tc>
                <a:tc>
                  <a:txBody>
                    <a:bodyPr/>
                    <a:lstStyle/>
                    <a:p>
                      <a:pPr algn="l">
                        <a:spcAft>
                          <a:spcPts val="400"/>
                        </a:spcAft>
                      </a:pPr>
                      <a:r>
                        <a:rPr sz="1050" b="0">
                          <a:solidFill>
                            <a:srgbClr val="ECF1F8"/>
                          </a:solidFill>
                          <a:latin typeface="Calibri"/>
                        </a:rPr>
                        <a:t>166 ms</a:t>
                      </a:r>
                    </a:p>
                  </a:txBody>
                  <a:tcPr anchor="ctr" marL="64008" marR="64008">
                    <a:solidFill>
                      <a:srgbClr val="141E30"/>
                    </a:solidFill>
                  </a:tcPr>
                </a:tc>
              </a:tr>
              <a:tr h="365760">
                <a:tc>
                  <a:txBody>
                    <a:bodyPr/>
                    <a:lstStyle/>
                    <a:p>
                      <a:pPr algn="l">
                        <a:spcAft>
                          <a:spcPts val="400"/>
                        </a:spcAft>
                      </a:pPr>
                      <a:r>
                        <a:rPr sz="1050" b="0">
                          <a:solidFill>
                            <a:srgbClr val="ECF1F8"/>
                          </a:solidFill>
                          <a:latin typeface="Calibri"/>
                        </a:rPr>
                        <a:t>Drawing activity over time</a:t>
                      </a:r>
                    </a:p>
                  </a:txBody>
                  <a:tcPr anchor="ctr" marL="64008" marR="64008">
                    <a:solidFill>
                      <a:srgbClr val="182236"/>
                    </a:solidFill>
                  </a:tcPr>
                </a:tc>
                <a:tc>
                  <a:txBody>
                    <a:bodyPr/>
                    <a:lstStyle/>
                    <a:p>
                      <a:pPr algn="l">
                        <a:spcAft>
                          <a:spcPts val="400"/>
                        </a:spcAft>
                      </a:pPr>
                      <a:r>
                        <a:rPr sz="1050" b="0">
                          <a:solidFill>
                            <a:srgbClr val="ECF1F8"/>
                          </a:solidFill>
                          <a:latin typeface="Calibri"/>
                        </a:rPr>
                        <a:t>How did drawing intensity vary minute by minute?</a:t>
                      </a:r>
                    </a:p>
                  </a:txBody>
                  <a:tcPr anchor="ctr" marL="64008" marR="64008">
                    <a:solidFill>
                      <a:srgbClr val="182236"/>
                    </a:solidFill>
                  </a:tcPr>
                </a:tc>
                <a:tc>
                  <a:txBody>
                    <a:bodyPr/>
                    <a:lstStyle/>
                    <a:p>
                      <a:pPr algn="l">
                        <a:spcAft>
                          <a:spcPts val="400"/>
                        </a:spcAft>
                      </a:pPr>
                      <a:r>
                        <a:rPr sz="1050" b="0">
                          <a:solidFill>
                            <a:srgbClr val="ECF1F8"/>
                          </a:solidFill>
                          <a:latin typeface="Calibri"/>
                        </a:rPr>
                        <a:t>$match, $group, $project, $sort, $limit</a:t>
                      </a:r>
                    </a:p>
                  </a:txBody>
                  <a:tcPr anchor="ctr" marL="64008" marR="64008">
                    <a:solidFill>
                      <a:srgbClr val="182236"/>
                    </a:solidFill>
                  </a:tcPr>
                </a:tc>
                <a:tc>
                  <a:txBody>
                    <a:bodyPr/>
                    <a:lstStyle/>
                    <a:p>
                      <a:pPr algn="l">
                        <a:spcAft>
                          <a:spcPts val="400"/>
                        </a:spcAft>
                      </a:pPr>
                      <a:r>
                        <a:rPr sz="1050" b="0">
                          <a:solidFill>
                            <a:srgbClr val="ECF1F8"/>
                          </a:solidFill>
                          <a:latin typeface="Calibri"/>
                        </a:rPr>
                        <a:t>159 ms</a:t>
                      </a:r>
                    </a:p>
                  </a:txBody>
                  <a:tcPr anchor="ctr" marL="64008" marR="64008">
                    <a:solidFill>
                      <a:srgbClr val="182236"/>
                    </a:solidFill>
                  </a:tcPr>
                </a:tc>
              </a:tr>
              <a:tr h="365760">
                <a:tc>
                  <a:txBody>
                    <a:bodyPr/>
                    <a:lstStyle/>
                    <a:p>
                      <a:pPr algn="l">
                        <a:spcAft>
                          <a:spcPts val="400"/>
                        </a:spcAft>
                      </a:pPr>
                      <a:r>
                        <a:rPr sz="1050" b="0">
                          <a:solidFill>
                            <a:srgbClr val="ECF1F8"/>
                          </a:solidFill>
                          <a:latin typeface="Calibri"/>
                        </a:rPr>
                        <a:t>Stroke complexity distribution</a:t>
                      </a:r>
                    </a:p>
                  </a:txBody>
                  <a:tcPr anchor="ctr" marL="64008" marR="64008">
                    <a:solidFill>
                      <a:srgbClr val="141E30"/>
                    </a:solidFill>
                  </a:tcPr>
                </a:tc>
                <a:tc>
                  <a:txBody>
                    <a:bodyPr/>
                    <a:lstStyle/>
                    <a:p>
                      <a:pPr algn="l">
                        <a:spcAft>
                          <a:spcPts val="400"/>
                        </a:spcAft>
                      </a:pPr>
                      <a:r>
                        <a:rPr sz="1050" b="0">
                          <a:solidFill>
                            <a:srgbClr val="ECF1F8"/>
                          </a:solidFill>
                          <a:latin typeface="Calibri"/>
                        </a:rPr>
                        <a:t>Are strokes mostly short taps or long freehand curves?</a:t>
                      </a:r>
                    </a:p>
                  </a:txBody>
                  <a:tcPr anchor="ctr" marL="64008" marR="64008">
                    <a:solidFill>
                      <a:srgbClr val="141E30"/>
                    </a:solidFill>
                  </a:tcPr>
                </a:tc>
                <a:tc>
                  <a:txBody>
                    <a:bodyPr/>
                    <a:lstStyle/>
                    <a:p>
                      <a:pPr algn="l">
                        <a:spcAft>
                          <a:spcPts val="400"/>
                        </a:spcAft>
                      </a:pPr>
                      <a:r>
                        <a:rPr sz="1050" b="0">
                          <a:solidFill>
                            <a:srgbClr val="ECF1F8"/>
                          </a:solidFill>
                          <a:latin typeface="Calibri"/>
                        </a:rPr>
                        <a:t>$match, $bucket, $project</a:t>
                      </a:r>
                    </a:p>
                  </a:txBody>
                  <a:tcPr anchor="ctr" marL="64008" marR="64008">
                    <a:solidFill>
                      <a:srgbClr val="141E30"/>
                    </a:solidFill>
                  </a:tcPr>
                </a:tc>
                <a:tc>
                  <a:txBody>
                    <a:bodyPr/>
                    <a:lstStyle/>
                    <a:p>
                      <a:pPr algn="l">
                        <a:spcAft>
                          <a:spcPts val="400"/>
                        </a:spcAft>
                      </a:pPr>
                      <a:r>
                        <a:rPr sz="1050" b="0">
                          <a:solidFill>
                            <a:srgbClr val="ECF1F8"/>
                          </a:solidFill>
                          <a:latin typeface="Calibri"/>
                        </a:rPr>
                        <a:t>238 ms</a:t>
                      </a:r>
                    </a:p>
                  </a:txBody>
                  <a:tcPr anchor="ctr" marL="64008" marR="64008">
                    <a:solidFill>
                      <a:srgbClr val="141E30"/>
                    </a:solidFill>
                  </a:tcPr>
                </a:tc>
              </a:tr>
              <a:tr h="365760">
                <a:tc>
                  <a:txBody>
                    <a:bodyPr/>
                    <a:lstStyle/>
                    <a:p>
                      <a:pPr algn="l">
                        <a:spcAft>
                          <a:spcPts val="400"/>
                        </a:spcAft>
                      </a:pPr>
                      <a:r>
                        <a:rPr sz="1050" b="0">
                          <a:solidFill>
                            <a:srgbClr val="ECF1F8"/>
                          </a:solidFill>
                          <a:latin typeface="Calibri"/>
                        </a:rPr>
                        <a:t>Colour palette in use</a:t>
                      </a:r>
                    </a:p>
                  </a:txBody>
                  <a:tcPr anchor="ctr" marL="64008" marR="64008">
                    <a:solidFill>
                      <a:srgbClr val="182236"/>
                    </a:solidFill>
                  </a:tcPr>
                </a:tc>
                <a:tc>
                  <a:txBody>
                    <a:bodyPr/>
                    <a:lstStyle/>
                    <a:p>
                      <a:pPr algn="l">
                        <a:spcAft>
                          <a:spcPts val="400"/>
                        </a:spcAft>
                      </a:pPr>
                      <a:r>
                        <a:rPr sz="1050" b="0">
                          <a:solidFill>
                            <a:srgbClr val="ECF1F8"/>
                          </a:solidFill>
                          <a:latin typeface="Calibri"/>
                        </a:rPr>
                        <a:t>Which colours carry the most ink on the active canvas?</a:t>
                      </a:r>
                    </a:p>
                  </a:txBody>
                  <a:tcPr anchor="ctr" marL="64008" marR="64008">
                    <a:solidFill>
                      <a:srgbClr val="182236"/>
                    </a:solidFill>
                  </a:tcPr>
                </a:tc>
                <a:tc>
                  <a:txBody>
                    <a:bodyPr/>
                    <a:lstStyle/>
                    <a:p>
                      <a:pPr algn="l">
                        <a:spcAft>
                          <a:spcPts val="400"/>
                        </a:spcAft>
                      </a:pPr>
                      <a:r>
                        <a:rPr sz="1050" b="0">
                          <a:solidFill>
                            <a:srgbClr val="ECF1F8"/>
                          </a:solidFill>
                          <a:latin typeface="Calibri"/>
                        </a:rPr>
                        <a:t>$match, $group, $project, $sort, $limit</a:t>
                      </a:r>
                    </a:p>
                  </a:txBody>
                  <a:tcPr anchor="ctr" marL="64008" marR="64008">
                    <a:solidFill>
                      <a:srgbClr val="182236"/>
                    </a:solidFill>
                  </a:tcPr>
                </a:tc>
                <a:tc>
                  <a:txBody>
                    <a:bodyPr/>
                    <a:lstStyle/>
                    <a:p>
                      <a:pPr algn="l">
                        <a:spcAft>
                          <a:spcPts val="400"/>
                        </a:spcAft>
                      </a:pPr>
                      <a:r>
                        <a:rPr sz="1050" b="0">
                          <a:solidFill>
                            <a:srgbClr val="ECF1F8"/>
                          </a:solidFill>
                          <a:latin typeface="Calibri"/>
                        </a:rPr>
                        <a:t>188 ms</a:t>
                      </a:r>
                    </a:p>
                  </a:txBody>
                  <a:tcPr anchor="ctr" marL="64008" marR="64008">
                    <a:solidFill>
                      <a:srgbClr val="182236"/>
                    </a:solidFill>
                  </a:tcPr>
                </a:tc>
              </a:tr>
              <a:tr h="365760">
                <a:tc>
                  <a:txBody>
                    <a:bodyPr/>
                    <a:lstStyle/>
                    <a:p>
                      <a:pPr algn="l">
                        <a:spcAft>
                          <a:spcPts val="400"/>
                        </a:spcAft>
                      </a:pPr>
                      <a:r>
                        <a:rPr sz="1050" b="0">
                          <a:solidFill>
                            <a:srgbClr val="ECF1F8"/>
                          </a:solidFill>
                          <a:latin typeface="Calibri"/>
                        </a:rPr>
                        <a:t>Content bounding box</a:t>
                      </a:r>
                    </a:p>
                  </a:txBody>
                  <a:tcPr anchor="ctr" marL="64008" marR="64008">
                    <a:solidFill>
                      <a:srgbClr val="141E30"/>
                    </a:solidFill>
                  </a:tcPr>
                </a:tc>
                <a:tc>
                  <a:txBody>
                    <a:bodyPr/>
                    <a:lstStyle/>
                    <a:p>
                      <a:pPr algn="l">
                        <a:spcAft>
                          <a:spcPts val="400"/>
                        </a:spcAft>
                      </a:pPr>
                      <a:r>
                        <a:rPr sz="1050" b="0">
                          <a:solidFill>
                            <a:srgbClr val="ECF1F8"/>
                          </a:solidFill>
                          <a:latin typeface="Calibri"/>
                        </a:rPr>
                        <a:t>What canvas region actually contains drawing?</a:t>
                      </a:r>
                    </a:p>
                  </a:txBody>
                  <a:tcPr anchor="ctr" marL="64008" marR="64008">
                    <a:solidFill>
                      <a:srgbClr val="141E30"/>
                    </a:solidFill>
                  </a:tcPr>
                </a:tc>
                <a:tc>
                  <a:txBody>
                    <a:bodyPr/>
                    <a:lstStyle/>
                    <a:p>
                      <a:pPr algn="l">
                        <a:spcAft>
                          <a:spcPts val="400"/>
                        </a:spcAft>
                      </a:pPr>
                      <a:r>
                        <a:rPr sz="1050" b="0">
                          <a:solidFill>
                            <a:srgbClr val="ECF1F8"/>
                          </a:solidFill>
                          <a:latin typeface="Calibri"/>
                        </a:rPr>
                        <a:t>$match, $group, $project</a:t>
                      </a:r>
                    </a:p>
                  </a:txBody>
                  <a:tcPr anchor="ctr" marL="64008" marR="64008">
                    <a:solidFill>
                      <a:srgbClr val="141E30"/>
                    </a:solidFill>
                  </a:tcPr>
                </a:tc>
                <a:tc>
                  <a:txBody>
                    <a:bodyPr/>
                    <a:lstStyle/>
                    <a:p>
                      <a:pPr algn="l">
                        <a:spcAft>
                          <a:spcPts val="400"/>
                        </a:spcAft>
                      </a:pPr>
                      <a:r>
                        <a:rPr sz="1050" b="0">
                          <a:solidFill>
                            <a:srgbClr val="ECF1F8"/>
                          </a:solidFill>
                          <a:latin typeface="Calibri"/>
                        </a:rPr>
                        <a:t>191 ms</a:t>
                      </a:r>
                    </a:p>
                  </a:txBody>
                  <a:tcPr anchor="ctr" marL="64008" marR="64008">
                    <a:solidFill>
                      <a:srgbClr val="141E30"/>
                    </a:solidFill>
                  </a:tcPr>
                </a:tc>
              </a:tr>
              <a:tr h="365760">
                <a:tc>
                  <a:txBody>
                    <a:bodyPr/>
                    <a:lstStyle/>
                    <a:p>
                      <a:pPr algn="l">
                        <a:spcAft>
                          <a:spcPts val="400"/>
                        </a:spcAft>
                      </a:pPr>
                      <a:r>
                        <a:rPr sz="1050" b="0">
                          <a:solidFill>
                            <a:srgbClr val="ECF1F8"/>
                          </a:solidFill>
                          <a:latin typeface="Calibri"/>
                        </a:rPr>
                        <a:t>Room leaderboard (joined)</a:t>
                      </a:r>
                    </a:p>
                  </a:txBody>
                  <a:tcPr anchor="ctr" marL="64008" marR="64008">
                    <a:solidFill>
                      <a:srgbClr val="182236"/>
                    </a:solidFill>
                  </a:tcPr>
                </a:tc>
                <a:tc>
                  <a:txBody>
                    <a:bodyPr/>
                    <a:lstStyle/>
                    <a:p>
                      <a:pPr algn="l">
                        <a:spcAft>
                          <a:spcPts val="400"/>
                        </a:spcAft>
                      </a:pPr>
                      <a:r>
                        <a:rPr sz="1050" b="0">
                          <a:solidFill>
                            <a:srgbClr val="ECF1F8"/>
                          </a:solidFill>
                          <a:latin typeface="Calibri"/>
                        </a:rPr>
                        <a:t>Across all rooms, which are the busiest?</a:t>
                      </a:r>
                    </a:p>
                  </a:txBody>
                  <a:tcPr anchor="ctr" marL="64008" marR="64008">
                    <a:solidFill>
                      <a:srgbClr val="182236"/>
                    </a:solidFill>
                  </a:tcPr>
                </a:tc>
                <a:tc>
                  <a:txBody>
                    <a:bodyPr/>
                    <a:lstStyle/>
                    <a:p>
                      <a:pPr algn="l">
                        <a:spcAft>
                          <a:spcPts val="400"/>
                        </a:spcAft>
                      </a:pPr>
                      <a:r>
                        <a:rPr sz="1050" b="0">
                          <a:solidFill>
                            <a:srgbClr val="ECF1F8"/>
                          </a:solidFill>
                          <a:latin typeface="Calibri"/>
                        </a:rPr>
                        <a:t>$match, $lookup, $set, $project, $sort, $limit</a:t>
                      </a:r>
                    </a:p>
                  </a:txBody>
                  <a:tcPr anchor="ctr" marL="64008" marR="64008">
                    <a:solidFill>
                      <a:srgbClr val="182236"/>
                    </a:solidFill>
                  </a:tcPr>
                </a:tc>
                <a:tc>
                  <a:txBody>
                    <a:bodyPr/>
                    <a:lstStyle/>
                    <a:p>
                      <a:pPr algn="l">
                        <a:spcAft>
                          <a:spcPts val="400"/>
                        </a:spcAft>
                      </a:pPr>
                      <a:r>
                        <a:rPr sz="1050" b="0">
                          <a:solidFill>
                            <a:srgbClr val="ECF1F8"/>
                          </a:solidFill>
                          <a:latin typeface="Calibri"/>
                        </a:rPr>
                        <a:t>354 ms</a:t>
                      </a:r>
                    </a:p>
                  </a:txBody>
                  <a:tcPr anchor="ctr" marL="64008" marR="64008">
                    <a:solidFill>
                      <a:srgbClr val="182236"/>
                    </a:solidFill>
                  </a:tcPr>
                </a:tc>
              </a:tr>
              <a:tr h="365760">
                <a:tc>
                  <a:txBody>
                    <a:bodyPr/>
                    <a:lstStyle/>
                    <a:p>
                      <a:pPr algn="l">
                        <a:spcAft>
                          <a:spcPts val="400"/>
                        </a:spcAft>
                      </a:pPr>
                      <a:r>
                        <a:rPr sz="1050" b="0">
                          <a:solidFill>
                            <a:srgbClr val="ECF1F8"/>
                          </a:solidFill>
                          <a:latin typeface="Calibri"/>
                        </a:rPr>
                        <a:t>Single-request dashboard</a:t>
                      </a:r>
                    </a:p>
                  </a:txBody>
                  <a:tcPr anchor="ctr" marL="64008" marR="64008">
                    <a:solidFill>
                      <a:srgbClr val="141E30"/>
                    </a:solidFill>
                  </a:tcPr>
                </a:tc>
                <a:tc>
                  <a:txBody>
                    <a:bodyPr/>
                    <a:lstStyle/>
                    <a:p>
                      <a:pPr algn="l">
                        <a:spcAft>
                          <a:spcPts val="400"/>
                        </a:spcAft>
                      </a:pPr>
                      <a:r>
                        <a:rPr sz="1050" b="0">
                          <a:solidFill>
                            <a:srgbClr val="ECF1F8"/>
                          </a:solidFill>
                          <a:latin typeface="Calibri"/>
                        </a:rPr>
                        <a:t>Can the whole analytics panel load in one query?</a:t>
                      </a:r>
                    </a:p>
                  </a:txBody>
                  <a:tcPr anchor="ctr" marL="64008" marR="64008">
                    <a:solidFill>
                      <a:srgbClr val="141E30"/>
                    </a:solidFill>
                  </a:tcPr>
                </a:tc>
                <a:tc>
                  <a:txBody>
                    <a:bodyPr/>
                    <a:lstStyle/>
                    <a:p>
                      <a:pPr algn="l">
                        <a:spcAft>
                          <a:spcPts val="400"/>
                        </a:spcAft>
                      </a:pPr>
                      <a:r>
                        <a:rPr sz="1050" b="0">
                          <a:solidFill>
                            <a:srgbClr val="ECF1F8"/>
                          </a:solidFill>
                          <a:latin typeface="Calibri"/>
                        </a:rPr>
                        <a:t>$match, $facet</a:t>
                      </a:r>
                    </a:p>
                  </a:txBody>
                  <a:tcPr anchor="ctr" marL="64008" marR="64008">
                    <a:solidFill>
                      <a:srgbClr val="141E30"/>
                    </a:solidFill>
                  </a:tcPr>
                </a:tc>
                <a:tc>
                  <a:txBody>
                    <a:bodyPr/>
                    <a:lstStyle/>
                    <a:p>
                      <a:pPr algn="l">
                        <a:spcAft>
                          <a:spcPts val="400"/>
                        </a:spcAft>
                      </a:pPr>
                      <a:r>
                        <a:rPr sz="1050" b="0">
                          <a:solidFill>
                            <a:srgbClr val="ECF1F8"/>
                          </a:solidFill>
                          <a:latin typeface="Calibri"/>
                        </a:rPr>
                        <a:t>420 ms</a:t>
                      </a:r>
                    </a:p>
                  </a:txBody>
                  <a:tcPr anchor="ctr" marL="64008" marR="64008">
                    <a:solidFill>
                      <a:srgbClr val="141E30"/>
                    </a:solidFill>
                  </a:tcPr>
                </a:tc>
              </a:tr>
              <a:tr h="365760">
                <a:tc>
                  <a:txBody>
                    <a:bodyPr/>
                    <a:lstStyle/>
                    <a:p>
                      <a:pPr algn="l">
                        <a:spcAft>
                          <a:spcPts val="400"/>
                        </a:spcAft>
                      </a:pPr>
                      <a:r>
                        <a:rPr sz="1050" b="0">
                          <a:solidFill>
                            <a:srgbClr val="ECF1F8"/>
                          </a:solidFill>
                          <a:latin typeface="Calibri"/>
                        </a:rPr>
                        <a:t>Storage footprint by tool</a:t>
                      </a:r>
                    </a:p>
                  </a:txBody>
                  <a:tcPr anchor="ctr" marL="64008" marR="64008">
                    <a:solidFill>
                      <a:srgbClr val="182236"/>
                    </a:solidFill>
                  </a:tcPr>
                </a:tc>
                <a:tc>
                  <a:txBody>
                    <a:bodyPr/>
                    <a:lstStyle/>
                    <a:p>
                      <a:pPr algn="l">
                        <a:spcAft>
                          <a:spcPts val="400"/>
                        </a:spcAft>
                      </a:pPr>
                      <a:r>
                        <a:rPr sz="1050" b="0">
                          <a:solidFill>
                            <a:srgbClr val="ECF1F8"/>
                          </a:solidFill>
                          <a:latin typeface="Calibri"/>
                        </a:rPr>
                        <a:t>How many bytes does each kind of stroke document cost?</a:t>
                      </a:r>
                    </a:p>
                  </a:txBody>
                  <a:tcPr anchor="ctr" marL="64008" marR="64008">
                    <a:solidFill>
                      <a:srgbClr val="182236"/>
                    </a:solidFill>
                  </a:tcPr>
                </a:tc>
                <a:tc>
                  <a:txBody>
                    <a:bodyPr/>
                    <a:lstStyle/>
                    <a:p>
                      <a:pPr algn="l">
                        <a:spcAft>
                          <a:spcPts val="400"/>
                        </a:spcAft>
                      </a:pPr>
                      <a:r>
                        <a:rPr sz="1050" b="0">
                          <a:solidFill>
                            <a:srgbClr val="ECF1F8"/>
                          </a:solidFill>
                          <a:latin typeface="Calibri"/>
                        </a:rPr>
                        <a:t>$match, $set, $group, $project, $sort</a:t>
                      </a:r>
                    </a:p>
                  </a:txBody>
                  <a:tcPr anchor="ctr" marL="64008" marR="64008">
                    <a:solidFill>
                      <a:srgbClr val="182236"/>
                    </a:solidFill>
                  </a:tcPr>
                </a:tc>
                <a:tc>
                  <a:txBody>
                    <a:bodyPr/>
                    <a:lstStyle/>
                    <a:p>
                      <a:pPr algn="l">
                        <a:spcAft>
                          <a:spcPts val="400"/>
                        </a:spcAft>
                      </a:pPr>
                      <a:r>
                        <a:rPr sz="1050" b="0">
                          <a:solidFill>
                            <a:srgbClr val="ECF1F8"/>
                          </a:solidFill>
                          <a:latin typeface="Calibri"/>
                        </a:rPr>
                        <a:t>219 ms</a:t>
                      </a:r>
                    </a:p>
                  </a:txBody>
                  <a:tcPr anchor="ctr" marL="64008" marR="64008">
                    <a:solidFill>
                      <a:srgbClr val="182236"/>
                    </a:solidFill>
                  </a:tcPr>
                </a:tc>
              </a:tr>
            </a:tbl>
          </a:graphicData>
        </a:graphic>
      </p:graphicFrame>
      <p:sp>
        <p:nvSpPr>
          <p:cNvPr id="7" name="TextBox 6"/>
          <p:cNvSpPr txBox="1"/>
          <p:nvPr/>
        </p:nvSpPr>
        <p:spPr>
          <a:xfrm>
            <a:off x="566928" y="5120640"/>
            <a:ext cx="11064240" cy="822960"/>
          </a:xfrm>
          <a:prstGeom prst="rect">
            <a:avLst/>
          </a:prstGeom>
          <a:noFill/>
        </p:spPr>
        <p:txBody>
          <a:bodyPr wrap="square" anchor="t" lIns="0" rIns="0" tIns="0" bIns="0">
            <a:spAutoFit/>
          </a:bodyPr>
          <a:lstStyle/>
          <a:p>
            <a:pPr algn="l">
              <a:lnSpc>
                <a:spcPct val="110000"/>
              </a:lnSpc>
              <a:spcAft>
                <a:spcPts val="400"/>
              </a:spcAft>
            </a:pPr>
            <a:r>
              <a:rPr sz="1400" b="0">
                <a:solidFill>
                  <a:srgbClr val="93A4BD"/>
                </a:solidFill>
                <a:latin typeface="Calibri"/>
              </a:rPr>
              <a:t>Not decorative: every one is reachable from the analytics panel in the running application, which displays the pipeline next to its own output.</a:t>
            </a:r>
          </a:p>
        </p:txBody>
      </p:sp>
      <p:sp>
        <p:nvSpPr>
          <p:cNvPr id="8" name="TextBox 7"/>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6 of the report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QUERY QUALITY</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Two pipelines worth arguing about</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00200"/>
            <a:ext cx="5486400" cy="3657600"/>
          </a:xfrm>
          <a:prstGeom prst="roundRect">
            <a:avLst>
              <a:gd name="adj" fmla="val 4000"/>
            </a:avLst>
          </a:prstGeom>
          <a:solidFill>
            <a:srgbClr val="101828"/>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719072"/>
            <a:ext cx="5120640" cy="237744"/>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$lookup with a sub-pipeline</a:t>
            </a:r>
          </a:p>
        </p:txBody>
      </p:sp>
      <p:sp>
        <p:nvSpPr>
          <p:cNvPr id="8" name="TextBox 7"/>
          <p:cNvSpPr txBox="1"/>
          <p:nvPr/>
        </p:nvSpPr>
        <p:spPr>
          <a:xfrm>
            <a:off x="749808" y="2011679"/>
            <a:ext cx="5120640" cy="3108960"/>
          </a:xfrm>
          <a:prstGeom prst="rect">
            <a:avLst/>
          </a:prstGeom>
          <a:noFill/>
        </p:spPr>
        <p:txBody>
          <a:bodyPr wrap="square" anchor="t" lIns="0" rIns="0" tIns="0" bIns="0">
            <a:spAutoFit/>
          </a:bodyPr>
          <a:lstStyle/>
          <a:p>
            <a:pPr algn="l">
              <a:lnSpc>
                <a:spcPct val="102000"/>
              </a:lnSpc>
              <a:spcAft>
                <a:spcPts val="0"/>
              </a:spcAft>
            </a:pPr>
            <a:r>
              <a:rPr sz="1100" b="0">
                <a:solidFill>
                  <a:srgbClr val="ECF1F8"/>
                </a:solidFill>
                <a:latin typeface="Consolas"/>
              </a:rPr>
              <a:t>{"$lookup": {</a:t>
            </a:r>
          </a:p>
          <a:p>
            <a:pPr algn="l">
              <a:lnSpc>
                <a:spcPct val="102000"/>
              </a:lnSpc>
              <a:spcAft>
                <a:spcPts val="0"/>
              </a:spcAft>
            </a:pPr>
            <a:r>
              <a:rPr sz="1100" b="0">
                <a:solidFill>
                  <a:srgbClr val="ECF1F8"/>
                </a:solidFill>
                <a:latin typeface="Consolas"/>
              </a:rPr>
              <a:t>   "from": "strokes",</a:t>
            </a:r>
          </a:p>
          <a:p>
            <a:pPr algn="l">
              <a:lnSpc>
                <a:spcPct val="102000"/>
              </a:lnSpc>
              <a:spcAft>
                <a:spcPts val="0"/>
              </a:spcAft>
            </a:pPr>
            <a:r>
              <a:rPr sz="1100" b="0">
                <a:solidFill>
                  <a:srgbClr val="ECF1F8"/>
                </a:solidFill>
                <a:latin typeface="Consolas"/>
              </a:rPr>
              <a:t>   "localField": "_id",</a:t>
            </a:r>
          </a:p>
          <a:p>
            <a:pPr algn="l">
              <a:lnSpc>
                <a:spcPct val="102000"/>
              </a:lnSpc>
              <a:spcAft>
                <a:spcPts val="0"/>
              </a:spcAft>
            </a:pPr>
            <a:r>
              <a:rPr sz="1100" b="0">
                <a:solidFill>
                  <a:srgbClr val="ECF1F8"/>
                </a:solidFill>
                <a:latin typeface="Consolas"/>
              </a:rPr>
              <a:t>   "foreignField": "roomId",</a:t>
            </a:r>
          </a:p>
          <a:p>
            <a:pPr algn="l">
              <a:lnSpc>
                <a:spcPct val="102000"/>
              </a:lnSpc>
              <a:spcAft>
                <a:spcPts val="0"/>
              </a:spcAft>
            </a:pPr>
            <a:r>
              <a:rPr sz="1100" b="0">
                <a:solidFill>
                  <a:srgbClr val="ECF1F8"/>
                </a:solidFill>
                <a:latin typeface="Consolas"/>
              </a:rPr>
              <a:t>   "as": "agg",</a:t>
            </a:r>
          </a:p>
          <a:p>
            <a:pPr algn="l">
              <a:lnSpc>
                <a:spcPct val="102000"/>
              </a:lnSpc>
              <a:spcAft>
                <a:spcPts val="0"/>
              </a:spcAft>
            </a:pPr>
            <a:r>
              <a:rPr sz="1100" b="0">
                <a:solidFill>
                  <a:srgbClr val="ECF1F8"/>
                </a:solidFill>
                <a:latin typeface="Consolas"/>
              </a:rPr>
              <a:t>   "pipeline": [</a:t>
            </a:r>
          </a:p>
          <a:p>
            <a:pPr algn="l">
              <a:lnSpc>
                <a:spcPct val="102000"/>
              </a:lnSpc>
              <a:spcAft>
                <a:spcPts val="0"/>
              </a:spcAft>
            </a:pPr>
            <a:r>
              <a:rPr sz="1100" b="0">
                <a:solidFill>
                  <a:srgbClr val="ECF1F8"/>
                </a:solidFill>
                <a:latin typeface="Consolas"/>
              </a:rPr>
              <a:t>     {"$match": {"active": true}},</a:t>
            </a:r>
          </a:p>
          <a:p>
            <a:pPr algn="l">
              <a:lnSpc>
                <a:spcPct val="102000"/>
              </a:lnSpc>
              <a:spcAft>
                <a:spcPts val="0"/>
              </a:spcAft>
            </a:pPr>
            <a:r>
              <a:rPr sz="1100" b="0">
                <a:solidFill>
                  <a:srgbClr val="ECF1F8"/>
                </a:solidFill>
                <a:latin typeface="Consolas"/>
              </a:rPr>
              <a:t>     {"$group": {"_id": null,</a:t>
            </a:r>
          </a:p>
          <a:p>
            <a:pPr algn="l">
              <a:lnSpc>
                <a:spcPct val="102000"/>
              </a:lnSpc>
              <a:spcAft>
                <a:spcPts val="0"/>
              </a:spcAft>
            </a:pPr>
            <a:r>
              <a:rPr sz="1100" b="0">
                <a:solidFill>
                  <a:srgbClr val="ECF1F8"/>
                </a:solidFill>
                <a:latin typeface="Consolas"/>
              </a:rPr>
              <a:t>        "total": {"$sum": 1},</a:t>
            </a:r>
          </a:p>
          <a:p>
            <a:pPr algn="l">
              <a:lnSpc>
                <a:spcPct val="102000"/>
              </a:lnSpc>
              <a:spcAft>
                <a:spcPts val="0"/>
              </a:spcAft>
            </a:pPr>
            <a:r>
              <a:rPr sz="1100" b="0">
                <a:solidFill>
                  <a:srgbClr val="ECF1F8"/>
                </a:solidFill>
                <a:latin typeface="Consolas"/>
              </a:rPr>
              <a:t>        "people": {"$addToSet": "$userId"}}}</a:t>
            </a:r>
          </a:p>
          <a:p>
            <a:pPr algn="l">
              <a:lnSpc>
                <a:spcPct val="102000"/>
              </a:lnSpc>
              <a:spcAft>
                <a:spcPts val="0"/>
              </a:spcAft>
            </a:pPr>
            <a:r>
              <a:rPr sz="1100" b="0">
                <a:solidFill>
                  <a:srgbClr val="ECF1F8"/>
                </a:solidFill>
                <a:latin typeface="Consolas"/>
              </a:rPr>
              <a:t>   ]}}</a:t>
            </a:r>
          </a:p>
        </p:txBody>
      </p:sp>
      <p:sp>
        <p:nvSpPr>
          <p:cNvPr id="9" name="TextBox 8"/>
          <p:cNvSpPr txBox="1"/>
          <p:nvPr/>
        </p:nvSpPr>
        <p:spPr>
          <a:xfrm>
            <a:off x="566928" y="5349240"/>
            <a:ext cx="5486400" cy="777240"/>
          </a:xfrm>
          <a:prstGeom prst="rect">
            <a:avLst/>
          </a:prstGeom>
          <a:noFill/>
        </p:spPr>
        <p:txBody>
          <a:bodyPr wrap="square" anchor="t" lIns="0" rIns="0" tIns="0" bIns="0">
            <a:spAutoFit/>
          </a:bodyPr>
          <a:lstStyle/>
          <a:p>
            <a:pPr algn="l">
              <a:lnSpc>
                <a:spcPct val="108000"/>
              </a:lnSpc>
              <a:spcAft>
                <a:spcPts val="400"/>
              </a:spcAft>
            </a:pPr>
            <a:r>
              <a:rPr sz="1250" b="0">
                <a:solidFill>
                  <a:srgbClr val="93A4BD"/>
                </a:solidFill>
                <a:latin typeface="Calibri"/>
              </a:rPr>
              <a:t>The sub-pipeline aggregates inside the join, so tens of thousands of strokes are never materialised into the room document. Without it, the array would exceed 16 MB and the query would fail.</a:t>
            </a:r>
          </a:p>
        </p:txBody>
      </p:sp>
      <p:sp>
        <p:nvSpPr>
          <p:cNvPr id="10" name="Rounded Rectangle 9"/>
          <p:cNvSpPr/>
          <p:nvPr/>
        </p:nvSpPr>
        <p:spPr>
          <a:xfrm>
            <a:off x="6355080" y="1600200"/>
            <a:ext cx="5276088" cy="3657600"/>
          </a:xfrm>
          <a:prstGeom prst="roundRect">
            <a:avLst>
              <a:gd name="adj" fmla="val 4000"/>
            </a:avLst>
          </a:prstGeom>
          <a:solidFill>
            <a:srgbClr val="101828"/>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37960" y="1719072"/>
            <a:ext cx="4910327" cy="237744"/>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$facet — four summaries, one pass</a:t>
            </a:r>
          </a:p>
        </p:txBody>
      </p:sp>
      <p:sp>
        <p:nvSpPr>
          <p:cNvPr id="12" name="TextBox 11"/>
          <p:cNvSpPr txBox="1"/>
          <p:nvPr/>
        </p:nvSpPr>
        <p:spPr>
          <a:xfrm>
            <a:off x="6537960" y="2011679"/>
            <a:ext cx="4910327" cy="3108960"/>
          </a:xfrm>
          <a:prstGeom prst="rect">
            <a:avLst/>
          </a:prstGeom>
          <a:noFill/>
        </p:spPr>
        <p:txBody>
          <a:bodyPr wrap="square" anchor="t" lIns="0" rIns="0" tIns="0" bIns="0">
            <a:spAutoFit/>
          </a:bodyPr>
          <a:lstStyle/>
          <a:p>
            <a:pPr algn="l">
              <a:lnSpc>
                <a:spcPct val="102000"/>
              </a:lnSpc>
              <a:spcAft>
                <a:spcPts val="0"/>
              </a:spcAft>
            </a:pPr>
            <a:r>
              <a:rPr sz="1100" b="0">
                <a:solidFill>
                  <a:srgbClr val="ECF1F8"/>
                </a:solidFill>
                <a:latin typeface="Consolas"/>
              </a:rPr>
              <a:t>{"$facet": {</a:t>
            </a:r>
          </a:p>
          <a:p>
            <a:pPr algn="l">
              <a:lnSpc>
                <a:spcPct val="102000"/>
              </a:lnSpc>
              <a:spcAft>
                <a:spcPts val="0"/>
              </a:spcAft>
            </a:pPr>
            <a:r>
              <a:rPr sz="1100" b="0">
                <a:solidFill>
                  <a:srgbClr val="ECF1F8"/>
                </a:solidFill>
                <a:latin typeface="Consolas"/>
              </a:rPr>
              <a:t>   "byTool":    [{"$group": ...}, {"$sort": ...}],</a:t>
            </a:r>
          </a:p>
          <a:p>
            <a:pPr algn="l">
              <a:lnSpc>
                <a:spcPct val="102000"/>
              </a:lnSpc>
              <a:spcAft>
                <a:spcPts val="0"/>
              </a:spcAft>
            </a:pPr>
            <a:r>
              <a:rPr sz="1100" b="0">
                <a:solidFill>
                  <a:srgbClr val="ECF1F8"/>
                </a:solidFill>
                <a:latin typeface="Consolas"/>
              </a:rPr>
              <a:t>   "byUser":    [{"$group": ...}, {"$limit": 5}],</a:t>
            </a:r>
          </a:p>
          <a:p>
            <a:pPr algn="l">
              <a:lnSpc>
                <a:spcPct val="102000"/>
              </a:lnSpc>
              <a:spcAft>
                <a:spcPts val="0"/>
              </a:spcAft>
            </a:pPr>
            <a:r>
              <a:rPr sz="1100" b="0">
                <a:solidFill>
                  <a:srgbClr val="ECF1F8"/>
                </a:solidFill>
                <a:latin typeface="Consolas"/>
              </a:rPr>
              <a:t>   "perMinute": [{"$group": {"_id":</a:t>
            </a:r>
          </a:p>
          <a:p>
            <a:pPr algn="l">
              <a:lnSpc>
                <a:spcPct val="102000"/>
              </a:lnSpc>
              <a:spcAft>
                <a:spcPts val="0"/>
              </a:spcAft>
            </a:pPr>
            <a:r>
              <a:rPr sz="1100" b="0">
                <a:solidFill>
                  <a:srgbClr val="ECF1F8"/>
                </a:solidFill>
                <a:latin typeface="Consolas"/>
              </a:rPr>
              <a:t>                   {"$dateTrunc": ...}}}],</a:t>
            </a:r>
          </a:p>
          <a:p>
            <a:pPr algn="l">
              <a:lnSpc>
                <a:spcPct val="102000"/>
              </a:lnSpc>
              <a:spcAft>
                <a:spcPts val="0"/>
              </a:spcAft>
            </a:pPr>
            <a:r>
              <a:rPr sz="1100" b="0">
                <a:solidFill>
                  <a:srgbClr val="ECF1F8"/>
                </a:solidFill>
                <a:latin typeface="Consolas"/>
              </a:rPr>
              <a:t>   "bounds":    [{"$group": {"_id": null,</a:t>
            </a:r>
          </a:p>
          <a:p>
            <a:pPr algn="l">
              <a:lnSpc>
                <a:spcPct val="102000"/>
              </a:lnSpc>
              <a:spcAft>
                <a:spcPts val="0"/>
              </a:spcAft>
            </a:pPr>
            <a:r>
              <a:rPr sz="1100" b="0">
                <a:solidFill>
                  <a:srgbClr val="ECF1F8"/>
                </a:solidFill>
                <a:latin typeface="Consolas"/>
              </a:rPr>
              <a:t>                   "minX": {"$min": "$bbox.minX"}}}]</a:t>
            </a:r>
          </a:p>
          <a:p>
            <a:pPr algn="l">
              <a:lnSpc>
                <a:spcPct val="102000"/>
              </a:lnSpc>
              <a:spcAft>
                <a:spcPts val="0"/>
              </a:spcAft>
            </a:pPr>
            <a:r>
              <a:rPr sz="1100" b="0">
                <a:solidFill>
                  <a:srgbClr val="ECF1F8"/>
                </a:solidFill>
                <a:latin typeface="Consolas"/>
              </a:rPr>
              <a:t>}}</a:t>
            </a:r>
          </a:p>
        </p:txBody>
      </p:sp>
      <p:sp>
        <p:nvSpPr>
          <p:cNvPr id="13" name="TextBox 12"/>
          <p:cNvSpPr txBox="1"/>
          <p:nvPr/>
        </p:nvSpPr>
        <p:spPr>
          <a:xfrm>
            <a:off x="6355080" y="5349240"/>
            <a:ext cx="5276088" cy="777240"/>
          </a:xfrm>
          <a:prstGeom prst="rect">
            <a:avLst/>
          </a:prstGeom>
          <a:noFill/>
        </p:spPr>
        <p:txBody>
          <a:bodyPr wrap="square" anchor="t" lIns="0" rIns="0" tIns="0" bIns="0">
            <a:spAutoFit/>
          </a:bodyPr>
          <a:lstStyle/>
          <a:p>
            <a:pPr algn="l">
              <a:lnSpc>
                <a:spcPct val="108000"/>
              </a:lnSpc>
              <a:spcAft>
                <a:spcPts val="400"/>
              </a:spcAft>
            </a:pPr>
            <a:r>
              <a:rPr sz="1250" b="0">
                <a:solidFill>
                  <a:srgbClr val="93A4BD"/>
                </a:solidFill>
                <a:latin typeface="Calibri"/>
              </a:rPr>
              <a:t>The panel needs four summaries at once. Four queries would mean four round trips and four passes over the same documents; $facet evaluates all four over one $match, so the panel loads from a single request.</a:t>
            </a:r>
          </a:p>
        </p:txBody>
      </p:sp>
      <p:sp>
        <p:nvSpPr>
          <p:cNvPr id="14" name="TextBox 13"/>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6 of the report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QUERY QUALITY</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Measurement changed the design</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join-cost.png"/>
          <p:cNvPicPr>
            <a:picLocks noChangeAspect="1"/>
          </p:cNvPicPr>
          <p:nvPr/>
        </p:nvPicPr>
        <p:blipFill>
          <a:blip r:embed="rId2"/>
          <a:stretch>
            <a:fillRect/>
          </a:stretch>
        </p:blipFill>
        <p:spPr>
          <a:xfrm>
            <a:off x="566928" y="1600200"/>
            <a:ext cx="5943600" cy="3174181"/>
          </a:xfrm>
          <a:prstGeom prst="rect">
            <a:avLst/>
          </a:prstGeom>
          <a:ln w="12700">
            <a:solidFill>
              <a:srgbClr val="2A3A55"/>
            </a:solidFill>
          </a:ln>
        </p:spPr>
      </p:pic>
      <p:sp>
        <p:nvSpPr>
          <p:cNvPr id="7" name="Rounded Rectangle 6"/>
          <p:cNvSpPr/>
          <p:nvPr/>
        </p:nvSpPr>
        <p:spPr>
          <a:xfrm>
            <a:off x="6766560" y="1691640"/>
            <a:ext cx="4864608" cy="1152144"/>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0" y="1819656"/>
            <a:ext cx="4498848" cy="502920"/>
          </a:xfrm>
          <a:prstGeom prst="rect">
            <a:avLst/>
          </a:prstGeom>
          <a:noFill/>
        </p:spPr>
        <p:txBody>
          <a:bodyPr wrap="square" anchor="t" lIns="0" rIns="0" tIns="0" bIns="0">
            <a:spAutoFit/>
          </a:bodyPr>
          <a:lstStyle/>
          <a:p>
            <a:pPr algn="l">
              <a:spcAft>
                <a:spcPts val="400"/>
              </a:spcAft>
            </a:pPr>
            <a:r>
              <a:rPr sz="2700" b="1">
                <a:solidFill>
                  <a:srgbClr val="F5A524"/>
                </a:solidFill>
                <a:latin typeface="Calibri"/>
              </a:rPr>
              <a:t>66 MB</a:t>
            </a:r>
          </a:p>
        </p:txBody>
      </p:sp>
      <p:sp>
        <p:nvSpPr>
          <p:cNvPr id="9" name="TextBox 8"/>
          <p:cNvSpPr txBox="1"/>
          <p:nvPr/>
        </p:nvSpPr>
        <p:spPr>
          <a:xfrm>
            <a:off x="6949440" y="2313432"/>
            <a:ext cx="4498848" cy="438912"/>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to join the 42,672-stroke room by full replay</a:t>
            </a:r>
          </a:p>
        </p:txBody>
      </p:sp>
      <p:sp>
        <p:nvSpPr>
          <p:cNvPr id="10" name="Rounded Rectangle 9"/>
          <p:cNvSpPr/>
          <p:nvPr/>
        </p:nvSpPr>
        <p:spPr>
          <a:xfrm>
            <a:off x="6766560" y="2990088"/>
            <a:ext cx="4864608" cy="1152144"/>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0" y="3118104"/>
            <a:ext cx="4498848" cy="502920"/>
          </a:xfrm>
          <a:prstGeom prst="rect">
            <a:avLst/>
          </a:prstGeom>
          <a:noFill/>
        </p:spPr>
        <p:txBody>
          <a:bodyPr wrap="square" anchor="t" lIns="0" rIns="0" tIns="0" bIns="0">
            <a:spAutoFit/>
          </a:bodyPr>
          <a:lstStyle/>
          <a:p>
            <a:pPr algn="l">
              <a:spcAft>
                <a:spcPts val="400"/>
              </a:spcAft>
            </a:pPr>
            <a:r>
              <a:rPr sz="2700" b="1">
                <a:solidFill>
                  <a:srgbClr val="3DD598"/>
                </a:solidFill>
                <a:latin typeface="Calibri"/>
              </a:rPr>
              <a:t>3.45 MB</a:t>
            </a:r>
          </a:p>
        </p:txBody>
      </p:sp>
      <p:sp>
        <p:nvSpPr>
          <p:cNvPr id="12" name="TextBox 11"/>
          <p:cNvSpPr txBox="1"/>
          <p:nvPr/>
        </p:nvSpPr>
        <p:spPr>
          <a:xfrm>
            <a:off x="6949440" y="3611880"/>
            <a:ext cx="4498848" cy="438912"/>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with a snapshot plus only the newer strokes</a:t>
            </a:r>
          </a:p>
        </p:txBody>
      </p:sp>
      <p:sp>
        <p:nvSpPr>
          <p:cNvPr id="13" name="Rounded Rectangle 12"/>
          <p:cNvSpPr/>
          <p:nvPr/>
        </p:nvSpPr>
        <p:spPr>
          <a:xfrm>
            <a:off x="6766560" y="4288536"/>
            <a:ext cx="4864608" cy="1152144"/>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0" y="4416551"/>
            <a:ext cx="4498848" cy="502920"/>
          </a:xfrm>
          <a:prstGeom prst="rect">
            <a:avLst/>
          </a:prstGeom>
          <a:noFill/>
        </p:spPr>
        <p:txBody>
          <a:bodyPr wrap="square" anchor="t" lIns="0" rIns="0" tIns="0" bIns="0">
            <a:spAutoFit/>
          </a:bodyPr>
          <a:lstStyle/>
          <a:p>
            <a:pPr algn="l">
              <a:spcAft>
                <a:spcPts val="400"/>
              </a:spcAft>
            </a:pPr>
            <a:r>
              <a:rPr sz="2700" b="1">
                <a:solidFill>
                  <a:srgbClr val="3DD598"/>
                </a:solidFill>
                <a:latin typeface="Calibri"/>
              </a:rPr>
              <a:t>95%</a:t>
            </a:r>
          </a:p>
        </p:txBody>
      </p:sp>
      <p:sp>
        <p:nvSpPr>
          <p:cNvPr id="15" name="TextBox 14"/>
          <p:cNvSpPr txBox="1"/>
          <p:nvPr/>
        </p:nvSpPr>
        <p:spPr>
          <a:xfrm>
            <a:off x="6949440" y="4910327"/>
            <a:ext cx="4498848" cy="438912"/>
          </a:xfrm>
          <a:prstGeom prst="rect">
            <a:avLst/>
          </a:prstGeom>
          <a:noFill/>
        </p:spPr>
        <p:txBody>
          <a:bodyPr wrap="square" anchor="t" lIns="0" rIns="0" tIns="0" bIns="0">
            <a:spAutoFit/>
          </a:bodyPr>
          <a:lstStyle/>
          <a:p>
            <a:pPr algn="l">
              <a:lnSpc>
                <a:spcPct val="105000"/>
              </a:lnSpc>
              <a:spcAft>
                <a:spcPts val="400"/>
              </a:spcAft>
            </a:pPr>
            <a:r>
              <a:rPr sz="1150" b="0">
                <a:solidFill>
                  <a:srgbClr val="93A4BD"/>
                </a:solidFill>
                <a:latin typeface="Calibri"/>
              </a:rPr>
              <a:t>less data transferred; the board opens in about half a second</a:t>
            </a:r>
          </a:p>
        </p:txBody>
      </p:sp>
      <p:sp>
        <p:nvSpPr>
          <p:cNvPr id="16" name="TextBox 15"/>
          <p:cNvSpPr txBox="1"/>
          <p:nvPr/>
        </p:nvSpPr>
        <p:spPr>
          <a:xfrm>
            <a:off x="566928" y="5120640"/>
            <a:ext cx="11064240" cy="868680"/>
          </a:xfrm>
          <a:prstGeom prst="rect">
            <a:avLst/>
          </a:prstGeom>
          <a:noFill/>
        </p:spPr>
        <p:txBody>
          <a:bodyPr wrap="square" anchor="t" lIns="0" rIns="0" tIns="0" bIns="0">
            <a:spAutoFit/>
          </a:bodyPr>
          <a:lstStyle/>
          <a:p>
            <a:pPr algn="l">
              <a:spcAft>
                <a:spcPts val="400"/>
              </a:spcAft>
            </a:pPr>
            <a:r>
              <a:rPr sz="1500" b="1">
                <a:solidFill>
                  <a:srgbClr val="ECF1F8"/>
                </a:solidFill>
                <a:latin typeface="Calibri"/>
              </a:rPr>
              <a:t>Review 1 called snapshotting optional. The measurement settled it.</a:t>
            </a:r>
          </a:p>
          <a:p>
            <a:pPr algn="l">
              <a:lnSpc>
                <a:spcPct val="110000"/>
              </a:lnSpc>
              <a:spcAft>
                <a:spcPts val="400"/>
              </a:spcAft>
            </a:pPr>
            <a:r>
              <a:rPr sz="1300" b="0">
                <a:solidFill>
                  <a:srgbClr val="93A4BD"/>
                </a:solidFill>
                <a:latin typeface="Calibri"/>
              </a:rPr>
              <a:t>Serialising a full replay took seconds, not milliseconds. The snapshot is a cache of derived state — the log still holds the truth, so undo and analytics are unaffected. Below a few hundred strokes the image costs more than the strokes, so small rooms are skipped.</a:t>
            </a:r>
          </a:p>
        </p:txBody>
      </p:sp>
      <p:sp>
        <p:nvSpPr>
          <p:cNvPr id="17" name="TextBox 16"/>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7.2 of the report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PROTOTYPE / DEMO</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The running prototype</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1-lobby.png"/>
          <p:cNvPicPr>
            <a:picLocks noChangeAspect="1"/>
          </p:cNvPicPr>
          <p:nvPr/>
        </p:nvPicPr>
        <p:blipFill>
          <a:blip r:embed="rId2"/>
          <a:stretch>
            <a:fillRect/>
          </a:stretch>
        </p:blipFill>
        <p:spPr>
          <a:xfrm>
            <a:off x="566928" y="1691640"/>
            <a:ext cx="3520440" cy="1946510"/>
          </a:xfrm>
          <a:prstGeom prst="rect">
            <a:avLst/>
          </a:prstGeom>
          <a:ln w="12700">
            <a:solidFill>
              <a:srgbClr val="2A3A55"/>
            </a:solidFill>
          </a:ln>
        </p:spPr>
      </p:pic>
      <p:sp>
        <p:nvSpPr>
          <p:cNvPr id="7" name="TextBox 6"/>
          <p:cNvSpPr txBox="1"/>
          <p:nvPr/>
        </p:nvSpPr>
        <p:spPr>
          <a:xfrm>
            <a:off x="566928" y="3702158"/>
            <a:ext cx="3520440" cy="274320"/>
          </a:xfrm>
          <a:prstGeom prst="rect">
            <a:avLst/>
          </a:prstGeom>
          <a:noFill/>
        </p:spPr>
        <p:txBody>
          <a:bodyPr wrap="square" anchor="t" lIns="0" rIns="0" tIns="0" bIns="0">
            <a:spAutoFit/>
          </a:bodyPr>
          <a:lstStyle/>
          <a:p>
            <a:pPr algn="l">
              <a:lnSpc>
                <a:spcPct val="105000"/>
              </a:lnSpc>
              <a:spcAft>
                <a:spcPts val="400"/>
              </a:spcAft>
            </a:pPr>
            <a:r>
              <a:rPr sz="1050" b="0">
                <a:solidFill>
                  <a:srgbClr val="93A4BD"/>
                </a:solidFill>
                <a:latin typeface="Calibri"/>
              </a:rPr>
              <a:t>Lobby — boards listed by last activity, served by ix_room_activity</a:t>
            </a:r>
          </a:p>
        </p:txBody>
      </p:sp>
      <p:pic>
        <p:nvPicPr>
          <p:cNvPr id="8" name="Picture 7" descr="03-tools-and-shapes.png"/>
          <p:cNvPicPr>
            <a:picLocks noChangeAspect="1"/>
          </p:cNvPicPr>
          <p:nvPr/>
        </p:nvPicPr>
        <p:blipFill>
          <a:blip r:embed="rId3"/>
          <a:stretch>
            <a:fillRect/>
          </a:stretch>
        </p:blipFill>
        <p:spPr>
          <a:xfrm>
            <a:off x="4315968" y="1691640"/>
            <a:ext cx="3520440" cy="1946510"/>
          </a:xfrm>
          <a:prstGeom prst="rect">
            <a:avLst/>
          </a:prstGeom>
          <a:ln w="12700">
            <a:solidFill>
              <a:srgbClr val="2A3A55"/>
            </a:solidFill>
          </a:ln>
        </p:spPr>
      </p:pic>
      <p:sp>
        <p:nvSpPr>
          <p:cNvPr id="9" name="TextBox 8"/>
          <p:cNvSpPr txBox="1"/>
          <p:nvPr/>
        </p:nvSpPr>
        <p:spPr>
          <a:xfrm>
            <a:off x="4315968" y="3702158"/>
            <a:ext cx="3520440" cy="274320"/>
          </a:xfrm>
          <a:prstGeom prst="rect">
            <a:avLst/>
          </a:prstGeom>
          <a:noFill/>
        </p:spPr>
        <p:txBody>
          <a:bodyPr wrap="square" anchor="t" lIns="0" rIns="0" tIns="0" bIns="0">
            <a:spAutoFit/>
          </a:bodyPr>
          <a:lstStyle/>
          <a:p>
            <a:pPr algn="l">
              <a:lnSpc>
                <a:spcPct val="105000"/>
              </a:lnSpc>
              <a:spcAft>
                <a:spcPts val="400"/>
              </a:spcAft>
            </a:pPr>
            <a:r>
              <a:rPr sz="1050" b="0">
                <a:solidFill>
                  <a:srgbClr val="93A4BD"/>
                </a:solidFill>
                <a:latin typeface="Calibri"/>
              </a:rPr>
              <a:t>Six tools on one board; every mark is a separate document</a:t>
            </a:r>
          </a:p>
        </p:txBody>
      </p:sp>
      <p:pic>
        <p:nvPicPr>
          <p:cNvPr id="10" name="Picture 9" descr="08-rest-api-endpoints.png"/>
          <p:cNvPicPr>
            <a:picLocks noChangeAspect="1"/>
          </p:cNvPicPr>
          <p:nvPr/>
        </p:nvPicPr>
        <p:blipFill>
          <a:blip r:embed="rId4"/>
          <a:stretch>
            <a:fillRect/>
          </a:stretch>
        </p:blipFill>
        <p:spPr>
          <a:xfrm>
            <a:off x="8065007" y="1691640"/>
            <a:ext cx="3520440" cy="1946510"/>
          </a:xfrm>
          <a:prstGeom prst="rect">
            <a:avLst/>
          </a:prstGeom>
          <a:ln w="12700">
            <a:solidFill>
              <a:srgbClr val="2A3A55"/>
            </a:solidFill>
          </a:ln>
        </p:spPr>
      </p:pic>
      <p:sp>
        <p:nvSpPr>
          <p:cNvPr id="11" name="TextBox 10"/>
          <p:cNvSpPr txBox="1"/>
          <p:nvPr/>
        </p:nvSpPr>
        <p:spPr>
          <a:xfrm>
            <a:off x="8065007" y="3702158"/>
            <a:ext cx="3520440" cy="274320"/>
          </a:xfrm>
          <a:prstGeom prst="rect">
            <a:avLst/>
          </a:prstGeom>
          <a:noFill/>
        </p:spPr>
        <p:txBody>
          <a:bodyPr wrap="square" anchor="t" lIns="0" rIns="0" tIns="0" bIns="0">
            <a:spAutoFit/>
          </a:bodyPr>
          <a:lstStyle/>
          <a:p>
            <a:pPr algn="l">
              <a:lnSpc>
                <a:spcPct val="105000"/>
              </a:lnSpc>
              <a:spcAft>
                <a:spcPts val="400"/>
              </a:spcAft>
            </a:pPr>
            <a:r>
              <a:rPr sz="1050" b="0">
                <a:solidFill>
                  <a:srgbClr val="93A4BD"/>
                </a:solidFill>
                <a:latin typeface="Calibri"/>
              </a:rPr>
              <a:t>The CRUD surface, exercised in Postman</a:t>
            </a:r>
          </a:p>
        </p:txBody>
      </p:sp>
      <p:sp>
        <p:nvSpPr>
          <p:cNvPr id="12" name="TextBox 11"/>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8 of the report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PROTOTYPE / DEMO</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The result that matters most</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4-cross-instance-sync.png"/>
          <p:cNvPicPr>
            <a:picLocks noChangeAspect="1"/>
          </p:cNvPicPr>
          <p:nvPr/>
        </p:nvPicPr>
        <p:blipFill>
          <a:blip r:embed="rId2"/>
          <a:stretch>
            <a:fillRect/>
          </a:stretch>
        </p:blipFill>
        <p:spPr>
          <a:xfrm>
            <a:off x="566928" y="1627632"/>
            <a:ext cx="6675120" cy="3690785"/>
          </a:xfrm>
          <a:prstGeom prst="rect">
            <a:avLst/>
          </a:prstGeom>
          <a:ln w="12700">
            <a:solidFill>
              <a:srgbClr val="2A3A55"/>
            </a:solidFill>
          </a:ln>
        </p:spPr>
      </p:pic>
      <p:sp>
        <p:nvSpPr>
          <p:cNvPr id="7" name="TextBox 6"/>
          <p:cNvSpPr txBox="1"/>
          <p:nvPr/>
        </p:nvSpPr>
        <p:spPr>
          <a:xfrm>
            <a:off x="7498079" y="1737360"/>
            <a:ext cx="4133087" cy="457200"/>
          </a:xfrm>
          <a:prstGeom prst="rect">
            <a:avLst/>
          </a:prstGeom>
          <a:noFill/>
        </p:spPr>
        <p:txBody>
          <a:bodyPr wrap="square" anchor="t" lIns="0" rIns="0" tIns="0" bIns="0">
            <a:spAutoFit/>
          </a:bodyPr>
          <a:lstStyle/>
          <a:p>
            <a:pPr algn="l">
              <a:spcAft>
                <a:spcPts val="400"/>
              </a:spcAft>
            </a:pPr>
            <a:r>
              <a:rPr sz="1800" b="1">
                <a:solidFill>
                  <a:srgbClr val="3DD598"/>
                </a:solidFill>
                <a:latin typeface="Calibri"/>
              </a:rPr>
              <a:t>Two processes, one board</a:t>
            </a:r>
          </a:p>
        </p:txBody>
      </p:sp>
      <p:sp>
        <p:nvSpPr>
          <p:cNvPr id="8" name="TextBox 7"/>
          <p:cNvSpPr txBox="1"/>
          <p:nvPr/>
        </p:nvSpPr>
        <p:spPr>
          <a:xfrm>
            <a:off x="7498079" y="2240280"/>
            <a:ext cx="4133087" cy="274320"/>
          </a:xfrm>
          <a:prstGeom prst="rect">
            <a:avLst/>
          </a:prstGeom>
          <a:noFill/>
        </p:spPr>
        <p:txBody>
          <a:bodyPr wrap="square" anchor="t" lIns="0" rIns="0" tIns="0" bIns="0">
            <a:spAutoFit/>
          </a:bodyPr>
          <a:lstStyle/>
          <a:p>
            <a:pPr>
              <a:lnSpc>
                <a:spcPct val="104000"/>
              </a:lnSpc>
            </a:pPr>
            <a:r>
              <a:rPr sz="1300" b="1">
                <a:solidFill>
                  <a:srgbClr val="ECF1F8"/>
                </a:solidFill>
                <a:latin typeface="Calibri"/>
              </a:rPr>
              <a:t>This window is on wb-1, </a:t>
            </a:r>
            <a:r>
              <a:rPr sz="1300" b="0">
                <a:solidFill>
                  <a:srgbClr val="93A4BD"/>
                </a:solidFill>
                <a:latin typeface="Calibri"/>
              </a:rPr>
              <a:t>shown in the badge at the top right.</a:t>
            </a:r>
          </a:p>
        </p:txBody>
      </p:sp>
      <p:sp>
        <p:nvSpPr>
          <p:cNvPr id="9" name="TextBox 8"/>
          <p:cNvSpPr txBox="1"/>
          <p:nvPr/>
        </p:nvSpPr>
        <p:spPr>
          <a:xfrm>
            <a:off x="7498079" y="2807208"/>
            <a:ext cx="4133087" cy="274320"/>
          </a:xfrm>
          <a:prstGeom prst="rect">
            <a:avLst/>
          </a:prstGeom>
          <a:noFill/>
        </p:spPr>
        <p:txBody>
          <a:bodyPr wrap="square" anchor="t" lIns="0" rIns="0" tIns="0" bIns="0">
            <a:spAutoFit/>
          </a:bodyPr>
          <a:lstStyle/>
          <a:p>
            <a:pPr>
              <a:lnSpc>
                <a:spcPct val="104000"/>
              </a:lnSpc>
            </a:pPr>
            <a:r>
              <a:rPr sz="1300" b="1">
                <a:solidFill>
                  <a:srgbClr val="ECF1F8"/>
                </a:solidFill>
                <a:latin typeface="Calibri"/>
              </a:rPr>
              <a:t>The pink strokes and the </a:t>
            </a:r>
            <a:r>
              <a:rPr sz="1300" b="0">
                <a:solidFill>
                  <a:srgbClr val="93A4BD"/>
                </a:solidFill>
                <a:latin typeface="Calibri"/>
              </a:rPr>
              <a:t>labelled cursor belong to a user connected to wb-2 — a separate OS process sharing no memory with this one.</a:t>
            </a:r>
          </a:p>
        </p:txBody>
      </p:sp>
      <p:sp>
        <p:nvSpPr>
          <p:cNvPr id="10" name="TextBox 9"/>
          <p:cNvSpPr txBox="1"/>
          <p:nvPr/>
        </p:nvSpPr>
        <p:spPr>
          <a:xfrm>
            <a:off x="7498079" y="3849624"/>
            <a:ext cx="4133087" cy="274320"/>
          </a:xfrm>
          <a:prstGeom prst="rect">
            <a:avLst/>
          </a:prstGeom>
          <a:noFill/>
        </p:spPr>
        <p:txBody>
          <a:bodyPr wrap="square" anchor="t" lIns="0" rIns="0" tIns="0" bIns="0">
            <a:spAutoFit/>
          </a:bodyPr>
          <a:lstStyle/>
          <a:p>
            <a:pPr>
              <a:lnSpc>
                <a:spcPct val="104000"/>
              </a:lnSpc>
            </a:pPr>
            <a:r>
              <a:rPr sz="1300" b="1">
                <a:solidFill>
                  <a:srgbClr val="ECF1F8"/>
                </a:solidFill>
                <a:latin typeface="Calibri"/>
              </a:rPr>
              <a:t>Both arrived through Redis Pub/Sub. </a:t>
            </a:r>
            <a:r>
              <a:rPr sz="1300" b="0">
                <a:solidFill>
                  <a:srgbClr val="93A4BD"/>
                </a:solidFill>
                <a:latin typeface="Calibri"/>
              </a:rPr>
              <a:t>This is the claim the architecture makes, and it is the thing a single process could never demonstrate.</a:t>
            </a:r>
          </a:p>
        </p:txBody>
      </p:sp>
      <p:sp>
        <p:nvSpPr>
          <p:cNvPr id="11" name="TextBox 10"/>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Live in the demo: two browsers, two ports, one room code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PROTOTYPE / DEMO</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Database work, visible in the application</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5-aggregation-panel.png"/>
          <p:cNvPicPr>
            <a:picLocks noChangeAspect="1"/>
          </p:cNvPicPr>
          <p:nvPr/>
        </p:nvPicPr>
        <p:blipFill>
          <a:blip r:embed="rId2"/>
          <a:stretch>
            <a:fillRect/>
          </a:stretch>
        </p:blipFill>
        <p:spPr>
          <a:xfrm>
            <a:off x="566928" y="1691640"/>
            <a:ext cx="5486400" cy="3033522"/>
          </a:xfrm>
          <a:prstGeom prst="rect">
            <a:avLst/>
          </a:prstGeom>
          <a:ln w="12700">
            <a:solidFill>
              <a:srgbClr val="2A3A55"/>
            </a:solidFill>
          </a:ln>
        </p:spPr>
      </p:pic>
      <p:sp>
        <p:nvSpPr>
          <p:cNvPr id="7" name="TextBox 6"/>
          <p:cNvSpPr txBox="1"/>
          <p:nvPr/>
        </p:nvSpPr>
        <p:spPr>
          <a:xfrm>
            <a:off x="566928" y="4789170"/>
            <a:ext cx="5486400" cy="274320"/>
          </a:xfrm>
          <a:prstGeom prst="rect">
            <a:avLst/>
          </a:prstGeom>
          <a:noFill/>
        </p:spPr>
        <p:txBody>
          <a:bodyPr wrap="square" anchor="t" lIns="0" rIns="0" tIns="0" bIns="0">
            <a:spAutoFit/>
          </a:bodyPr>
          <a:lstStyle/>
          <a:p>
            <a:pPr algn="l">
              <a:lnSpc>
                <a:spcPct val="105000"/>
              </a:lnSpc>
              <a:spcAft>
                <a:spcPts val="400"/>
              </a:spcAft>
            </a:pPr>
            <a:r>
              <a:rPr sz="1050" b="0">
                <a:solidFill>
                  <a:srgbClr val="93A4BD"/>
                </a:solidFill>
                <a:latin typeface="Calibri"/>
              </a:rPr>
              <a:t>The analytics panel shows each pipeline next to its own output and the server-side execution time.</a:t>
            </a:r>
          </a:p>
        </p:txBody>
      </p:sp>
      <p:pic>
        <p:nvPicPr>
          <p:cNvPr id="8" name="Picture 7" descr="06-index-benchmark.png"/>
          <p:cNvPicPr>
            <a:picLocks noChangeAspect="1"/>
          </p:cNvPicPr>
          <p:nvPr/>
        </p:nvPicPr>
        <p:blipFill>
          <a:blip r:embed="rId3"/>
          <a:stretch>
            <a:fillRect/>
          </a:stretch>
        </p:blipFill>
        <p:spPr>
          <a:xfrm>
            <a:off x="6263640" y="1691640"/>
            <a:ext cx="5367528" cy="2967796"/>
          </a:xfrm>
          <a:prstGeom prst="rect">
            <a:avLst/>
          </a:prstGeom>
          <a:ln w="12700">
            <a:solidFill>
              <a:srgbClr val="2A3A55"/>
            </a:solidFill>
          </a:ln>
        </p:spPr>
      </p:pic>
      <p:sp>
        <p:nvSpPr>
          <p:cNvPr id="9" name="TextBox 8"/>
          <p:cNvSpPr txBox="1"/>
          <p:nvPr/>
        </p:nvSpPr>
        <p:spPr>
          <a:xfrm>
            <a:off x="6263640" y="4723444"/>
            <a:ext cx="5367528" cy="274320"/>
          </a:xfrm>
          <a:prstGeom prst="rect">
            <a:avLst/>
          </a:prstGeom>
          <a:noFill/>
        </p:spPr>
        <p:txBody>
          <a:bodyPr wrap="square" anchor="t" lIns="0" rIns="0" tIns="0" bIns="0">
            <a:spAutoFit/>
          </a:bodyPr>
          <a:lstStyle/>
          <a:p>
            <a:pPr algn="l">
              <a:lnSpc>
                <a:spcPct val="105000"/>
              </a:lnSpc>
              <a:spcAft>
                <a:spcPts val="400"/>
              </a:spcAft>
            </a:pPr>
            <a:r>
              <a:rPr sz="1050" b="0">
                <a:solidFill>
                  <a:srgbClr val="93A4BD"/>
                </a:solidFill>
                <a:latin typeface="Calibri"/>
              </a:rPr>
              <a:t>The index benchmark, run from the interface: plan, documents examined and time, with indexes dropped then rebuilt.</a:t>
            </a:r>
          </a:p>
        </p:txBody>
      </p:sp>
      <p:sp>
        <p:nvSpPr>
          <p:cNvPr id="10" name="TextBox 9"/>
          <p:cNvSpPr txBox="1"/>
          <p:nvPr/>
        </p:nvSpPr>
        <p:spPr>
          <a:xfrm>
            <a:off x="566928" y="5257800"/>
            <a:ext cx="11064240" cy="731520"/>
          </a:xfrm>
          <a:prstGeom prst="rect">
            <a:avLst/>
          </a:prstGeom>
          <a:noFill/>
        </p:spPr>
        <p:txBody>
          <a:bodyPr wrap="square" anchor="t" lIns="0" rIns="0" tIns="0" bIns="0">
            <a:spAutoFit/>
          </a:bodyPr>
          <a:lstStyle/>
          <a:p>
            <a:pPr algn="l">
              <a:lnSpc>
                <a:spcPct val="110000"/>
              </a:lnSpc>
              <a:spcAft>
                <a:spcPts val="400"/>
              </a:spcAft>
            </a:pPr>
            <a:r>
              <a:rPr sz="1400" b="0">
                <a:solidFill>
                  <a:srgbClr val="93A4BD"/>
                </a:solidFill>
                <a:latin typeface="Calibri"/>
              </a:rPr>
              <a:t>Aggregation and indexing are not shell transcripts pasted into a report — they are features of the product, which is why they can be demonstrated live.</a:t>
            </a:r>
          </a:p>
        </p:txBody>
      </p:sp>
      <p:sp>
        <p:nvSpPr>
          <p:cNvPr id="11" name="TextBox 10"/>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Demonstrated live: pick a pipeline, run it, read the plan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DOCUMENTATION &amp; PROGRESS</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Progress, and four honest deviations</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54480"/>
            <a:ext cx="5394960" cy="274320"/>
          </a:xfrm>
          <a:prstGeom prst="rect">
            <a:avLst/>
          </a:prstGeom>
          <a:noFill/>
        </p:spPr>
        <p:txBody>
          <a:bodyPr wrap="square" anchor="t" lIns="0" rIns="0" tIns="0" bIns="0">
            <a:spAutoFit/>
          </a:bodyPr>
          <a:lstStyle/>
          <a:p>
            <a:pPr algn="l">
              <a:spcAft>
                <a:spcPts val="400"/>
              </a:spcAft>
            </a:pPr>
            <a:r>
              <a:rPr sz="1450" b="1">
                <a:solidFill>
                  <a:srgbClr val="4F9BF5"/>
                </a:solidFill>
                <a:latin typeface="Calibri"/>
              </a:rPr>
              <a:t>Completed since Review 1</a:t>
            </a:r>
          </a:p>
        </p:txBody>
      </p:sp>
      <p:sp>
        <p:nvSpPr>
          <p:cNvPr id="7" name="TextBox 6"/>
          <p:cNvSpPr txBox="1"/>
          <p:nvPr/>
        </p:nvSpPr>
        <p:spPr>
          <a:xfrm>
            <a:off x="566928" y="1901952"/>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Application built </a:t>
            </a:r>
            <a:r>
              <a:rPr sz="1250" b="0">
                <a:solidFill>
                  <a:srgbClr val="93A4BD"/>
                </a:solidFill>
                <a:latin typeface="Calibri"/>
              </a:rPr>
              <a:t>— backend, transport, canvas client, six tools, presence.</a:t>
            </a:r>
          </a:p>
        </p:txBody>
      </p:sp>
      <p:sp>
        <p:nvSpPr>
          <p:cNvPr id="8" name="TextBox 7"/>
          <p:cNvSpPr txBox="1"/>
          <p:nvPr/>
        </p:nvSpPr>
        <p:spPr>
          <a:xfrm>
            <a:off x="566928" y="2432304"/>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Three collections </a:t>
            </a:r>
            <a:r>
              <a:rPr sz="1250" b="0">
                <a:solidFill>
                  <a:srgbClr val="93A4BD"/>
                </a:solidFill>
                <a:latin typeface="Calibri"/>
              </a:rPr>
              <a:t>with several document shapes in one log.</a:t>
            </a:r>
          </a:p>
        </p:txBody>
      </p:sp>
      <p:sp>
        <p:nvSpPr>
          <p:cNvPr id="9" name="TextBox 8"/>
          <p:cNvSpPr txBox="1"/>
          <p:nvPr/>
        </p:nvSpPr>
        <p:spPr>
          <a:xfrm>
            <a:off x="566928" y="2962656"/>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Full CRUD </a:t>
            </a:r>
            <a:r>
              <a:rPr sz="1250" b="0">
                <a:solidFill>
                  <a:srgbClr val="93A4BD"/>
                </a:solidFill>
                <a:latin typeface="Calibri"/>
              </a:rPr>
              <a:t>over REST and WebSocket, plus a cascading delete.</a:t>
            </a:r>
          </a:p>
        </p:txBody>
      </p:sp>
      <p:sp>
        <p:nvSpPr>
          <p:cNvPr id="10" name="TextBox 9"/>
          <p:cNvSpPr txBox="1"/>
          <p:nvPr/>
        </p:nvSpPr>
        <p:spPr>
          <a:xfrm>
            <a:off x="566928" y="3493008"/>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Seven indexes </a:t>
            </a:r>
            <a:r>
              <a:rPr sz="1250" b="0">
                <a:solidFill>
                  <a:srgbClr val="93A4BD"/>
                </a:solidFill>
                <a:latin typeface="Calibri"/>
              </a:rPr>
              <a:t>with plans captured through explain.</a:t>
            </a:r>
          </a:p>
        </p:txBody>
      </p:sp>
      <p:sp>
        <p:nvSpPr>
          <p:cNvPr id="11" name="TextBox 10"/>
          <p:cNvSpPr txBox="1"/>
          <p:nvPr/>
        </p:nvSpPr>
        <p:spPr>
          <a:xfrm>
            <a:off x="566928" y="4023360"/>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Nine pipelines </a:t>
            </a:r>
            <a:r>
              <a:rPr sz="1250" b="0">
                <a:solidFill>
                  <a:srgbClr val="93A4BD"/>
                </a:solidFill>
                <a:latin typeface="Calibri"/>
              </a:rPr>
              <a:t>surfaced in the product, not just a shell.</a:t>
            </a:r>
          </a:p>
        </p:txBody>
      </p:sp>
      <p:sp>
        <p:nvSpPr>
          <p:cNvPr id="12" name="TextBox 11"/>
          <p:cNvSpPr txBox="1"/>
          <p:nvPr/>
        </p:nvSpPr>
        <p:spPr>
          <a:xfrm>
            <a:off x="566928" y="4553712"/>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80,019 documents </a:t>
            </a:r>
            <a:r>
              <a:rPr sz="1250" b="0">
                <a:solidFill>
                  <a:srgbClr val="93A4BD"/>
                </a:solidFill>
                <a:latin typeface="Calibri"/>
              </a:rPr>
              <a:t>generated to a realistic shape.</a:t>
            </a:r>
          </a:p>
        </p:txBody>
      </p:sp>
      <p:sp>
        <p:nvSpPr>
          <p:cNvPr id="13" name="TextBox 12"/>
          <p:cNvSpPr txBox="1"/>
          <p:nvPr/>
        </p:nvSpPr>
        <p:spPr>
          <a:xfrm>
            <a:off x="566928" y="5084064"/>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Cross-instance sync </a:t>
            </a:r>
            <a:r>
              <a:rPr sz="1250" b="0">
                <a:solidFill>
                  <a:srgbClr val="93A4BD"/>
                </a:solidFill>
                <a:latin typeface="Calibri"/>
              </a:rPr>
              <a:t>demonstrated on two processes.</a:t>
            </a:r>
          </a:p>
        </p:txBody>
      </p:sp>
      <p:sp>
        <p:nvSpPr>
          <p:cNvPr id="14" name="TextBox 13"/>
          <p:cNvSpPr txBox="1"/>
          <p:nvPr/>
        </p:nvSpPr>
        <p:spPr>
          <a:xfrm>
            <a:off x="6263640" y="1554480"/>
            <a:ext cx="5367528" cy="274320"/>
          </a:xfrm>
          <a:prstGeom prst="rect">
            <a:avLst/>
          </a:prstGeom>
          <a:noFill/>
        </p:spPr>
        <p:txBody>
          <a:bodyPr wrap="square" anchor="t" lIns="0" rIns="0" tIns="0" bIns="0">
            <a:spAutoFit/>
          </a:bodyPr>
          <a:lstStyle/>
          <a:p>
            <a:pPr algn="l">
              <a:spcAft>
                <a:spcPts val="400"/>
              </a:spcAft>
            </a:pPr>
            <a:r>
              <a:rPr sz="1450" b="1">
                <a:solidFill>
                  <a:srgbClr val="F5A524"/>
                </a:solidFill>
                <a:latin typeface="Calibri"/>
              </a:rPr>
              <a:t>Deviations from the Review 1 sheet</a:t>
            </a:r>
          </a:p>
        </p:txBody>
      </p:sp>
      <p:graphicFrame>
        <p:nvGraphicFramePr>
          <p:cNvPr id="15" name="Table 14"/>
          <p:cNvGraphicFramePr>
            <a:graphicFrameLocks noGrp="1"/>
          </p:cNvGraphicFramePr>
          <p:nvPr/>
        </p:nvGraphicFramePr>
        <p:xfrm>
          <a:off x="6263640" y="1901952"/>
          <a:ext cx="5367528" cy="2834640"/>
        </p:xfrm>
        <a:graphic>
          <a:graphicData uri="http://schemas.openxmlformats.org/drawingml/2006/table">
            <a:tbl>
              <a:tblPr firstRow="1" bandRow="1">
                <a:tableStyleId>{5C22544A-7EE6-4342-B048-85BDC9FD1C3A}</a:tableStyleId>
              </a:tblPr>
              <a:tblGrid>
                <a:gridCol w="2103120"/>
                <a:gridCol w="3264408"/>
              </a:tblGrid>
              <a:tr h="566928">
                <a:tc>
                  <a:txBody>
                    <a:bodyPr/>
                    <a:lstStyle/>
                    <a:p>
                      <a:pPr algn="l">
                        <a:spcAft>
                          <a:spcPts val="400"/>
                        </a:spcAft>
                      </a:pPr>
                      <a:r>
                        <a:rPr sz="1150" b="1">
                          <a:solidFill>
                            <a:srgbClr val="4F9BF5"/>
                          </a:solidFill>
                          <a:latin typeface="Calibri"/>
                        </a:rPr>
                        <a:t>Review 1 said</a:t>
                      </a:r>
                    </a:p>
                  </a:txBody>
                  <a:tcPr anchor="ctr" marL="64008" marR="64008">
                    <a:solidFill>
                      <a:srgbClr val="22314A"/>
                    </a:solidFill>
                  </a:tcPr>
                </a:tc>
                <a:tc>
                  <a:txBody>
                    <a:bodyPr/>
                    <a:lstStyle/>
                    <a:p>
                      <a:pPr algn="l">
                        <a:spcAft>
                          <a:spcPts val="400"/>
                        </a:spcAft>
                      </a:pPr>
                      <a:r>
                        <a:rPr sz="1150" b="1">
                          <a:solidFill>
                            <a:srgbClr val="4F9BF5"/>
                          </a:solidFill>
                          <a:latin typeface="Calibri"/>
                        </a:rPr>
                        <a:t>Review 2 does</a:t>
                      </a:r>
                    </a:p>
                  </a:txBody>
                  <a:tcPr anchor="ctr" marL="64008" marR="64008">
                    <a:solidFill>
                      <a:srgbClr val="22314A"/>
                    </a:solidFill>
                  </a:tcPr>
                </a:tc>
              </a:tr>
              <a:tr h="566928">
                <a:tc>
                  <a:txBody>
                    <a:bodyPr/>
                    <a:lstStyle/>
                    <a:p>
                      <a:pPr algn="l">
                        <a:spcAft>
                          <a:spcPts val="400"/>
                        </a:spcAft>
                      </a:pPr>
                      <a:r>
                        <a:rPr sz="1150" b="0">
                          <a:solidFill>
                            <a:srgbClr val="ECF1F8"/>
                          </a:solidFill>
                          <a:latin typeface="Calibri"/>
                        </a:rPr>
                        <a:t>Two collections</a:t>
                      </a:r>
                    </a:p>
                  </a:txBody>
                  <a:tcPr anchor="ctr" marL="64008" marR="64008">
                    <a:solidFill>
                      <a:srgbClr val="182236"/>
                    </a:solidFill>
                  </a:tcPr>
                </a:tc>
                <a:tc>
                  <a:txBody>
                    <a:bodyPr/>
                    <a:lstStyle/>
                    <a:p>
                      <a:pPr algn="l">
                        <a:spcAft>
                          <a:spcPts val="400"/>
                        </a:spcAft>
                      </a:pPr>
                      <a:r>
                        <a:rPr sz="1150" b="0">
                          <a:solidFill>
                            <a:srgbClr val="ECF1F8"/>
                          </a:solidFill>
                          <a:latin typeface="Calibri"/>
                        </a:rPr>
                        <a:t>Three — join cost forced snapshots</a:t>
                      </a:r>
                    </a:p>
                  </a:txBody>
                  <a:tcPr anchor="ctr" marL="64008" marR="64008">
                    <a:solidFill>
                      <a:srgbClr val="182236"/>
                    </a:solidFill>
                  </a:tcPr>
                </a:tc>
              </a:tr>
              <a:tr h="566928">
                <a:tc>
                  <a:txBody>
                    <a:bodyPr/>
                    <a:lstStyle/>
                    <a:p>
                      <a:pPr algn="l">
                        <a:spcAft>
                          <a:spcPts val="400"/>
                        </a:spcAft>
                      </a:pPr>
                      <a:r>
                        <a:rPr sz="1150" b="0">
                          <a:solidFill>
                            <a:srgbClr val="ECF1F8"/>
                          </a:solidFill>
                          <a:latin typeface="Calibri"/>
                        </a:rPr>
                        <a:t>Snapshotting optional</a:t>
                      </a:r>
                    </a:p>
                  </a:txBody>
                  <a:tcPr anchor="ctr" marL="64008" marR="64008">
                    <a:solidFill>
                      <a:srgbClr val="141E30"/>
                    </a:solidFill>
                  </a:tcPr>
                </a:tc>
                <a:tc>
                  <a:txBody>
                    <a:bodyPr/>
                    <a:lstStyle/>
                    <a:p>
                      <a:pPr algn="l">
                        <a:spcAft>
                          <a:spcPts val="400"/>
                        </a:spcAft>
                      </a:pPr>
                      <a:r>
                        <a:rPr sz="1150" b="0">
                          <a:solidFill>
                            <a:srgbClr val="ECF1F8"/>
                          </a:solidFill>
                          <a:latin typeface="Calibri"/>
                        </a:rPr>
                        <a:t>Implemented, client and server side</a:t>
                      </a:r>
                    </a:p>
                  </a:txBody>
                  <a:tcPr anchor="ctr" marL="64008" marR="64008">
                    <a:solidFill>
                      <a:srgbClr val="141E30"/>
                    </a:solidFill>
                  </a:tcPr>
                </a:tc>
              </a:tr>
              <a:tr h="566928">
                <a:tc>
                  <a:txBody>
                    <a:bodyPr/>
                    <a:lstStyle/>
                    <a:p>
                      <a:pPr algn="l">
                        <a:spcAft>
                          <a:spcPts val="400"/>
                        </a:spcAft>
                      </a:pPr>
                      <a:r>
                        <a:rPr sz="1150" b="0">
                          <a:solidFill>
                            <a:srgbClr val="ECF1F8"/>
                          </a:solidFill>
                          <a:latin typeface="Calibri"/>
                        </a:rPr>
                        <a:t>Atlas free tier</a:t>
                      </a:r>
                    </a:p>
                  </a:txBody>
                  <a:tcPr anchor="ctr" marL="64008" marR="64008">
                    <a:solidFill>
                      <a:srgbClr val="182236"/>
                    </a:solidFill>
                  </a:tcPr>
                </a:tc>
                <a:tc>
                  <a:txBody>
                    <a:bodyPr/>
                    <a:lstStyle/>
                    <a:p>
                      <a:pPr algn="l">
                        <a:spcAft>
                          <a:spcPts val="400"/>
                        </a:spcAft>
                      </a:pPr>
                      <a:r>
                        <a:rPr sz="1150" b="0">
                          <a:solidFill>
                            <a:srgbClr val="ECF1F8"/>
                          </a:solidFill>
                          <a:latin typeface="Calibri"/>
                        </a:rPr>
                        <a:t>Local Docker; Atlas by configuration</a:t>
                      </a:r>
                    </a:p>
                  </a:txBody>
                  <a:tcPr anchor="ctr" marL="64008" marR="64008">
                    <a:solidFill>
                      <a:srgbClr val="182236"/>
                    </a:solidFill>
                  </a:tcPr>
                </a:tc>
              </a:tr>
              <a:tr h="566928">
                <a:tc>
                  <a:txBody>
                    <a:bodyPr/>
                    <a:lstStyle/>
                    <a:p>
                      <a:pPr algn="l">
                        <a:spcAft>
                          <a:spcPts val="400"/>
                        </a:spcAft>
                      </a:pPr>
                      <a:r>
                        <a:rPr sz="1150" b="0">
                          <a:solidFill>
                            <a:srgbClr val="ECF1F8"/>
                          </a:solidFill>
                          <a:latin typeface="Calibri"/>
                        </a:rPr>
                        <a:t>Postman for testing</a:t>
                      </a:r>
                    </a:p>
                  </a:txBody>
                  <a:tcPr anchor="ctr" marL="64008" marR="64008">
                    <a:solidFill>
                      <a:srgbClr val="141E30"/>
                    </a:solidFill>
                  </a:tcPr>
                </a:tc>
                <a:tc>
                  <a:txBody>
                    <a:bodyPr/>
                    <a:lstStyle/>
                    <a:p>
                      <a:pPr algn="l">
                        <a:spcAft>
                          <a:spcPts val="400"/>
                        </a:spcAft>
                      </a:pPr>
                      <a:r>
                        <a:rPr sz="1150" b="0">
                          <a:solidFill>
                            <a:srgbClr val="ECF1F8"/>
                          </a:solidFill>
                          <a:latin typeface="Calibri"/>
                        </a:rPr>
                        <a:t>Postman plus a scripted run, which can express the undo race</a:t>
                      </a:r>
                    </a:p>
                  </a:txBody>
                  <a:tcPr anchor="ctr" marL="64008" marR="64008">
                    <a:solidFill>
                      <a:srgbClr val="141E30"/>
                    </a:solidFill>
                  </a:tcPr>
                </a:tc>
              </a:tr>
            </a:tbl>
          </a:graphicData>
        </a:graphic>
      </p:graphicFrame>
      <p:sp>
        <p:nvSpPr>
          <p:cNvPr id="16" name="TextBox 15"/>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 9 of the report — 25-page document submitted alongside this deck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DOCUMENTATION &amp; PROGRESS</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Limitations we are not hiding, and what comes next</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554480"/>
            <a:ext cx="5394960" cy="274320"/>
          </a:xfrm>
          <a:prstGeom prst="rect">
            <a:avLst/>
          </a:prstGeom>
          <a:noFill/>
        </p:spPr>
        <p:txBody>
          <a:bodyPr wrap="square" anchor="t" lIns="0" rIns="0" tIns="0" bIns="0">
            <a:spAutoFit/>
          </a:bodyPr>
          <a:lstStyle/>
          <a:p>
            <a:pPr algn="l">
              <a:spcAft>
                <a:spcPts val="400"/>
              </a:spcAft>
            </a:pPr>
            <a:r>
              <a:rPr sz="1450" b="1">
                <a:solidFill>
                  <a:srgbClr val="F5A524"/>
                </a:solidFill>
                <a:latin typeface="Calibri"/>
              </a:rPr>
              <a:t>Known limitations</a:t>
            </a:r>
          </a:p>
        </p:txBody>
      </p:sp>
      <p:sp>
        <p:nvSpPr>
          <p:cNvPr id="7" name="TextBox 6"/>
          <p:cNvSpPr txBox="1"/>
          <p:nvPr/>
        </p:nvSpPr>
        <p:spPr>
          <a:xfrm>
            <a:off x="566928" y="1901952"/>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No authentication. </a:t>
            </a:r>
            <a:r>
              <a:rPr sz="1250" b="0">
                <a:solidFill>
                  <a:srgbClr val="93A4BD"/>
                </a:solidFill>
                <a:latin typeface="Calibri"/>
              </a:rPr>
              <a:t>Identity is a display name in browser storage, so per-user undo trusts the client.</a:t>
            </a:r>
          </a:p>
        </p:txBody>
      </p:sp>
      <p:sp>
        <p:nvSpPr>
          <p:cNvPr id="8" name="TextBox 7"/>
          <p:cNvSpPr txBox="1"/>
          <p:nvPr/>
        </p:nvSpPr>
        <p:spPr>
          <a:xfrm>
            <a:off x="566928" y="2679192"/>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Preview fanout grows with the square </a:t>
            </a:r>
            <a:r>
              <a:rPr sz="1250" b="0">
                <a:solidFill>
                  <a:srgbClr val="93A4BD"/>
                </a:solidFill>
                <a:latin typeface="Calibri"/>
              </a:rPr>
              <a:t>of participants in a room.</a:t>
            </a:r>
          </a:p>
        </p:txBody>
      </p:sp>
      <p:sp>
        <p:nvSpPr>
          <p:cNvPr id="9" name="TextBox 8"/>
          <p:cNvSpPr txBox="1"/>
          <p:nvPr/>
        </p:nvSpPr>
        <p:spPr>
          <a:xfrm>
            <a:off x="566928" y="3218688"/>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Dense snapshots approach the size </a:t>
            </a:r>
            <a:r>
              <a:rPr sz="1250" b="0">
                <a:solidFill>
                  <a:srgbClr val="93A4BD"/>
                </a:solidFill>
                <a:latin typeface="Calibri"/>
              </a:rPr>
              <a:t>where GridFS would be right; the headroom is measured, not generous.</a:t>
            </a:r>
          </a:p>
        </p:txBody>
      </p:sp>
      <p:sp>
        <p:nvSpPr>
          <p:cNvPr id="10" name="TextBox 9"/>
          <p:cNvSpPr txBox="1"/>
          <p:nvPr/>
        </p:nvSpPr>
        <p:spPr>
          <a:xfrm>
            <a:off x="566928" y="3995928"/>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No conflict resolution for concurrent </a:t>
            </a:r>
            <a:r>
              <a:rPr sz="1250" b="0">
                <a:solidFill>
                  <a:srgbClr val="93A4BD"/>
                </a:solidFill>
                <a:latin typeface="Calibri"/>
              </a:rPr>
              <a:t>edits to one stroke — last write wins. This is exactly where a CRDT would be needed, and it is not claimed.</a:t>
            </a:r>
          </a:p>
        </p:txBody>
      </p:sp>
      <p:sp>
        <p:nvSpPr>
          <p:cNvPr id="11" name="TextBox 10"/>
          <p:cNvSpPr txBox="1"/>
          <p:nvPr/>
        </p:nvSpPr>
        <p:spPr>
          <a:xfrm>
            <a:off x="566928" y="5010912"/>
            <a:ext cx="5394960"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Timings are cache-warm, </a:t>
            </a:r>
            <a:r>
              <a:rPr sz="1250" b="0">
                <a:solidFill>
                  <a:srgbClr val="93A4BD"/>
                </a:solidFill>
                <a:latin typeface="Calibri"/>
              </a:rPr>
              <a:t>which understates the index benefit.</a:t>
            </a:r>
          </a:p>
        </p:txBody>
      </p:sp>
      <p:sp>
        <p:nvSpPr>
          <p:cNvPr id="12" name="TextBox 11"/>
          <p:cNvSpPr txBox="1"/>
          <p:nvPr/>
        </p:nvSpPr>
        <p:spPr>
          <a:xfrm>
            <a:off x="6263640" y="1554480"/>
            <a:ext cx="5367528" cy="274320"/>
          </a:xfrm>
          <a:prstGeom prst="rect">
            <a:avLst/>
          </a:prstGeom>
          <a:noFill/>
        </p:spPr>
        <p:txBody>
          <a:bodyPr wrap="square" anchor="t" lIns="0" rIns="0" tIns="0" bIns="0">
            <a:spAutoFit/>
          </a:bodyPr>
          <a:lstStyle/>
          <a:p>
            <a:pPr algn="l">
              <a:spcAft>
                <a:spcPts val="400"/>
              </a:spcAft>
            </a:pPr>
            <a:r>
              <a:rPr sz="1450" b="1">
                <a:solidFill>
                  <a:srgbClr val="3DD598"/>
                </a:solidFill>
                <a:latin typeface="Calibri"/>
              </a:rPr>
              <a:t>Plan for Review 3</a:t>
            </a:r>
          </a:p>
        </p:txBody>
      </p:sp>
      <p:sp>
        <p:nvSpPr>
          <p:cNvPr id="13" name="TextBox 12"/>
          <p:cNvSpPr txBox="1"/>
          <p:nvPr/>
        </p:nvSpPr>
        <p:spPr>
          <a:xfrm>
            <a:off x="6263640" y="1901952"/>
            <a:ext cx="5367528"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Deploy to Atlas M0 </a:t>
            </a:r>
            <a:r>
              <a:rPr sz="1250" b="0">
                <a:solidFill>
                  <a:srgbClr val="93A4BD"/>
                </a:solidFill>
                <a:latin typeface="Calibri"/>
              </a:rPr>
              <a:t>and re-measure; a constrained cache should widen the index advantage.</a:t>
            </a:r>
          </a:p>
        </p:txBody>
      </p:sp>
      <p:sp>
        <p:nvSpPr>
          <p:cNvPr id="14" name="TextBox 13"/>
          <p:cNvSpPr txBox="1"/>
          <p:nvPr/>
        </p:nvSpPr>
        <p:spPr>
          <a:xfrm>
            <a:off x="6263640" y="2679192"/>
            <a:ext cx="5367528"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Add a TTL index </a:t>
            </a:r>
            <a:r>
              <a:rPr sz="1250" b="0">
                <a:solidFill>
                  <a:srgbClr val="93A4BD"/>
                </a:solidFill>
                <a:latin typeface="Calibri"/>
              </a:rPr>
              <a:t>to expire abandoned rooms — a NoSQL feature not yet exercised.</a:t>
            </a:r>
          </a:p>
        </p:txBody>
      </p:sp>
      <p:sp>
        <p:nvSpPr>
          <p:cNvPr id="15" name="TextBox 14"/>
          <p:cNvSpPr txBox="1"/>
          <p:nvPr/>
        </p:nvSpPr>
        <p:spPr>
          <a:xfrm>
            <a:off x="6263640" y="3218688"/>
            <a:ext cx="5367528"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Try change streams </a:t>
            </a:r>
            <a:r>
              <a:rPr sz="1250" b="0">
                <a:solidFill>
                  <a:srgbClr val="93A4BD"/>
                </a:solidFill>
                <a:latin typeface="Calibri"/>
              </a:rPr>
              <a:t>as a second, database-driven notification path, and compare it with Redis.</a:t>
            </a:r>
          </a:p>
        </p:txBody>
      </p:sp>
      <p:sp>
        <p:nvSpPr>
          <p:cNvPr id="16" name="TextBox 15"/>
          <p:cNvSpPr txBox="1"/>
          <p:nvPr/>
        </p:nvSpPr>
        <p:spPr>
          <a:xfrm>
            <a:off x="6263640" y="3995928"/>
            <a:ext cx="5367528"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Move snapshots to GridFS </a:t>
            </a:r>
            <a:r>
              <a:rPr sz="1250" b="0">
                <a:solidFill>
                  <a:srgbClr val="93A4BD"/>
                </a:solidFill>
                <a:latin typeface="Calibri"/>
              </a:rPr>
              <a:t>and compare WebP against PNG.</a:t>
            </a:r>
          </a:p>
        </p:txBody>
      </p:sp>
      <p:sp>
        <p:nvSpPr>
          <p:cNvPr id="17" name="TextBox 16"/>
          <p:cNvSpPr txBox="1"/>
          <p:nvPr/>
        </p:nvSpPr>
        <p:spPr>
          <a:xfrm>
            <a:off x="6263640" y="4535424"/>
            <a:ext cx="5367528"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Add draggable objects, </a:t>
            </a:r>
            <a:r>
              <a:rPr sz="1250" b="0">
                <a:solidFill>
                  <a:srgbClr val="93A4BD"/>
                </a:solidFill>
                <a:latin typeface="Calibri"/>
              </a:rPr>
              <a:t>which would make a CRDT layer necessary rather than ornamental.</a:t>
            </a:r>
          </a:p>
        </p:txBody>
      </p:sp>
      <p:sp>
        <p:nvSpPr>
          <p:cNvPr id="18" name="TextBox 17"/>
          <p:cNvSpPr txBox="1"/>
          <p:nvPr/>
        </p:nvSpPr>
        <p:spPr>
          <a:xfrm>
            <a:off x="6263640" y="5074920"/>
            <a:ext cx="5367528" cy="274320"/>
          </a:xfrm>
          <a:prstGeom prst="rect">
            <a:avLst/>
          </a:prstGeom>
          <a:noFill/>
        </p:spPr>
        <p:txBody>
          <a:bodyPr wrap="square" anchor="t" lIns="0" rIns="0" tIns="0" bIns="0">
            <a:spAutoFit/>
          </a:bodyPr>
          <a:lstStyle/>
          <a:p>
            <a:pPr>
              <a:lnSpc>
                <a:spcPct val="104000"/>
              </a:lnSpc>
            </a:pPr>
            <a:r>
              <a:rPr sz="1250" b="1">
                <a:solidFill>
                  <a:srgbClr val="ECF1F8"/>
                </a:solidFill>
                <a:latin typeface="Calibri"/>
              </a:rPr>
              <a:t>Load-test the fanout </a:t>
            </a:r>
            <a:r>
              <a:rPr sz="1250" b="0">
                <a:solidFill>
                  <a:srgbClr val="93A4BD"/>
                </a:solidFill>
                <a:latin typeface="Calibri"/>
              </a:rPr>
              <a:t>to find where one instance saturates.</a:t>
            </a:r>
          </a:p>
        </p:txBody>
      </p:sp>
      <p:sp>
        <p:nvSpPr>
          <p:cNvPr id="19" name="TextBox 18"/>
          <p:cNvSpPr txBox="1"/>
          <p:nvPr/>
        </p:nvSpPr>
        <p:spPr>
          <a:xfrm>
            <a:off x="566928" y="6355080"/>
            <a:ext cx="11064240" cy="274320"/>
          </a:xfrm>
          <a:prstGeom prst="rect">
            <a:avLst/>
          </a:prstGeom>
          <a:noFill/>
        </p:spPr>
        <p:txBody>
          <a:bodyPr wrap="square" anchor="t" lIns="0" rIns="0" tIns="0" bIns="0">
            <a:spAutoFit/>
          </a:bodyPr>
          <a:lstStyle/>
          <a:p>
            <a:pPr algn="l">
              <a:spcAft>
                <a:spcPts val="400"/>
              </a:spcAft>
            </a:pPr>
            <a:r>
              <a:rPr sz="1050" b="0">
                <a:solidFill>
                  <a:srgbClr val="93A4BD"/>
                </a:solidFill>
                <a:latin typeface="Calibri"/>
              </a:rPr>
              <a:t>Sections 9.3 and 9.4 of the report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84048"/>
            <a:ext cx="11064240" cy="274320"/>
          </a:xfrm>
          <a:prstGeom prst="rect">
            <a:avLst/>
          </a:prstGeom>
          <a:noFill/>
        </p:spPr>
        <p:txBody>
          <a:bodyPr wrap="square" anchor="t" lIns="0" rIns="0" tIns="0" bIns="0">
            <a:spAutoFit/>
          </a:bodyPr>
          <a:lstStyle/>
          <a:p>
            <a:pPr algn="l">
              <a:spcAft>
                <a:spcPts val="400"/>
              </a:spcAft>
            </a:pPr>
            <a:r>
              <a:rPr sz="1150" b="1">
                <a:solidFill>
                  <a:srgbClr val="4F9BF5"/>
                </a:solidFill>
                <a:latin typeface="Calibri"/>
              </a:rPr>
              <a:t>LIVE DEMONSTRATION</a:t>
            </a:r>
          </a:p>
        </p:txBody>
      </p:sp>
      <p:sp>
        <p:nvSpPr>
          <p:cNvPr id="4" name="TextBox 3"/>
          <p:cNvSpPr txBox="1"/>
          <p:nvPr/>
        </p:nvSpPr>
        <p:spPr>
          <a:xfrm>
            <a:off x="566928" y="694944"/>
            <a:ext cx="11064240" cy="566928"/>
          </a:xfrm>
          <a:prstGeom prst="rect">
            <a:avLst/>
          </a:prstGeom>
          <a:noFill/>
        </p:spPr>
        <p:txBody>
          <a:bodyPr wrap="square" anchor="t" lIns="0" rIns="0" tIns="0" bIns="0">
            <a:spAutoFit/>
          </a:bodyPr>
          <a:lstStyle/>
          <a:p>
            <a:pPr algn="l">
              <a:spcAft>
                <a:spcPts val="400"/>
              </a:spcAft>
            </a:pPr>
            <a:r>
              <a:rPr sz="2900" b="1">
                <a:solidFill>
                  <a:srgbClr val="ECF1F8"/>
                </a:solidFill>
                <a:latin typeface="Calibri"/>
              </a:rPr>
              <a:t>What we will show in the demo</a:t>
            </a:r>
          </a:p>
        </p:txBody>
      </p:sp>
      <p:sp>
        <p:nvSpPr>
          <p:cNvPr id="5" name="Rectangle 4"/>
          <p:cNvSpPr/>
          <p:nvPr/>
        </p:nvSpPr>
        <p:spPr>
          <a:xfrm>
            <a:off x="566928" y="1353312"/>
            <a:ext cx="1371600" cy="38100"/>
          </a:xfrm>
          <a:prstGeom prst="rect">
            <a:avLst/>
          </a:prstGeom>
          <a:solidFill>
            <a:srgbClr val="4F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27632"/>
            <a:ext cx="11064240" cy="658368"/>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19072"/>
            <a:ext cx="457200" cy="457200"/>
          </a:xfrm>
          <a:prstGeom prst="rect">
            <a:avLst/>
          </a:prstGeom>
          <a:noFill/>
        </p:spPr>
        <p:txBody>
          <a:bodyPr wrap="square" anchor="t" lIns="0" rIns="0" tIns="0" bIns="0">
            <a:spAutoFit/>
          </a:bodyPr>
          <a:lstStyle/>
          <a:p>
            <a:pPr algn="l">
              <a:spcAft>
                <a:spcPts val="400"/>
              </a:spcAft>
            </a:pPr>
            <a:r>
              <a:rPr sz="1900" b="1">
                <a:solidFill>
                  <a:srgbClr val="4F9BF5"/>
                </a:solidFill>
                <a:latin typeface="Calibri"/>
              </a:rPr>
              <a:t>1</a:t>
            </a:r>
          </a:p>
        </p:txBody>
      </p:sp>
      <p:sp>
        <p:nvSpPr>
          <p:cNvPr id="8" name="TextBox 7"/>
          <p:cNvSpPr txBox="1"/>
          <p:nvPr/>
        </p:nvSpPr>
        <p:spPr>
          <a:xfrm>
            <a:off x="1280160" y="1700784"/>
            <a:ext cx="10149840" cy="548640"/>
          </a:xfrm>
          <a:prstGeom prst="rect">
            <a:avLst/>
          </a:prstGeom>
          <a:noFill/>
        </p:spPr>
        <p:txBody>
          <a:bodyPr wrap="square" anchor="t" lIns="0" rIns="0" tIns="0" bIns="0">
            <a:spAutoFit/>
          </a:bodyPr>
          <a:lstStyle/>
          <a:p>
            <a:pPr algn="l">
              <a:spcAft>
                <a:spcPts val="100"/>
              </a:spcAft>
            </a:pPr>
            <a:r>
              <a:rPr sz="1450" b="1">
                <a:solidFill>
                  <a:srgbClr val="ECF1F8"/>
                </a:solidFill>
                <a:latin typeface="Calibri"/>
              </a:rPr>
              <a:t>Create a board, draw with all six tools</a:t>
            </a:r>
          </a:p>
          <a:p>
            <a:pPr algn="l">
              <a:spcAft>
                <a:spcPts val="400"/>
              </a:spcAft>
            </a:pPr>
            <a:r>
              <a:rPr sz="1200" b="0">
                <a:solidFill>
                  <a:srgbClr val="93A4BD"/>
                </a:solidFill>
                <a:latin typeface="Calibri"/>
              </a:rPr>
              <a:t>Each mark becomes one document; watch the stroke count rise.</a:t>
            </a:r>
          </a:p>
        </p:txBody>
      </p:sp>
      <p:sp>
        <p:nvSpPr>
          <p:cNvPr id="9" name="Rounded Rectangle 8"/>
          <p:cNvSpPr/>
          <p:nvPr/>
        </p:nvSpPr>
        <p:spPr>
          <a:xfrm>
            <a:off x="566928" y="2377440"/>
            <a:ext cx="11064240" cy="658368"/>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468880"/>
            <a:ext cx="457200" cy="457200"/>
          </a:xfrm>
          <a:prstGeom prst="rect">
            <a:avLst/>
          </a:prstGeom>
          <a:noFill/>
        </p:spPr>
        <p:txBody>
          <a:bodyPr wrap="square" anchor="t" lIns="0" rIns="0" tIns="0" bIns="0">
            <a:spAutoFit/>
          </a:bodyPr>
          <a:lstStyle/>
          <a:p>
            <a:pPr algn="l">
              <a:spcAft>
                <a:spcPts val="400"/>
              </a:spcAft>
            </a:pPr>
            <a:r>
              <a:rPr sz="1900" b="1">
                <a:solidFill>
                  <a:srgbClr val="4F9BF5"/>
                </a:solidFill>
                <a:latin typeface="Calibri"/>
              </a:rPr>
              <a:t>2</a:t>
            </a:r>
          </a:p>
        </p:txBody>
      </p:sp>
      <p:sp>
        <p:nvSpPr>
          <p:cNvPr id="11" name="TextBox 10"/>
          <p:cNvSpPr txBox="1"/>
          <p:nvPr/>
        </p:nvSpPr>
        <p:spPr>
          <a:xfrm>
            <a:off x="1280160" y="2450592"/>
            <a:ext cx="10149840" cy="548640"/>
          </a:xfrm>
          <a:prstGeom prst="rect">
            <a:avLst/>
          </a:prstGeom>
          <a:noFill/>
        </p:spPr>
        <p:txBody>
          <a:bodyPr wrap="square" anchor="t" lIns="0" rIns="0" tIns="0" bIns="0">
            <a:spAutoFit/>
          </a:bodyPr>
          <a:lstStyle/>
          <a:p>
            <a:pPr algn="l">
              <a:spcAft>
                <a:spcPts val="100"/>
              </a:spcAft>
            </a:pPr>
            <a:r>
              <a:rPr sz="1450" b="1">
                <a:solidFill>
                  <a:srgbClr val="ECF1F8"/>
                </a:solidFill>
                <a:latin typeface="Calibri"/>
              </a:rPr>
              <a:t>Open the same board in a second browser on port 8002</a:t>
            </a:r>
          </a:p>
          <a:p>
            <a:pPr algn="l">
              <a:spcAft>
                <a:spcPts val="400"/>
              </a:spcAft>
            </a:pPr>
            <a:r>
              <a:rPr sz="1200" b="0">
                <a:solidFill>
                  <a:srgbClr val="93A4BD"/>
                </a:solidFill>
                <a:latin typeface="Calibri"/>
              </a:rPr>
              <a:t>A different process. Strokes and cursors cross through Redis Pub/Sub.</a:t>
            </a:r>
          </a:p>
        </p:txBody>
      </p:sp>
      <p:sp>
        <p:nvSpPr>
          <p:cNvPr id="12" name="Rounded Rectangle 11"/>
          <p:cNvSpPr/>
          <p:nvPr/>
        </p:nvSpPr>
        <p:spPr>
          <a:xfrm>
            <a:off x="566928" y="3127248"/>
            <a:ext cx="11064240" cy="658368"/>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3218688"/>
            <a:ext cx="457200" cy="457200"/>
          </a:xfrm>
          <a:prstGeom prst="rect">
            <a:avLst/>
          </a:prstGeom>
          <a:noFill/>
        </p:spPr>
        <p:txBody>
          <a:bodyPr wrap="square" anchor="t" lIns="0" rIns="0" tIns="0" bIns="0">
            <a:spAutoFit/>
          </a:bodyPr>
          <a:lstStyle/>
          <a:p>
            <a:pPr algn="l">
              <a:spcAft>
                <a:spcPts val="400"/>
              </a:spcAft>
            </a:pPr>
            <a:r>
              <a:rPr sz="1900" b="1">
                <a:solidFill>
                  <a:srgbClr val="4F9BF5"/>
                </a:solidFill>
                <a:latin typeface="Calibri"/>
              </a:rPr>
              <a:t>3</a:t>
            </a:r>
          </a:p>
        </p:txBody>
      </p:sp>
      <p:sp>
        <p:nvSpPr>
          <p:cNvPr id="14" name="TextBox 13"/>
          <p:cNvSpPr txBox="1"/>
          <p:nvPr/>
        </p:nvSpPr>
        <p:spPr>
          <a:xfrm>
            <a:off x="1280160" y="3200400"/>
            <a:ext cx="10149840" cy="548640"/>
          </a:xfrm>
          <a:prstGeom prst="rect">
            <a:avLst/>
          </a:prstGeom>
          <a:noFill/>
        </p:spPr>
        <p:txBody>
          <a:bodyPr wrap="square" anchor="t" lIns="0" rIns="0" tIns="0" bIns="0">
            <a:spAutoFit/>
          </a:bodyPr>
          <a:lstStyle/>
          <a:p>
            <a:pPr algn="l">
              <a:spcAft>
                <a:spcPts val="100"/>
              </a:spcAft>
            </a:pPr>
            <a:r>
              <a:rPr sz="1450" b="1">
                <a:solidFill>
                  <a:srgbClr val="ECF1F8"/>
                </a:solidFill>
                <a:latin typeface="Calibri"/>
              </a:rPr>
              <a:t>Undo and redo from both windows</a:t>
            </a:r>
          </a:p>
          <a:p>
            <a:pPr algn="l">
              <a:spcAft>
                <a:spcPts val="400"/>
              </a:spcAft>
            </a:pPr>
            <a:r>
              <a:rPr sz="1200" b="0">
                <a:solidFill>
                  <a:srgbClr val="93A4BD"/>
                </a:solidFill>
                <a:latin typeface="Calibri"/>
              </a:rPr>
              <a:t>Soft delete, scoped per user, claimed atomically.</a:t>
            </a:r>
          </a:p>
        </p:txBody>
      </p:sp>
      <p:sp>
        <p:nvSpPr>
          <p:cNvPr id="15" name="Rounded Rectangle 14"/>
          <p:cNvSpPr/>
          <p:nvPr/>
        </p:nvSpPr>
        <p:spPr>
          <a:xfrm>
            <a:off x="566928" y="3877056"/>
            <a:ext cx="11064240" cy="658368"/>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3968496"/>
            <a:ext cx="457200" cy="457200"/>
          </a:xfrm>
          <a:prstGeom prst="rect">
            <a:avLst/>
          </a:prstGeom>
          <a:noFill/>
        </p:spPr>
        <p:txBody>
          <a:bodyPr wrap="square" anchor="t" lIns="0" rIns="0" tIns="0" bIns="0">
            <a:spAutoFit/>
          </a:bodyPr>
          <a:lstStyle/>
          <a:p>
            <a:pPr algn="l">
              <a:spcAft>
                <a:spcPts val="400"/>
              </a:spcAft>
            </a:pPr>
            <a:r>
              <a:rPr sz="1900" b="1">
                <a:solidFill>
                  <a:srgbClr val="4F9BF5"/>
                </a:solidFill>
                <a:latin typeface="Calibri"/>
              </a:rPr>
              <a:t>4</a:t>
            </a:r>
          </a:p>
        </p:txBody>
      </p:sp>
      <p:sp>
        <p:nvSpPr>
          <p:cNvPr id="17" name="TextBox 16"/>
          <p:cNvSpPr txBox="1"/>
          <p:nvPr/>
        </p:nvSpPr>
        <p:spPr>
          <a:xfrm>
            <a:off x="1280160" y="3950208"/>
            <a:ext cx="10149840" cy="548640"/>
          </a:xfrm>
          <a:prstGeom prst="rect">
            <a:avLst/>
          </a:prstGeom>
          <a:noFill/>
        </p:spPr>
        <p:txBody>
          <a:bodyPr wrap="square" anchor="t" lIns="0" rIns="0" tIns="0" bIns="0">
            <a:spAutoFit/>
          </a:bodyPr>
          <a:lstStyle/>
          <a:p>
            <a:pPr algn="l">
              <a:spcAft>
                <a:spcPts val="100"/>
              </a:spcAft>
            </a:pPr>
            <a:r>
              <a:rPr sz="1450" b="1">
                <a:solidFill>
                  <a:srgbClr val="ECF1F8"/>
                </a:solidFill>
                <a:latin typeface="Calibri"/>
              </a:rPr>
              <a:t>Exercise CRUD in Postman against the live board</a:t>
            </a:r>
          </a:p>
          <a:p>
            <a:pPr algn="l">
              <a:spcAft>
                <a:spcPts val="400"/>
              </a:spcAft>
            </a:pPr>
            <a:r>
              <a:rPr sz="1200" b="0">
                <a:solidFill>
                  <a:srgbClr val="93A4BD"/>
                </a:solidFill>
                <a:latin typeface="Calibri"/>
              </a:rPr>
              <a:t>A REST insert appears on the canvas without a refresh; cascade delete reports its counts.</a:t>
            </a:r>
          </a:p>
        </p:txBody>
      </p:sp>
      <p:sp>
        <p:nvSpPr>
          <p:cNvPr id="18" name="Rounded Rectangle 17"/>
          <p:cNvSpPr/>
          <p:nvPr/>
        </p:nvSpPr>
        <p:spPr>
          <a:xfrm>
            <a:off x="566928" y="4626864"/>
            <a:ext cx="11064240" cy="658368"/>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718304"/>
            <a:ext cx="457200" cy="457200"/>
          </a:xfrm>
          <a:prstGeom prst="rect">
            <a:avLst/>
          </a:prstGeom>
          <a:noFill/>
        </p:spPr>
        <p:txBody>
          <a:bodyPr wrap="square" anchor="t" lIns="0" rIns="0" tIns="0" bIns="0">
            <a:spAutoFit/>
          </a:bodyPr>
          <a:lstStyle/>
          <a:p>
            <a:pPr algn="l">
              <a:spcAft>
                <a:spcPts val="400"/>
              </a:spcAft>
            </a:pPr>
            <a:r>
              <a:rPr sz="1900" b="1">
                <a:solidFill>
                  <a:srgbClr val="4F9BF5"/>
                </a:solidFill>
                <a:latin typeface="Calibri"/>
              </a:rPr>
              <a:t>5</a:t>
            </a:r>
          </a:p>
        </p:txBody>
      </p:sp>
      <p:sp>
        <p:nvSpPr>
          <p:cNvPr id="20" name="TextBox 19"/>
          <p:cNvSpPr txBox="1"/>
          <p:nvPr/>
        </p:nvSpPr>
        <p:spPr>
          <a:xfrm>
            <a:off x="1280160" y="4700016"/>
            <a:ext cx="10149840" cy="548640"/>
          </a:xfrm>
          <a:prstGeom prst="rect">
            <a:avLst/>
          </a:prstGeom>
          <a:noFill/>
        </p:spPr>
        <p:txBody>
          <a:bodyPr wrap="square" anchor="t" lIns="0" rIns="0" tIns="0" bIns="0">
            <a:spAutoFit/>
          </a:bodyPr>
          <a:lstStyle/>
          <a:p>
            <a:pPr algn="l">
              <a:spcAft>
                <a:spcPts val="100"/>
              </a:spcAft>
            </a:pPr>
            <a:r>
              <a:rPr sz="1450" b="1">
                <a:solidFill>
                  <a:srgbClr val="ECF1F8"/>
                </a:solidFill>
                <a:latin typeface="Calibri"/>
              </a:rPr>
              <a:t>Run pipelines from the analytics panel</a:t>
            </a:r>
          </a:p>
          <a:p>
            <a:pPr algn="l">
              <a:spcAft>
                <a:spcPts val="400"/>
              </a:spcAft>
            </a:pPr>
            <a:r>
              <a:rPr sz="1200" b="0">
                <a:solidFill>
                  <a:srgbClr val="93A4BD"/>
                </a:solidFill>
                <a:latin typeface="Calibri"/>
              </a:rPr>
              <a:t>Pipeline and output side by side, with server-side timings.</a:t>
            </a:r>
          </a:p>
        </p:txBody>
      </p:sp>
      <p:sp>
        <p:nvSpPr>
          <p:cNvPr id="21" name="Rounded Rectangle 20"/>
          <p:cNvSpPr/>
          <p:nvPr/>
        </p:nvSpPr>
        <p:spPr>
          <a:xfrm>
            <a:off x="566928" y="5376672"/>
            <a:ext cx="11064240" cy="658368"/>
          </a:xfrm>
          <a:prstGeom prst="roundRect">
            <a:avLst>
              <a:gd name="adj" fmla="val 4000"/>
            </a:avLst>
          </a:prstGeom>
          <a:solidFill>
            <a:srgbClr val="182236"/>
          </a:solidFill>
          <a:ln w="12700">
            <a:solidFill>
              <a:srgbClr val="2A3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468112"/>
            <a:ext cx="457200" cy="457200"/>
          </a:xfrm>
          <a:prstGeom prst="rect">
            <a:avLst/>
          </a:prstGeom>
          <a:noFill/>
        </p:spPr>
        <p:txBody>
          <a:bodyPr wrap="square" anchor="t" lIns="0" rIns="0" tIns="0" bIns="0">
            <a:spAutoFit/>
          </a:bodyPr>
          <a:lstStyle/>
          <a:p>
            <a:pPr algn="l">
              <a:spcAft>
                <a:spcPts val="400"/>
              </a:spcAft>
            </a:pPr>
            <a:r>
              <a:rPr sz="1900" b="1">
                <a:solidFill>
                  <a:srgbClr val="4F9BF5"/>
                </a:solidFill>
                <a:latin typeface="Calibri"/>
              </a:rPr>
              <a:t>6</a:t>
            </a:r>
          </a:p>
        </p:txBody>
      </p:sp>
      <p:sp>
        <p:nvSpPr>
          <p:cNvPr id="23" name="TextBox 22"/>
          <p:cNvSpPr txBox="1"/>
          <p:nvPr/>
        </p:nvSpPr>
        <p:spPr>
          <a:xfrm>
            <a:off x="1280160" y="5449824"/>
            <a:ext cx="10149840" cy="548640"/>
          </a:xfrm>
          <a:prstGeom prst="rect">
            <a:avLst/>
          </a:prstGeom>
          <a:noFill/>
        </p:spPr>
        <p:txBody>
          <a:bodyPr wrap="square" anchor="t" lIns="0" rIns="0" tIns="0" bIns="0">
            <a:spAutoFit/>
          </a:bodyPr>
          <a:lstStyle/>
          <a:p>
            <a:pPr algn="l">
              <a:spcAft>
                <a:spcPts val="100"/>
              </a:spcAft>
            </a:pPr>
            <a:r>
              <a:rPr sz="1450" b="1">
                <a:solidFill>
                  <a:srgbClr val="ECF1F8"/>
                </a:solidFill>
                <a:latin typeface="Calibri"/>
              </a:rPr>
              <a:t>Run the index benchmark, then open the 42k-stroke board</a:t>
            </a:r>
          </a:p>
          <a:p>
            <a:pPr algn="l">
              <a:spcAft>
                <a:spcPts val="400"/>
              </a:spcAft>
            </a:pPr>
            <a:r>
              <a:rPr sz="1200" b="0">
                <a:solidFill>
                  <a:srgbClr val="93A4BD"/>
                </a:solidFill>
                <a:latin typeface="Calibri"/>
              </a:rPr>
              <a:t>COLLSCAN against IXSCAN, then a snapshot join in about half a second.</a:t>
            </a:r>
          </a:p>
        </p:txBody>
      </p:sp>
      <p:sp>
        <p:nvSpPr>
          <p:cNvPr id="24" name="TextBox 23"/>
          <p:cNvSpPr txBox="1"/>
          <p:nvPr/>
        </p:nvSpPr>
        <p:spPr>
          <a:xfrm>
            <a:off x="566928" y="6236208"/>
            <a:ext cx="11064240" cy="365760"/>
          </a:xfrm>
          <a:prstGeom prst="rect">
            <a:avLst/>
          </a:prstGeom>
          <a:noFill/>
        </p:spPr>
        <p:txBody>
          <a:bodyPr wrap="square" anchor="t" lIns="0" rIns="0" tIns="0" bIns="0">
            <a:spAutoFit/>
          </a:bodyPr>
          <a:lstStyle/>
          <a:p>
            <a:pPr algn="ctr">
              <a:spcAft>
                <a:spcPts val="400"/>
              </a:spcAft>
            </a:pPr>
            <a:r>
              <a:rPr sz="1250" b="0">
                <a:solidFill>
                  <a:srgbClr val="93A4BD"/>
                </a:solidFill>
                <a:latin typeface="Calibri"/>
              </a:rPr>
              <a:t>Thank you.  ·  Devesh Atul Mahajan (23BCE0801)  ·  Prakrit Bahl (23BCE0826)  ·  Lakshya Diwani (23BCE0811)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